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708"/>
    <p:restoredTop sz="94610"/>
  </p:normalViewPr>
  <p:slideViewPr>
    <p:cSldViewPr snapToGrid="0" snapToObjects="1">
      <p:cViewPr varScale="1">
        <p:scale>
          <a:sx n="123" d="100"/>
          <a:sy n="123" d="100"/>
        </p:scale>
        <p:origin x="200" y="2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022692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ALI: Good morning, everyone. We are Ali, Tuana and Irmak, and today we are taking you to the far north of Canada. Our topic is the Klondike Gold Rush, one of the biggest adventures of the 19th century. In the first part, I will tell you what happened, where and when. Then Tuana will present our five-day trip to Dawson City, and Irmak will explain the practical details and the budget. Let’s begin.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ALI: Here is our plan for the next fifteen minutes. First, the Gold Rush itself: what it was, where it happened and when. Second, three interesting facts that surprised us. Third, our five-day tour plan, with places and activities for every day. Fourth, practical information: weather, transport, accommodation and what to pack. And finally, the budget. Our trip is for three friends, from 12 to 16 August 2027, with 2,000 US dollars per person.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ALI: So, what was the Klondike Gold Rush? In August 1896, gold was found in a small stream called Bonanza Creek, in Yukon, in the north-west of Canada. One year later the news reached the United States, and about 100,000 people left their jobs and families to go north. We call them “stampeders”. Only 30,000 of them reached Dawson City, and only about 4,000 found gold. Three useful words for today: a stampeder is a person who rushed to the Klondike; a claim is a piece of land that a miner registers; and panning means washing river gravel in a pan to find gold.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ALI: Where is this place? Dawson City is in Yukon Territory, in the far north-west of Canada, right next to Alaska. It is at 64 degrees north, only 300 kilometres south of the Arctic Circle. The town stands where the Klondike River meets the Yukon River. On the globe you can see Istanbul on the right and Dawson City on the left. In a straight line over the North Pole, it is about 8,300 kilometres away. This is the traditional land of the Tr’ondëk Hwëch’in First Nation, and the name “Klondike” comes from their word “Tr’ondëk”. Today only about 1,600 people live there.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ALI: Let’s look at the timeline. On 16 August 1896, Skookum Jim, Dawson Charlie and George and Kate Carmack found gold in Rabbit Creek, which was quickly renamed Bonanza Creek. In July 1897, two ships arrived in San Francisco and Seattle with miners and, as the newspapers wrote, “a ton of gold”. That started the gold fever. In the winter of 1897 to 1898, about 100,000 people set out. In the summer of 1898, 30,000 of them reached Dawson City, which became the largest Canadian city west of Winnipeg. And in 1899 gold was found in Nome, Alaska, so thousands of people left, and the Klondike Gold Rush was over. Yukon still celebrates Discovery Day every August, and our trip ends exactly on that day.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ALI: This photo was taken on 12 February 1898 in Victoria, British Columbia, on the Pacific coast of Canada. These men are waiting in line to buy a miner’s licence before they travel north to the Klondike. Look at their faces and their clothes: they are not professional miners. They were clerks, farmers, teachers, even policemen. Most of them had never held a gold pan. Photos like this one appeared in newspapers all over the world, and they made even more people want to go.</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ALI: How did the stampeders get there? This map shows the most popular route. First, by ship from Seattle to Skagway in Alaska: about 1,600 kilometres along the coast, which took seven to ten days. Second, on foot over the Chilkoot Pass: 53 kilometres from Dyea to Lake Bennett. The last part was the famous “Golden Stairs”, 1,500 steps cut into the ice. Third, by boat. At Lake Bennett the stampeders built about 7,000 boats, and when the ice broke on 29 May 1898, they all sailed 800 kilometres down the Yukon River to Dawson City. There were other routes too, like the White Pass, where about 3,000 horses died.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ALI: Now three facts that surprised us. Fact one: a ton of goods. The Canadian Mounted Police did not let anyone enter Yukon without one year of supplies, about 1,000 kilograms per person. Imagine carrying that over the Chilkoot Pass: people made the climb 20 to 40 times. Fact two: in 1898 Dawson City had up to 40,000 people, electric lights, telephones and theatres. People called it the “Paris of the North”. Today only about 1,600 people live there. Fact three: the writer Jack London was there. He was 21 years old, he found almost no gold, but his winter in the Klondike gave us “The Call of the Wild” and “White Fang”. And a bonus: since 2023, Dawson City and the goldfields are a UNESCO World Heritage Site. Now Tuana will take you on our trip.</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TUANA: Thank you, Ali. Before I show you our plan, look at these two pictures. On the left is Dawson City in 1899, at the peak of the gold rush: log cabins, tents, a sternwheeler at the river bank, and thousands of people who arrived only a few months earlier. On the right is the Yukon Hotel on Front Street in 2005. Many gold-rush buildings are still standing, and Parks Canada has restored them, so the town looks a little like a film set. This is where we are going. Let me show you our plan.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TUANA: Now let’s travel there ourselves! This is our five-day plan, from Thursday 12 August to Monday 16 August 2027. We chose these dates because of the Discovery Days festival. On the map on the right you can see Dawson City on the Yukon River, the goldfields along Bonanza Creek with pins 2, 3 and 4, the Midnight Dome above the town, the free ferry to West Dawson, the airport, and the road north to Tombstone Park. Day one is arrival and the historic town, day two the goldfields, day three Discovery Days, day four Tombstone Territorial Park, and day five the river and our flight home. Let me show you each day.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TUANA: Day one, Thursday 12 August. In the morning we fly from Whitehorse to Dawson City with Air North; the flight takes about one hour. A shuttle takes us the 15 kilometres into town, and we check in at The Bunkhouse hostel. In the afternoon we join the Historic Town Walking Tour: a Parks Canada guide in an 1898 costume shows us Front Street, the Palace Grand Theatre and the wooden boardwalks. In the evening we visit the Dänojà Zho Cultural Centre of the Tr’ondëk Hwëch’in people and walk along the Yukon River. There is no hurry, because the sun sets after 10 pm! Today costs about 30 Canadian dollars per person.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TUANA: Day two is the goldfields day. In the morning a shuttle takes us along Bonanza Creek Road to Discovery Claim, the exact spot where gold was found in 1896, and then to Dredge No. 4, a giant wooden gold machine, eight storeys high, where Parks Canada gives guided tours. In the afternoon we try gold panning at Claim 33. They teach us the technique, gold is guaranteed, and we keep every flake we find! In the evening we take the Klondike Spirit, a paddlewheeler boat, for a cruise on the Yukon River past the old Moosehide village. This day costs about 125 Canadian dollars per person, plus the shuttle.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TUANA: Day three is Saturday, the big Discovery Days weekend. In the morning we visit the Dawson City Museum, with gold rush objects and old locomotives, and the cabins of two famous writers, Jack London and Robert Service. At noon the parade starts on Front Street: floats, music, and Mounties in their red uniforms. After that there is a street festival with games and live music, all for free. In the evening we hike up the Midnight Dome, about two hours, or we take a taxi. From 880 metres we can see the whole town, the Yukon River and the goldfields, and we watch the sunset at about ten o’clock. The museums cost about 25 Canadian dollars.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TUANA: Day four is our nature day: Tombstone Territorial Park, which people call the “Patagonia of the North”. We take a guided van tour up the Dempster Highway, Canada’s only road to the Arctic. It takes about one and a half hours each way, with photo stops and, if we are lucky, moose, caribou or bears, from a safe distance of course. At the Tombstone Interpretive Centre we see the exhibits, drink wild mountain tea with the rangers and have a picnic lunch. In the afternoon we hike: the easy North Klondike River trail for one hour, or the Goldensides trail for two hours with a great viewpoint. We are back in Dawson at about 6 pm. This is our most expensive day, about 230 Canadian dollars, lunch included.</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TUANA: Day five is Monday 16 August, Discovery Day itself, a public holiday in Yukon. In the morning we tour the S.S. Keno, a historic sternwheeler boat on Front Street, and learn how these boats connected the Klondike to the world. Then we take the George Black ferry across the Yukon River. It is free! On the other side a short walk takes us to the Sternwheeler Graveyard, where old river boats are slowly falling apart in the forest. We buy our last souvenirs on Front Street, and in the afternoon the shuttle takes us to the airport: Air North to Whitehorse, then Vancouver, then home to Istanbul. Now Irmak will explain the practical side of the trip.</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IRMAK: Thank you, Tuana. Before we pack, let’s check the weather. August in Dawson City is like a nice spring day in Istanbul: about 19 degrees in the daytime. But at night it drops to around 6 degrees, and at the end of August it can get close to zero. It rains on about 13 days in August, in total about 43 millimetres, but usually in short showers. The best part: about 16 hours of daylight, and the sun sets at about 10 pm, so we can hike the Dome after dinner. For us this means layers: T-shirt at noon, fleece and rain jacket in the evening. Also, there are fewer mosquitoes than in July, but we still bring repellent.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IRMAK: How do we get there? Istanbul to Vancouver is a direct flight with Turkish Airlines, about twelve and a half hours. In Vancouver we change planes and fly two and a half hours north to Whitehorse, the capital of Yukon. From Whitehorse, Air North takes us to Dawson City in one hour; by road it would be 530 kilometres and six hours. The airport is 15 kilometres from town, and a shuttle takes us in. In Dawson City we mostly walk: the town is only one and a half kilometres across, with wooden boardwalks, dirt streets and no traffic lights. There is no public bus, so for the goldfields we use a tour van or a taxi. The George Black ferry across the river is free and runs 24 hours a day. And on a sunny day we can rent bikes.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IRMAK: Where do we sleep? We compared three options. Our choice is The Bunkhouse: hostel-style rooms with shared bathrooms, two minutes from Front Street, from about 130 Canadian dollars per room per night, that is about 95 US dollars. A family room for three people keeps the price per person low. The cheapest option is camping: the Yukon River Campground across the free ferry costs 20 dollars per tent site, but the nights are cold and we need a tent and sleeping bags. The comfortable option is a historic hotel like the Downtown Hotel or the Eldorado, 180 to 280 dollars per night, which is too expensive for our budget. One important rule: book early! Dawson City has only about eight hotels, and the Discovery Days weekend sells out weeks in advance. We would book in March.</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IRMAK: What goes in the backpack? Nine things. A waterproof rain jacket, because it rains on 13 days in August. Warm layers: a fleece, a hat and gloves for the cold evenings. Hiking boots for the Dome trail, Tombstone Park and the muddy creek banks. Mosquito repellent, because Yukon mosquitoes are famous. Sunscreen and sunglasses, because the sun is up for 16 hours. A sleep mask, because it is still light at half past ten at night. A water bottle and a daypack; the tap water is safe, and there are no shops on the trails. A power bank and a camera for all the photos. And the most important: passport, Canadian visa, travel insurance and some Canadian cash. The visa takes two to three months, so we apply early.</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IRMAK: Now the question everyone asks: how much does it cost? Here is our budget per person, in US dollars, with one Canadian dollar at about 73 cents. The return flights from Vancouver to Whitehorse are about 300 dollars, and from Whitehorse to Dawson City about 370; flights in the north are expensive. Four nights at the hostel, sharing a room for three, cost about 220. Food for five days, 275. Tours and entrance fees, including Tombstone, the dredge, the cruise and the museums, about 300. Local transport 80, souvenirs and snacks 100, travel insurance 50. The total is 1,695 dollars, which is 85 per cent of our 2,000-dollar budget, so we have 305 dollars for surprises. One honest note: the international flight from Istanbul to Vancouver is not included; that would be another 1,200 to 1,600 dollars.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IRMAK: So, 1,695 dollars per person for five days in the Klondike, 305 dollars under budget. How do we keep it that low? First, we book early: flights and the hostel four to five months ahead, because the Discovery Days weekend sells out and prices go up. Second, we share one room for three and buy breakfast at the grocery store. Third, we enjoy the free things: the parade, the ferry, Discovery Claim, Free Claim No. 6 where anyone can pan for gold, and the view from the Midnight Dome. They cost nothing, and they are the best memories.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IRMAK: These are our sources. For the history we used HISTORY.com, Parks Canada, UNESCO and Wikipedia. For the trip we used Travel Yukon, the Klondike Experience tour company, flight and hotel websites, and Environment Canada’s climate data. All prices were checked in October 2026, so they can change a little. The maps you saw were made by us from real geographic data.</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THREE: Thank you for listening! The stampeders went to the Klondike for gold; we would go for the mountains, the river and the history. Do you have any questions? (Possible questions and short answers. Why August? Because of the weather and the Discovery Days festival. Is it dangerous? No, but we respect the bears and stay on the trails. Did anyone get rich? Only a few hundred of the 100,000 people; most of the money was made by shopkeepers and transport companies. Why is the budget without the Istanbul flight? Because 2,000 dollars cannot cover an intercontinental flight; we show that separately.) Together: Mähsį’, thank you!</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3F4FA"/>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02320"/>
            <a:ext cx="10566400" cy="480020"/>
          </a:xfrm>
          <a:prstGeom prst="rect">
            <a:avLst/>
          </a:prstGeom>
          <a:noFill/>
          <a:ln/>
        </p:spPr>
        <p:txBody>
          <a:bodyPr wrap="square" lIns="0" tIns="0" rIns="0" bIns="0" rtlCol="0" anchor="t"/>
          <a:lstStyle>
            <a:lvl1pPr marL="0" indent="0" algn="l">
              <a:lnSpc>
                <a:spcPct val="115000"/>
              </a:lnSpc>
              <a:buNone/>
              <a:defRPr lang="en-US" sz="3600" dirty="0">
                <a:solidFill>
                  <a:srgbClr val="000084"/>
                </a:solidFill>
                <a:latin typeface="Oswald" pitchFamily="34" charset="0"/>
                <a:ea typeface="Oswald" pitchFamily="34" charset="-122"/>
                <a:cs typeface="Oswald"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887141"/>
            <a:ext cx="10566400" cy="4158059"/>
          </a:xfrm>
          <a:prstGeom prst="rect">
            <a:avLst/>
          </a:prstGeom>
          <a:noFill/>
          <a:ln/>
        </p:spPr>
        <p:txBody>
          <a:bodyPr wrap="square" lIns="0" tIns="0" rIns="0" bIns="0" rtlCol="0" anchor="t"/>
          <a:lstStyle>
            <a:lvl1pPr marL="0" indent="0" algn="l">
              <a:lnSpc>
                <a:spcPct val="140000"/>
              </a:lnSpc>
              <a:buNone/>
              <a:defRPr lang="en-US" sz="1600" dirty="0">
                <a:solidFill>
                  <a:srgbClr val="000084"/>
                </a:solidFill>
                <a:latin typeface="Public Sans" pitchFamily="34" charset="0"/>
                <a:ea typeface="Public Sans" pitchFamily="34" charset="-122"/>
                <a:cs typeface="Public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3F4FA"/>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02320"/>
            <a:ext cx="10566400" cy="480020"/>
          </a:xfrm>
          <a:prstGeom prst="rect">
            <a:avLst/>
          </a:prstGeom>
          <a:noFill/>
          <a:ln/>
        </p:spPr>
        <p:txBody>
          <a:bodyPr wrap="square" lIns="0" tIns="0" rIns="0" bIns="0" rtlCol="0" anchor="t"/>
          <a:lstStyle>
            <a:lvl1pPr marL="0" indent="0" algn="l">
              <a:lnSpc>
                <a:spcPct val="115000"/>
              </a:lnSpc>
              <a:buNone/>
              <a:defRPr lang="en-US" sz="3600" dirty="0">
                <a:solidFill>
                  <a:srgbClr val="000084"/>
                </a:solidFill>
                <a:latin typeface="Oswald" pitchFamily="34" charset="0"/>
                <a:ea typeface="Oswald" pitchFamily="34" charset="-122"/>
                <a:cs typeface="Oswald"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887141"/>
            <a:ext cx="10566400" cy="4158059"/>
          </a:xfrm>
          <a:prstGeom prst="rect">
            <a:avLst/>
          </a:prstGeom>
          <a:noFill/>
          <a:ln/>
        </p:spPr>
        <p:txBody>
          <a:bodyPr wrap="square" lIns="0" tIns="0" rIns="0" bIns="0" rtlCol="0" anchor="t"/>
          <a:lstStyle>
            <a:lvl1pPr marL="0" indent="0" algn="l">
              <a:lnSpc>
                <a:spcPct val="140000"/>
              </a:lnSpc>
              <a:buNone/>
              <a:defRPr lang="en-US" sz="1600" dirty="0">
                <a:solidFill>
                  <a:srgbClr val="000084"/>
                </a:solidFill>
                <a:latin typeface="Public Sans" pitchFamily="34" charset="0"/>
                <a:ea typeface="Public Sans" pitchFamily="34" charset="-122"/>
                <a:cs typeface="Public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1.jpe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84"/>
        </a:solidFill>
        <a:effectLst/>
      </p:bgPr>
    </p:bg>
    <p:spTree>
      <p:nvGrpSpPr>
        <p:cNvPr id="1" name=""/>
        <p:cNvGrpSpPr/>
        <p:nvPr/>
      </p:nvGrpSpPr>
      <p:grpSpPr>
        <a:xfrm>
          <a:off x="0" y="0"/>
          <a:ext cx="0" cy="0"/>
          <a:chOff x="0" y="0"/>
          <a:chExt cx="0" cy="0"/>
        </a:xfrm>
      </p:grpSpPr>
      <p:pic>
        <p:nvPicPr>
          <p:cNvPr id="2" name="Image 0" descr="Shaded relief map of Yukon and Alaska with Dawson City marked by a gold star"/>
          <p:cNvPicPr>
            <a:picLocks noChangeAspect="1"/>
          </p:cNvPicPr>
          <p:nvPr/>
        </p:nvPicPr>
        <p:blipFill>
          <a:blip r:embed="rId3"/>
          <a:srcRect/>
          <a:stretch/>
        </p:blipFill>
        <p:spPr>
          <a:xfrm>
            <a:off x="0" y="0"/>
            <a:ext cx="12192000" cy="6858000"/>
          </a:xfrm>
          <a:prstGeom prst="rect">
            <a:avLst/>
          </a:prstGeom>
        </p:spPr>
      </p:pic>
      <p:sp>
        <p:nvSpPr>
          <p:cNvPr id="3" name="Text 0"/>
          <p:cNvSpPr/>
          <p:nvPr/>
        </p:nvSpPr>
        <p:spPr>
          <a:xfrm>
            <a:off x="812800" y="812800"/>
            <a:ext cx="5886450"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E2B050"/>
                </a:solidFill>
                <a:latin typeface="Public Sans" pitchFamily="34" charset="0"/>
                <a:ea typeface="Public Sans" pitchFamily="34" charset="-122"/>
                <a:cs typeface="Public Sans" pitchFamily="34" charset="-120"/>
              </a:rPr>
              <a:t>YUKON, CANADA · 1896–1899</a:t>
            </a:r>
            <a:endParaRPr lang="en-US" sz="1200" dirty="0"/>
          </a:p>
        </p:txBody>
      </p:sp>
      <p:sp>
        <p:nvSpPr>
          <p:cNvPr id="4" name="Text 1"/>
          <p:cNvSpPr>
            <a:spLocks noGrp="1"/>
          </p:cNvSpPr>
          <p:nvPr>
            <p:ph type="title"/>
          </p:nvPr>
        </p:nvSpPr>
        <p:spPr>
          <a:xfrm>
            <a:off x="812800" y="1203920"/>
            <a:ext cx="5886450" cy="1701800"/>
          </a:xfrm>
          <a:prstGeom prst="rect">
            <a:avLst/>
          </a:prstGeom>
          <a:noFill/>
          <a:ln/>
        </p:spPr>
        <p:txBody>
          <a:bodyPr wrap="square" lIns="0" tIns="0" rIns="0" bIns="0" rtlCol="0" anchor="t">
            <a:normAutofit/>
          </a:bodyPr>
          <a:lstStyle/>
          <a:p>
            <a:pPr marL="0" indent="0" algn="l">
              <a:lnSpc>
                <a:spcPts val="6600"/>
              </a:lnSpc>
              <a:buNone/>
            </a:pPr>
            <a:r>
              <a:rPr lang="en-US" sz="6600" b="1" i="0" dirty="0">
                <a:solidFill>
                  <a:srgbClr val="F4F7FB"/>
                </a:solidFill>
                <a:latin typeface="Oswald" pitchFamily="34" charset="0"/>
                <a:ea typeface="Oswald" pitchFamily="34" charset="-122"/>
                <a:cs typeface="Oswald" pitchFamily="34" charset="-120"/>
              </a:rPr>
              <a:t>The Klondike</a:t>
            </a:r>
            <a:endParaRPr lang="en-US" sz="6600" dirty="0"/>
          </a:p>
          <a:p>
            <a:pPr marL="0" indent="0" algn="l">
              <a:lnSpc>
                <a:spcPts val="6600"/>
              </a:lnSpc>
              <a:buNone/>
            </a:pPr>
            <a:r>
              <a:rPr lang="en-US" sz="6600" b="1" i="0" dirty="0">
                <a:solidFill>
                  <a:srgbClr val="F4F7FB"/>
                </a:solidFill>
                <a:latin typeface="Oswald" pitchFamily="34" charset="0"/>
                <a:ea typeface="Oswald" pitchFamily="34" charset="-122"/>
                <a:cs typeface="Oswald" pitchFamily="34" charset="-120"/>
              </a:rPr>
              <a:t>Gold Rush</a:t>
            </a:r>
            <a:endParaRPr lang="en-US" sz="6600" dirty="0"/>
          </a:p>
        </p:txBody>
      </p:sp>
      <p:sp>
        <p:nvSpPr>
          <p:cNvPr id="5" name="Text 2"/>
          <p:cNvSpPr/>
          <p:nvPr/>
        </p:nvSpPr>
        <p:spPr>
          <a:xfrm>
            <a:off x="812800" y="3058120"/>
            <a:ext cx="5363210" cy="5943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C7D4E8"/>
                </a:solidFill>
                <a:latin typeface="Public Sans" pitchFamily="34" charset="0"/>
                <a:ea typeface="Public Sans" pitchFamily="34" charset="-122"/>
                <a:cs typeface="Public Sans" pitchFamily="34" charset="-120"/>
              </a:rPr>
              <a:t>The last great gold rush, and a 5-day trip to Dawson City, the town where it all began.</a:t>
            </a:r>
            <a:endParaRPr lang="en-US" sz="1600" dirty="0"/>
          </a:p>
        </p:txBody>
      </p:sp>
      <p:sp>
        <p:nvSpPr>
          <p:cNvPr id="7" name="Text 3"/>
          <p:cNvSpPr/>
          <p:nvPr/>
        </p:nvSpPr>
        <p:spPr>
          <a:xfrm>
            <a:off x="1828800" y="5363220"/>
            <a:ext cx="4839970" cy="274290"/>
          </a:xfrm>
          <a:prstGeom prst="rect">
            <a:avLst/>
          </a:prstGeom>
          <a:noFill/>
          <a:ln/>
        </p:spPr>
        <p:txBody>
          <a:bodyPr wrap="square" lIns="0" tIns="0" rIns="0" bIns="0" rtlCol="0" anchor="t">
            <a:normAutofit/>
          </a:bodyPr>
          <a:lstStyle/>
          <a:p>
            <a:pPr marL="0" indent="0" algn="l">
              <a:lnSpc>
                <a:spcPts val="1960"/>
              </a:lnSpc>
              <a:buNone/>
            </a:pPr>
            <a:endParaRPr lang="en-US" sz="1400" dirty="0"/>
          </a:p>
        </p:txBody>
      </p:sp>
      <p:sp>
        <p:nvSpPr>
          <p:cNvPr id="8" name="Text 4"/>
          <p:cNvSpPr/>
          <p:nvPr/>
        </p:nvSpPr>
        <p:spPr>
          <a:xfrm>
            <a:off x="1828800" y="5675610"/>
            <a:ext cx="4839970" cy="238720"/>
          </a:xfrm>
          <a:prstGeom prst="rect">
            <a:avLst/>
          </a:prstGeom>
          <a:noFill/>
          <a:ln/>
        </p:spPr>
        <p:txBody>
          <a:bodyPr wrap="square" lIns="0" tIns="0" rIns="0" bIns="0" rtlCol="0" anchor="t">
            <a:normAutofit/>
          </a:bodyPr>
          <a:lstStyle/>
          <a:p>
            <a:pPr marL="0" indent="0" algn="l">
              <a:lnSpc>
                <a:spcPts val="1680"/>
              </a:lnSpc>
              <a:buNone/>
            </a:pP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4F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A2FB0"/>
                </a:solidFill>
                <a:latin typeface="Public Sans" pitchFamily="34" charset="0"/>
                <a:ea typeface="Public Sans" pitchFamily="34" charset="-122"/>
                <a:cs typeface="Public Sans" pitchFamily="34" charset="-120"/>
              </a:rPr>
              <a:t>CONTENTS</a:t>
            </a:r>
            <a:endParaRPr lang="en-US" sz="1200" dirty="0"/>
          </a:p>
        </p:txBody>
      </p:sp>
      <p:sp>
        <p:nvSpPr>
          <p:cNvPr id="3" name="Text 1"/>
          <p:cNvSpPr>
            <a:spLocks noGrp="1"/>
          </p:cNvSpPr>
          <p:nvPr>
            <p:ph type="title"/>
          </p:nvPr>
        </p:nvSpPr>
        <p:spPr>
          <a:xfrm>
            <a:off x="812800" y="1102320"/>
            <a:ext cx="10883392" cy="505420"/>
          </a:xfrm>
          <a:prstGeom prst="rect">
            <a:avLst/>
          </a:prstGeom>
          <a:noFill/>
          <a:ln/>
        </p:spPr>
        <p:txBody>
          <a:bodyPr wrap="square" lIns="0" tIns="0" rIns="0" bIns="0" rtlCol="0" anchor="t">
            <a:normAutofit/>
          </a:bodyPr>
          <a:lstStyle/>
          <a:p>
            <a:pPr marL="0" indent="0" algn="l">
              <a:lnSpc>
                <a:spcPts val="3780"/>
              </a:lnSpc>
              <a:buNone/>
            </a:pPr>
            <a:r>
              <a:rPr lang="en-US" sz="3600" b="0" i="0" dirty="0">
                <a:solidFill>
                  <a:srgbClr val="000084"/>
                </a:solidFill>
                <a:latin typeface="Oswald" pitchFamily="34" charset="0"/>
                <a:ea typeface="Oswald" pitchFamily="34" charset="-122"/>
                <a:cs typeface="Oswald" pitchFamily="34" charset="-120"/>
              </a:rPr>
              <a:t>What We Will Cover</a:t>
            </a:r>
            <a:endParaRPr lang="en-US" sz="3600" dirty="0"/>
          </a:p>
        </p:txBody>
      </p:sp>
      <p:sp>
        <p:nvSpPr>
          <p:cNvPr id="4" name="Shape 2"/>
          <p:cNvSpPr/>
          <p:nvPr/>
        </p:nvSpPr>
        <p:spPr>
          <a:xfrm>
            <a:off x="815975" y="2021235"/>
            <a:ext cx="1944340" cy="2190651"/>
          </a:xfrm>
          <a:prstGeom prst="roundRect">
            <a:avLst>
              <a:gd name="adj" fmla="val 5062"/>
            </a:avLst>
          </a:prstGeom>
          <a:solidFill>
            <a:srgbClr val="FBFCFE"/>
          </a:solidFill>
          <a:ln w="6350">
            <a:solidFill>
              <a:srgbClr val="D9DBEE"/>
            </a:solidFill>
            <a:prstDash val="solid"/>
          </a:ln>
        </p:spPr>
        <p:txBody>
          <a:bodyPr/>
          <a:lstStyle/>
          <a:p>
            <a:endParaRPr lang="tr-TR"/>
          </a:p>
        </p:txBody>
      </p:sp>
      <p:sp>
        <p:nvSpPr>
          <p:cNvPr id="5" name="Text 3"/>
          <p:cNvSpPr/>
          <p:nvPr/>
        </p:nvSpPr>
        <p:spPr>
          <a:xfrm>
            <a:off x="1047750" y="2253010"/>
            <a:ext cx="1531590" cy="635000"/>
          </a:xfrm>
          <a:prstGeom prst="rect">
            <a:avLst/>
          </a:prstGeom>
          <a:noFill/>
          <a:ln/>
        </p:spPr>
        <p:txBody>
          <a:bodyPr wrap="square" lIns="0" tIns="0" rIns="0" bIns="0" rtlCol="0" anchor="t">
            <a:normAutofit/>
          </a:bodyPr>
          <a:lstStyle/>
          <a:p>
            <a:pPr marL="0" indent="0" algn="l">
              <a:lnSpc>
                <a:spcPts val="4800"/>
              </a:lnSpc>
              <a:buNone/>
            </a:pPr>
            <a:r>
              <a:rPr lang="en-US" sz="4800" b="1" dirty="0">
                <a:solidFill>
                  <a:srgbClr val="2A2FB0"/>
                </a:solidFill>
                <a:latin typeface="Oswald" pitchFamily="34" charset="0"/>
                <a:ea typeface="Oswald" pitchFamily="34" charset="-122"/>
                <a:cs typeface="Oswald" pitchFamily="34" charset="-120"/>
              </a:rPr>
              <a:t>01</a:t>
            </a:r>
            <a:endParaRPr lang="en-US" sz="4800" dirty="0"/>
          </a:p>
        </p:txBody>
      </p:sp>
      <p:sp>
        <p:nvSpPr>
          <p:cNvPr id="6" name="Text 4"/>
          <p:cNvSpPr/>
          <p:nvPr/>
        </p:nvSpPr>
        <p:spPr>
          <a:xfrm>
            <a:off x="1047750" y="2964210"/>
            <a:ext cx="1531590"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00084"/>
                </a:solidFill>
                <a:latin typeface="Public Sans" pitchFamily="34" charset="0"/>
                <a:ea typeface="Public Sans" pitchFamily="34" charset="-122"/>
                <a:cs typeface="Public Sans" pitchFamily="34" charset="-120"/>
              </a:rPr>
              <a:t>The Gold Rush</a:t>
            </a:r>
            <a:endParaRPr lang="en-US" sz="1600" dirty="0"/>
          </a:p>
        </p:txBody>
      </p:sp>
      <p:sp>
        <p:nvSpPr>
          <p:cNvPr id="7" name="Text 5"/>
          <p:cNvSpPr/>
          <p:nvPr/>
        </p:nvSpPr>
        <p:spPr>
          <a:xfrm>
            <a:off x="1047750" y="3309640"/>
            <a:ext cx="153159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75569"/>
                </a:solidFill>
                <a:latin typeface="Public Sans" pitchFamily="34" charset="0"/>
                <a:ea typeface="Public Sans" pitchFamily="34" charset="-122"/>
                <a:cs typeface="Public Sans" pitchFamily="34" charset="-120"/>
              </a:rPr>
              <a:t>What it was, where it happened and when</a:t>
            </a:r>
            <a:endParaRPr lang="en-US" sz="1200" dirty="0"/>
          </a:p>
        </p:txBody>
      </p:sp>
      <p:sp>
        <p:nvSpPr>
          <p:cNvPr id="8" name="Shape 6"/>
          <p:cNvSpPr/>
          <p:nvPr/>
        </p:nvSpPr>
        <p:spPr>
          <a:xfrm>
            <a:off x="2969865" y="2021235"/>
            <a:ext cx="1944390" cy="2190651"/>
          </a:xfrm>
          <a:prstGeom prst="roundRect">
            <a:avLst>
              <a:gd name="adj" fmla="val 5062"/>
            </a:avLst>
          </a:prstGeom>
          <a:solidFill>
            <a:srgbClr val="FBFCFE"/>
          </a:solidFill>
          <a:ln w="6350">
            <a:solidFill>
              <a:srgbClr val="D9DBEE"/>
            </a:solidFill>
            <a:prstDash val="solid"/>
          </a:ln>
        </p:spPr>
        <p:txBody>
          <a:bodyPr/>
          <a:lstStyle/>
          <a:p>
            <a:endParaRPr lang="tr-TR"/>
          </a:p>
        </p:txBody>
      </p:sp>
      <p:sp>
        <p:nvSpPr>
          <p:cNvPr id="9" name="Text 7"/>
          <p:cNvSpPr/>
          <p:nvPr/>
        </p:nvSpPr>
        <p:spPr>
          <a:xfrm>
            <a:off x="3201640" y="2253010"/>
            <a:ext cx="1531640" cy="635000"/>
          </a:xfrm>
          <a:prstGeom prst="rect">
            <a:avLst/>
          </a:prstGeom>
          <a:noFill/>
          <a:ln/>
        </p:spPr>
        <p:txBody>
          <a:bodyPr wrap="square" lIns="0" tIns="0" rIns="0" bIns="0" rtlCol="0" anchor="t">
            <a:normAutofit/>
          </a:bodyPr>
          <a:lstStyle/>
          <a:p>
            <a:pPr marL="0" indent="0" algn="l">
              <a:lnSpc>
                <a:spcPts val="4800"/>
              </a:lnSpc>
              <a:buNone/>
            </a:pPr>
            <a:r>
              <a:rPr lang="en-US" sz="4800" b="1" dirty="0">
                <a:solidFill>
                  <a:srgbClr val="2A2FB0"/>
                </a:solidFill>
                <a:latin typeface="Oswald" pitchFamily="34" charset="0"/>
                <a:ea typeface="Oswald" pitchFamily="34" charset="-122"/>
                <a:cs typeface="Oswald" pitchFamily="34" charset="-120"/>
              </a:rPr>
              <a:t>02</a:t>
            </a:r>
            <a:endParaRPr lang="en-US" sz="4800" dirty="0"/>
          </a:p>
        </p:txBody>
      </p:sp>
      <p:sp>
        <p:nvSpPr>
          <p:cNvPr id="10" name="Text 8"/>
          <p:cNvSpPr/>
          <p:nvPr/>
        </p:nvSpPr>
        <p:spPr>
          <a:xfrm>
            <a:off x="3201640" y="2964210"/>
            <a:ext cx="1531640"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00084"/>
                </a:solidFill>
                <a:latin typeface="Public Sans" pitchFamily="34" charset="0"/>
                <a:ea typeface="Public Sans" pitchFamily="34" charset="-122"/>
                <a:cs typeface="Public Sans" pitchFamily="34" charset="-120"/>
              </a:rPr>
              <a:t>Three Facts</a:t>
            </a:r>
            <a:endParaRPr lang="en-US" sz="1600" dirty="0"/>
          </a:p>
        </p:txBody>
      </p:sp>
      <p:sp>
        <p:nvSpPr>
          <p:cNvPr id="11" name="Text 9"/>
          <p:cNvSpPr/>
          <p:nvPr/>
        </p:nvSpPr>
        <p:spPr>
          <a:xfrm>
            <a:off x="3201640" y="3309640"/>
            <a:ext cx="1531640"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75569"/>
                </a:solidFill>
                <a:latin typeface="Public Sans" pitchFamily="34" charset="0"/>
                <a:ea typeface="Public Sans" pitchFamily="34" charset="-122"/>
                <a:cs typeface="Public Sans" pitchFamily="34" charset="-120"/>
              </a:rPr>
              <a:t>Interesting things most people do not know</a:t>
            </a:r>
            <a:endParaRPr lang="en-US" sz="1200" dirty="0"/>
          </a:p>
        </p:txBody>
      </p:sp>
      <p:sp>
        <p:nvSpPr>
          <p:cNvPr id="12" name="Shape 10"/>
          <p:cNvSpPr/>
          <p:nvPr/>
        </p:nvSpPr>
        <p:spPr>
          <a:xfrm>
            <a:off x="5123805" y="2021235"/>
            <a:ext cx="1944340" cy="2190651"/>
          </a:xfrm>
          <a:prstGeom prst="roundRect">
            <a:avLst>
              <a:gd name="adj" fmla="val 5062"/>
            </a:avLst>
          </a:prstGeom>
          <a:solidFill>
            <a:srgbClr val="FBFCFE"/>
          </a:solidFill>
          <a:ln w="6350">
            <a:solidFill>
              <a:srgbClr val="D9DBEE"/>
            </a:solidFill>
            <a:prstDash val="solid"/>
          </a:ln>
        </p:spPr>
        <p:txBody>
          <a:bodyPr/>
          <a:lstStyle/>
          <a:p>
            <a:endParaRPr lang="tr-TR"/>
          </a:p>
        </p:txBody>
      </p:sp>
      <p:sp>
        <p:nvSpPr>
          <p:cNvPr id="13" name="Text 11"/>
          <p:cNvSpPr/>
          <p:nvPr/>
        </p:nvSpPr>
        <p:spPr>
          <a:xfrm>
            <a:off x="5355580" y="2253010"/>
            <a:ext cx="1531590" cy="635000"/>
          </a:xfrm>
          <a:prstGeom prst="rect">
            <a:avLst/>
          </a:prstGeom>
          <a:noFill/>
          <a:ln/>
        </p:spPr>
        <p:txBody>
          <a:bodyPr wrap="square" lIns="0" tIns="0" rIns="0" bIns="0" rtlCol="0" anchor="t">
            <a:normAutofit/>
          </a:bodyPr>
          <a:lstStyle/>
          <a:p>
            <a:pPr marL="0" indent="0" algn="l">
              <a:lnSpc>
                <a:spcPts val="4800"/>
              </a:lnSpc>
              <a:buNone/>
            </a:pPr>
            <a:r>
              <a:rPr lang="en-US" sz="4800" b="1" dirty="0">
                <a:solidFill>
                  <a:srgbClr val="2A2FB0"/>
                </a:solidFill>
                <a:latin typeface="Oswald" pitchFamily="34" charset="0"/>
                <a:ea typeface="Oswald" pitchFamily="34" charset="-122"/>
                <a:cs typeface="Oswald" pitchFamily="34" charset="-120"/>
              </a:rPr>
              <a:t>03</a:t>
            </a:r>
            <a:endParaRPr lang="en-US" sz="4800" dirty="0"/>
          </a:p>
        </p:txBody>
      </p:sp>
      <p:sp>
        <p:nvSpPr>
          <p:cNvPr id="14" name="Text 12"/>
          <p:cNvSpPr/>
          <p:nvPr/>
        </p:nvSpPr>
        <p:spPr>
          <a:xfrm>
            <a:off x="5355580" y="2964210"/>
            <a:ext cx="1531590" cy="51306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00084"/>
                </a:solidFill>
                <a:latin typeface="Public Sans" pitchFamily="34" charset="0"/>
                <a:ea typeface="Public Sans" pitchFamily="34" charset="-122"/>
                <a:cs typeface="Public Sans" pitchFamily="34" charset="-120"/>
              </a:rPr>
              <a:t>5-Day Tour Plan</a:t>
            </a:r>
            <a:endParaRPr lang="en-US" sz="1600" dirty="0"/>
          </a:p>
        </p:txBody>
      </p:sp>
      <p:sp>
        <p:nvSpPr>
          <p:cNvPr id="15" name="Text 13"/>
          <p:cNvSpPr/>
          <p:nvPr/>
        </p:nvSpPr>
        <p:spPr>
          <a:xfrm>
            <a:off x="5355580" y="3553470"/>
            <a:ext cx="153159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75569"/>
                </a:solidFill>
                <a:latin typeface="Public Sans" pitchFamily="34" charset="0"/>
                <a:ea typeface="Public Sans" pitchFamily="34" charset="-122"/>
                <a:cs typeface="Public Sans" pitchFamily="34" charset="-120"/>
              </a:rPr>
              <a:t>Places, activities and a plan for every day</a:t>
            </a:r>
            <a:endParaRPr lang="en-US" sz="1200" dirty="0"/>
          </a:p>
        </p:txBody>
      </p:sp>
      <p:sp>
        <p:nvSpPr>
          <p:cNvPr id="16" name="Shape 14"/>
          <p:cNvSpPr/>
          <p:nvPr/>
        </p:nvSpPr>
        <p:spPr>
          <a:xfrm>
            <a:off x="7277695" y="2021235"/>
            <a:ext cx="1944390" cy="2190651"/>
          </a:xfrm>
          <a:prstGeom prst="roundRect">
            <a:avLst>
              <a:gd name="adj" fmla="val 5062"/>
            </a:avLst>
          </a:prstGeom>
          <a:solidFill>
            <a:srgbClr val="FBFCFE"/>
          </a:solidFill>
          <a:ln w="6350">
            <a:solidFill>
              <a:srgbClr val="D9DBEE"/>
            </a:solidFill>
            <a:prstDash val="solid"/>
          </a:ln>
        </p:spPr>
        <p:txBody>
          <a:bodyPr/>
          <a:lstStyle/>
          <a:p>
            <a:endParaRPr lang="tr-TR"/>
          </a:p>
        </p:txBody>
      </p:sp>
      <p:sp>
        <p:nvSpPr>
          <p:cNvPr id="17" name="Text 15"/>
          <p:cNvSpPr/>
          <p:nvPr/>
        </p:nvSpPr>
        <p:spPr>
          <a:xfrm>
            <a:off x="7509470" y="2253010"/>
            <a:ext cx="1531640" cy="635000"/>
          </a:xfrm>
          <a:prstGeom prst="rect">
            <a:avLst/>
          </a:prstGeom>
          <a:noFill/>
          <a:ln/>
        </p:spPr>
        <p:txBody>
          <a:bodyPr wrap="square" lIns="0" tIns="0" rIns="0" bIns="0" rtlCol="0" anchor="t">
            <a:normAutofit/>
          </a:bodyPr>
          <a:lstStyle/>
          <a:p>
            <a:pPr marL="0" indent="0" algn="l">
              <a:lnSpc>
                <a:spcPts val="4800"/>
              </a:lnSpc>
              <a:buNone/>
            </a:pPr>
            <a:r>
              <a:rPr lang="en-US" sz="4800" b="1" dirty="0">
                <a:solidFill>
                  <a:srgbClr val="2A2FB0"/>
                </a:solidFill>
                <a:latin typeface="Oswald" pitchFamily="34" charset="0"/>
                <a:ea typeface="Oswald" pitchFamily="34" charset="-122"/>
                <a:cs typeface="Oswald" pitchFamily="34" charset="-120"/>
              </a:rPr>
              <a:t>04</a:t>
            </a:r>
            <a:endParaRPr lang="en-US" sz="4800" dirty="0"/>
          </a:p>
        </p:txBody>
      </p:sp>
      <p:sp>
        <p:nvSpPr>
          <p:cNvPr id="18" name="Text 16"/>
          <p:cNvSpPr/>
          <p:nvPr/>
        </p:nvSpPr>
        <p:spPr>
          <a:xfrm>
            <a:off x="7509470" y="2964210"/>
            <a:ext cx="1531640"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00084"/>
                </a:solidFill>
                <a:latin typeface="Public Sans" pitchFamily="34" charset="0"/>
                <a:ea typeface="Public Sans" pitchFamily="34" charset="-122"/>
                <a:cs typeface="Public Sans" pitchFamily="34" charset="-120"/>
              </a:rPr>
              <a:t>Practical Info</a:t>
            </a:r>
            <a:endParaRPr lang="en-US" sz="1600" dirty="0"/>
          </a:p>
        </p:txBody>
      </p:sp>
      <p:sp>
        <p:nvSpPr>
          <p:cNvPr id="19" name="Text 17"/>
          <p:cNvSpPr/>
          <p:nvPr/>
        </p:nvSpPr>
        <p:spPr>
          <a:xfrm>
            <a:off x="7509470" y="3309640"/>
            <a:ext cx="1531640"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75569"/>
                </a:solidFill>
                <a:latin typeface="Public Sans" pitchFamily="34" charset="0"/>
                <a:ea typeface="Public Sans" pitchFamily="34" charset="-122"/>
                <a:cs typeface="Public Sans" pitchFamily="34" charset="-120"/>
              </a:rPr>
              <a:t>Weather, transport, where to sleep, what to pack</a:t>
            </a:r>
            <a:endParaRPr lang="en-US" sz="1200" dirty="0"/>
          </a:p>
        </p:txBody>
      </p:sp>
      <p:sp>
        <p:nvSpPr>
          <p:cNvPr id="20" name="Shape 18"/>
          <p:cNvSpPr/>
          <p:nvPr/>
        </p:nvSpPr>
        <p:spPr>
          <a:xfrm>
            <a:off x="9431635" y="2021235"/>
            <a:ext cx="1944390" cy="2190651"/>
          </a:xfrm>
          <a:prstGeom prst="roundRect">
            <a:avLst>
              <a:gd name="adj" fmla="val 5062"/>
            </a:avLst>
          </a:prstGeom>
          <a:solidFill>
            <a:srgbClr val="FBFCFE"/>
          </a:solidFill>
          <a:ln w="6350">
            <a:solidFill>
              <a:srgbClr val="D9DBEE"/>
            </a:solidFill>
            <a:prstDash val="solid"/>
          </a:ln>
        </p:spPr>
        <p:txBody>
          <a:bodyPr/>
          <a:lstStyle/>
          <a:p>
            <a:endParaRPr lang="tr-TR"/>
          </a:p>
        </p:txBody>
      </p:sp>
      <p:sp>
        <p:nvSpPr>
          <p:cNvPr id="21" name="Text 19"/>
          <p:cNvSpPr/>
          <p:nvPr/>
        </p:nvSpPr>
        <p:spPr>
          <a:xfrm>
            <a:off x="9663410" y="2253010"/>
            <a:ext cx="1531640" cy="635000"/>
          </a:xfrm>
          <a:prstGeom prst="rect">
            <a:avLst/>
          </a:prstGeom>
          <a:noFill/>
          <a:ln/>
        </p:spPr>
        <p:txBody>
          <a:bodyPr wrap="square" lIns="0" tIns="0" rIns="0" bIns="0" rtlCol="0" anchor="t">
            <a:normAutofit/>
          </a:bodyPr>
          <a:lstStyle/>
          <a:p>
            <a:pPr marL="0" indent="0" algn="l">
              <a:lnSpc>
                <a:spcPts val="4800"/>
              </a:lnSpc>
              <a:buNone/>
            </a:pPr>
            <a:r>
              <a:rPr lang="en-US" sz="4800" b="1" dirty="0">
                <a:solidFill>
                  <a:srgbClr val="2A2FB0"/>
                </a:solidFill>
                <a:latin typeface="Oswald" pitchFamily="34" charset="0"/>
                <a:ea typeface="Oswald" pitchFamily="34" charset="-122"/>
                <a:cs typeface="Oswald" pitchFamily="34" charset="-120"/>
              </a:rPr>
              <a:t>05</a:t>
            </a:r>
            <a:endParaRPr lang="en-US" sz="4800" dirty="0"/>
          </a:p>
        </p:txBody>
      </p:sp>
      <p:sp>
        <p:nvSpPr>
          <p:cNvPr id="22" name="Text 20"/>
          <p:cNvSpPr/>
          <p:nvPr/>
        </p:nvSpPr>
        <p:spPr>
          <a:xfrm>
            <a:off x="9663410" y="2964210"/>
            <a:ext cx="1531640"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00084"/>
                </a:solidFill>
                <a:latin typeface="Public Sans" pitchFamily="34" charset="0"/>
                <a:ea typeface="Public Sans" pitchFamily="34" charset="-122"/>
                <a:cs typeface="Public Sans" pitchFamily="34" charset="-120"/>
              </a:rPr>
              <a:t>Budget</a:t>
            </a:r>
            <a:endParaRPr lang="en-US" sz="1600" dirty="0"/>
          </a:p>
        </p:txBody>
      </p:sp>
      <p:sp>
        <p:nvSpPr>
          <p:cNvPr id="23" name="Text 21"/>
          <p:cNvSpPr/>
          <p:nvPr/>
        </p:nvSpPr>
        <p:spPr>
          <a:xfrm>
            <a:off x="9663410" y="3309640"/>
            <a:ext cx="1531640"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75569"/>
                </a:solidFill>
                <a:latin typeface="Public Sans" pitchFamily="34" charset="0"/>
                <a:ea typeface="Public Sans" pitchFamily="34" charset="-122"/>
                <a:cs typeface="Public Sans" pitchFamily="34" charset="-120"/>
              </a:rPr>
              <a:t>What the trip costs with 2,000 USD per person</a:t>
            </a:r>
            <a:endParaRPr lang="en-US" sz="1200" dirty="0"/>
          </a:p>
        </p:txBody>
      </p:sp>
      <p:sp>
        <p:nvSpPr>
          <p:cNvPr id="24" name="Shape 22"/>
          <p:cNvSpPr/>
          <p:nvPr/>
        </p:nvSpPr>
        <p:spPr>
          <a:xfrm>
            <a:off x="812800" y="4650780"/>
            <a:ext cx="10566400" cy="1191220"/>
          </a:xfrm>
          <a:prstGeom prst="roundRect">
            <a:avLst>
              <a:gd name="adj" fmla="val 8529"/>
            </a:avLst>
          </a:prstGeom>
          <a:solidFill>
            <a:srgbClr val="000084"/>
          </a:solidFill>
          <a:ln/>
        </p:spPr>
        <p:txBody>
          <a:bodyPr/>
          <a:lstStyle/>
          <a:p>
            <a:endParaRPr lang="tr-TR"/>
          </a:p>
        </p:txBody>
      </p:sp>
      <p:sp>
        <p:nvSpPr>
          <p:cNvPr id="25" name="Text 23"/>
          <p:cNvSpPr/>
          <p:nvPr/>
        </p:nvSpPr>
        <p:spPr>
          <a:xfrm>
            <a:off x="1066800" y="4853980"/>
            <a:ext cx="2433066"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E2B050"/>
                </a:solidFill>
                <a:latin typeface="Public Sans" pitchFamily="34" charset="0"/>
                <a:ea typeface="Public Sans" pitchFamily="34" charset="-122"/>
                <a:cs typeface="Public Sans" pitchFamily="34" charset="-120"/>
              </a:rPr>
              <a:t>DESTINATION</a:t>
            </a:r>
            <a:endParaRPr lang="en-US" sz="1200" dirty="0"/>
          </a:p>
        </p:txBody>
      </p:sp>
      <p:sp>
        <p:nvSpPr>
          <p:cNvPr id="26" name="Text 24"/>
          <p:cNvSpPr/>
          <p:nvPr/>
        </p:nvSpPr>
        <p:spPr>
          <a:xfrm>
            <a:off x="1066800" y="5105400"/>
            <a:ext cx="2433066" cy="5588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F4F7FB"/>
                </a:solidFill>
                <a:latin typeface="Public Sans" pitchFamily="34" charset="0"/>
                <a:ea typeface="Public Sans" pitchFamily="34" charset="-122"/>
                <a:cs typeface="Public Sans" pitchFamily="34" charset="-120"/>
              </a:rPr>
              <a:t>Dawson City, Yukon, Canada</a:t>
            </a:r>
            <a:endParaRPr lang="en-US" sz="1500" dirty="0"/>
          </a:p>
        </p:txBody>
      </p:sp>
      <p:sp>
        <p:nvSpPr>
          <p:cNvPr id="27" name="Text 25"/>
          <p:cNvSpPr/>
          <p:nvPr/>
        </p:nvSpPr>
        <p:spPr>
          <a:xfrm>
            <a:off x="3632200" y="4987330"/>
            <a:ext cx="2433066"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E2B050"/>
                </a:solidFill>
                <a:latin typeface="Public Sans" pitchFamily="34" charset="0"/>
                <a:ea typeface="Public Sans" pitchFamily="34" charset="-122"/>
                <a:cs typeface="Public Sans" pitchFamily="34" charset="-120"/>
              </a:rPr>
              <a:t>DATES</a:t>
            </a:r>
            <a:endParaRPr lang="en-US" sz="1200" dirty="0"/>
          </a:p>
        </p:txBody>
      </p:sp>
      <p:sp>
        <p:nvSpPr>
          <p:cNvPr id="28" name="Text 26"/>
          <p:cNvSpPr/>
          <p:nvPr/>
        </p:nvSpPr>
        <p:spPr>
          <a:xfrm>
            <a:off x="3632200" y="5238750"/>
            <a:ext cx="2433066"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F4F7FB"/>
                </a:solidFill>
                <a:latin typeface="Public Sans" pitchFamily="34" charset="0"/>
                <a:ea typeface="Public Sans" pitchFamily="34" charset="-122"/>
                <a:cs typeface="Public Sans" pitchFamily="34" charset="-120"/>
              </a:rPr>
              <a:t>12 to 16 August 2027</a:t>
            </a:r>
            <a:endParaRPr lang="en-US" sz="1500" dirty="0"/>
          </a:p>
        </p:txBody>
      </p:sp>
      <p:sp>
        <p:nvSpPr>
          <p:cNvPr id="29" name="Text 27"/>
          <p:cNvSpPr/>
          <p:nvPr/>
        </p:nvSpPr>
        <p:spPr>
          <a:xfrm>
            <a:off x="6197600" y="4853980"/>
            <a:ext cx="2433066"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E2B050"/>
                </a:solidFill>
                <a:latin typeface="Public Sans" pitchFamily="34" charset="0"/>
                <a:ea typeface="Public Sans" pitchFamily="34" charset="-122"/>
                <a:cs typeface="Public Sans" pitchFamily="34" charset="-120"/>
              </a:rPr>
              <a:t>TRAVELLERS</a:t>
            </a:r>
            <a:endParaRPr lang="en-US" sz="1200" dirty="0"/>
          </a:p>
        </p:txBody>
      </p:sp>
      <p:sp>
        <p:nvSpPr>
          <p:cNvPr id="30" name="Text 28"/>
          <p:cNvSpPr/>
          <p:nvPr/>
        </p:nvSpPr>
        <p:spPr>
          <a:xfrm>
            <a:off x="6197600" y="5105400"/>
            <a:ext cx="2433066" cy="5588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F4F7FB"/>
                </a:solidFill>
                <a:latin typeface="Public Sans" pitchFamily="34" charset="0"/>
                <a:ea typeface="Public Sans" pitchFamily="34" charset="-122"/>
                <a:cs typeface="Public Sans" pitchFamily="34" charset="-120"/>
              </a:rPr>
              <a:t>3 friends, one shared room</a:t>
            </a:r>
            <a:endParaRPr lang="en-US" sz="1500" dirty="0"/>
          </a:p>
        </p:txBody>
      </p:sp>
      <p:sp>
        <p:nvSpPr>
          <p:cNvPr id="31" name="Text 29"/>
          <p:cNvSpPr/>
          <p:nvPr/>
        </p:nvSpPr>
        <p:spPr>
          <a:xfrm>
            <a:off x="8763000" y="4987330"/>
            <a:ext cx="2433066"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E2B050"/>
                </a:solidFill>
                <a:latin typeface="Public Sans" pitchFamily="34" charset="0"/>
                <a:ea typeface="Public Sans" pitchFamily="34" charset="-122"/>
                <a:cs typeface="Public Sans" pitchFamily="34" charset="-120"/>
              </a:rPr>
              <a:t>BUDGET</a:t>
            </a:r>
            <a:endParaRPr lang="en-US" sz="1200" dirty="0"/>
          </a:p>
        </p:txBody>
      </p:sp>
      <p:sp>
        <p:nvSpPr>
          <p:cNvPr id="32" name="Text 30"/>
          <p:cNvSpPr/>
          <p:nvPr/>
        </p:nvSpPr>
        <p:spPr>
          <a:xfrm>
            <a:off x="8763000" y="5238750"/>
            <a:ext cx="2433066"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F4F7FB"/>
                </a:solidFill>
                <a:latin typeface="Public Sans" pitchFamily="34" charset="0"/>
                <a:ea typeface="Public Sans" pitchFamily="34" charset="-122"/>
                <a:cs typeface="Public Sans" pitchFamily="34" charset="-120"/>
              </a:rPr>
              <a:t>2,000 USD per person</a:t>
            </a:r>
            <a:endParaRPr lang="en-US" sz="1500" dirty="0"/>
          </a:p>
        </p:txBody>
      </p:sp>
      <p:sp>
        <p:nvSpPr>
          <p:cNvPr id="33" name="Text 31"/>
          <p:cNvSpPr/>
          <p:nvPr/>
        </p:nvSpPr>
        <p:spPr>
          <a:xfrm>
            <a:off x="812800" y="6238280"/>
            <a:ext cx="470701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B7A"/>
                </a:solidFill>
                <a:latin typeface="Public Sans" pitchFamily="34" charset="0"/>
                <a:ea typeface="Public Sans" pitchFamily="34" charset="-122"/>
                <a:cs typeface="Public Sans" pitchFamily="34" charset="-120"/>
              </a:rPr>
              <a:t>The Klondike Gold Rush · Pertevniyal High School 159/E</a:t>
            </a:r>
            <a:endParaRPr lang="en-US" sz="1200" dirty="0"/>
          </a:p>
        </p:txBody>
      </p:sp>
      <p:sp>
        <p:nvSpPr>
          <p:cNvPr id="34" name="Text 32"/>
          <p:cNvSpPr/>
          <p:nvPr/>
        </p:nvSpPr>
        <p:spPr>
          <a:xfrm>
            <a:off x="10820400" y="6238280"/>
            <a:ext cx="558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F6B7A"/>
                </a:solidFill>
                <a:latin typeface="Public Sans" pitchFamily="34" charset="0"/>
                <a:ea typeface="Public Sans" pitchFamily="34" charset="-122"/>
                <a:cs typeface="Public Sans"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4F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A2FB0"/>
                </a:solidFill>
                <a:latin typeface="Public Sans" pitchFamily="34" charset="0"/>
                <a:ea typeface="Public Sans" pitchFamily="34" charset="-122"/>
                <a:cs typeface="Public Sans" pitchFamily="34" charset="-120"/>
              </a:rPr>
              <a:t>THE GOLD RUSH · OVERVIEW</a:t>
            </a:r>
            <a:endParaRPr lang="en-US" sz="1200" dirty="0"/>
          </a:p>
        </p:txBody>
      </p:sp>
      <p:sp>
        <p:nvSpPr>
          <p:cNvPr id="3" name="Text 1"/>
          <p:cNvSpPr>
            <a:spLocks noGrp="1"/>
          </p:cNvSpPr>
          <p:nvPr>
            <p:ph type="title"/>
          </p:nvPr>
        </p:nvSpPr>
        <p:spPr>
          <a:xfrm>
            <a:off x="812800" y="1102320"/>
            <a:ext cx="10883392" cy="505420"/>
          </a:xfrm>
          <a:prstGeom prst="rect">
            <a:avLst/>
          </a:prstGeom>
          <a:noFill/>
          <a:ln/>
        </p:spPr>
        <p:txBody>
          <a:bodyPr wrap="square" lIns="0" tIns="0" rIns="0" bIns="0" rtlCol="0" anchor="t">
            <a:normAutofit/>
          </a:bodyPr>
          <a:lstStyle/>
          <a:p>
            <a:pPr marL="0" indent="0" algn="l">
              <a:lnSpc>
                <a:spcPts val="3780"/>
              </a:lnSpc>
              <a:buNone/>
            </a:pPr>
            <a:r>
              <a:rPr lang="en-US" sz="3600" b="0" i="0" dirty="0">
                <a:solidFill>
                  <a:srgbClr val="000084"/>
                </a:solidFill>
                <a:latin typeface="Oswald" pitchFamily="34" charset="0"/>
                <a:ea typeface="Oswald" pitchFamily="34" charset="-122"/>
                <a:cs typeface="Oswald" pitchFamily="34" charset="-120"/>
              </a:rPr>
              <a:t>What Was the Klondike Gold Rush?</a:t>
            </a:r>
            <a:endParaRPr lang="en-US" sz="3600" dirty="0"/>
          </a:p>
        </p:txBody>
      </p:sp>
      <p:sp>
        <p:nvSpPr>
          <p:cNvPr id="4" name="Text 2"/>
          <p:cNvSpPr/>
          <p:nvPr/>
        </p:nvSpPr>
        <p:spPr>
          <a:xfrm>
            <a:off x="812800" y="1836341"/>
            <a:ext cx="5755640" cy="1454150"/>
          </a:xfrm>
          <a:prstGeom prst="rect">
            <a:avLst/>
          </a:prstGeom>
          <a:noFill/>
          <a:ln/>
        </p:spPr>
        <p:txBody>
          <a:bodyPr wrap="square" lIns="0" tIns="0" rIns="0" bIns="0" rtlCol="0" anchor="t">
            <a:normAutofit/>
          </a:bodyPr>
          <a:lstStyle/>
          <a:p>
            <a:pPr marL="0" indent="0" algn="l">
              <a:lnSpc>
                <a:spcPts val="2250"/>
              </a:lnSpc>
              <a:buNone/>
            </a:pPr>
            <a:r>
              <a:rPr lang="en-US" sz="1500" dirty="0">
                <a:solidFill>
                  <a:srgbClr val="1B2432"/>
                </a:solidFill>
                <a:latin typeface="Public Sans" pitchFamily="34" charset="0"/>
                <a:ea typeface="Public Sans" pitchFamily="34" charset="-122"/>
                <a:cs typeface="Public Sans" pitchFamily="34" charset="-120"/>
              </a:rPr>
              <a:t>In August 1896, gold was found in Bonanza Creek, a small stream near today’s Dawson City in Yukon, north-western Canada. When the news reached the United States one year later, about </a:t>
            </a:r>
            <a:r>
              <a:rPr lang="en-US" sz="1500" b="1" dirty="0">
                <a:solidFill>
                  <a:srgbClr val="1B2432"/>
                </a:solidFill>
                <a:latin typeface="Public Sans" pitchFamily="34" charset="0"/>
                <a:ea typeface="Public Sans" pitchFamily="34" charset="-122"/>
                <a:cs typeface="Public Sans" pitchFamily="34" charset="-120"/>
              </a:rPr>
              <a:t>100,000 people</a:t>
            </a:r>
            <a:r>
              <a:rPr lang="en-US" sz="1500" dirty="0">
                <a:solidFill>
                  <a:srgbClr val="1B2432"/>
                </a:solidFill>
                <a:latin typeface="Public Sans" pitchFamily="34" charset="0"/>
                <a:ea typeface="Public Sans" pitchFamily="34" charset="-122"/>
                <a:cs typeface="Public Sans" pitchFamily="34" charset="-120"/>
              </a:rPr>
              <a:t> left their homes and headed north, hoping to get rich.</a:t>
            </a:r>
            <a:endParaRPr lang="en-US" sz="1500" dirty="0"/>
          </a:p>
        </p:txBody>
      </p:sp>
      <p:sp>
        <p:nvSpPr>
          <p:cNvPr id="5" name="Text 3"/>
          <p:cNvSpPr/>
          <p:nvPr/>
        </p:nvSpPr>
        <p:spPr>
          <a:xfrm>
            <a:off x="812800" y="3442891"/>
            <a:ext cx="5755640" cy="882650"/>
          </a:xfrm>
          <a:prstGeom prst="rect">
            <a:avLst/>
          </a:prstGeom>
          <a:noFill/>
          <a:ln/>
        </p:spPr>
        <p:txBody>
          <a:bodyPr wrap="square" lIns="0" tIns="0" rIns="0" bIns="0" rtlCol="0" anchor="t">
            <a:normAutofit/>
          </a:bodyPr>
          <a:lstStyle/>
          <a:p>
            <a:pPr marL="0" indent="0" algn="l">
              <a:lnSpc>
                <a:spcPts val="2250"/>
              </a:lnSpc>
              <a:buNone/>
            </a:pPr>
            <a:r>
              <a:rPr lang="en-US" sz="1500" dirty="0">
                <a:solidFill>
                  <a:srgbClr val="1B2432"/>
                </a:solidFill>
                <a:latin typeface="Public Sans" pitchFamily="34" charset="0"/>
                <a:ea typeface="Public Sans" pitchFamily="34" charset="-122"/>
                <a:cs typeface="Public Sans" pitchFamily="34" charset="-120"/>
              </a:rPr>
              <a:t>The “stampede” lasted from 1897 to 1899. It turned a quiet river valley into Dawson City, a boomtown of 30,000 people, and it was one of the last great gold rushes in history.</a:t>
            </a:r>
            <a:endParaRPr lang="en-US" sz="1500" dirty="0"/>
          </a:p>
        </p:txBody>
      </p:sp>
      <p:sp>
        <p:nvSpPr>
          <p:cNvPr id="6" name="Shape 4"/>
          <p:cNvSpPr/>
          <p:nvPr/>
        </p:nvSpPr>
        <p:spPr>
          <a:xfrm>
            <a:off x="815975" y="4481116"/>
            <a:ext cx="5581650" cy="1356866"/>
          </a:xfrm>
          <a:prstGeom prst="roundRect">
            <a:avLst>
              <a:gd name="adj" fmla="val 7254"/>
            </a:avLst>
          </a:prstGeom>
          <a:solidFill>
            <a:srgbClr val="FBFCFE"/>
          </a:solidFill>
          <a:ln w="6350">
            <a:solidFill>
              <a:srgbClr val="D9DBEE"/>
            </a:solidFill>
            <a:prstDash val="solid"/>
          </a:ln>
        </p:spPr>
        <p:txBody>
          <a:bodyPr/>
          <a:lstStyle/>
          <a:p>
            <a:endParaRPr lang="tr-TR"/>
          </a:p>
        </p:txBody>
      </p:sp>
      <p:sp>
        <p:nvSpPr>
          <p:cNvPr id="7" name="Text 5"/>
          <p:cNvSpPr/>
          <p:nvPr/>
        </p:nvSpPr>
        <p:spPr>
          <a:xfrm>
            <a:off x="1022350" y="4662091"/>
            <a:ext cx="5323967"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A2FB0"/>
                </a:solidFill>
                <a:latin typeface="Public Sans" pitchFamily="34" charset="0"/>
                <a:ea typeface="Public Sans" pitchFamily="34" charset="-122"/>
                <a:cs typeface="Public Sans" pitchFamily="34" charset="-120"/>
              </a:rPr>
              <a:t>THREE WORDS TO KNOW</a:t>
            </a:r>
            <a:endParaRPr lang="en-US" sz="1200" dirty="0"/>
          </a:p>
        </p:txBody>
      </p:sp>
      <p:sp>
        <p:nvSpPr>
          <p:cNvPr id="8" name="Text 6"/>
          <p:cNvSpPr/>
          <p:nvPr/>
        </p:nvSpPr>
        <p:spPr>
          <a:xfrm>
            <a:off x="1022350" y="4938911"/>
            <a:ext cx="5323967" cy="743496"/>
          </a:xfrm>
          <a:prstGeom prst="rect">
            <a:avLst/>
          </a:prstGeom>
          <a:noFill/>
          <a:ln/>
        </p:spPr>
        <p:txBody>
          <a:bodyPr wrap="square" lIns="0" tIns="0" rIns="0" bIns="0" rtlCol="0" anchor="t">
            <a:normAutofit/>
          </a:bodyPr>
          <a:lstStyle/>
          <a:p>
            <a:pPr marL="0" indent="0" algn="l">
              <a:lnSpc>
                <a:spcPts val="1885"/>
              </a:lnSpc>
              <a:buNone/>
            </a:pPr>
            <a:r>
              <a:rPr lang="en-US" sz="1300" b="1" dirty="0">
                <a:solidFill>
                  <a:srgbClr val="475569"/>
                </a:solidFill>
                <a:latin typeface="Public Sans" pitchFamily="34" charset="0"/>
                <a:ea typeface="Public Sans" pitchFamily="34" charset="-122"/>
                <a:cs typeface="Public Sans" pitchFamily="34" charset="-120"/>
              </a:rPr>
              <a:t>Stampeder</a:t>
            </a:r>
            <a:r>
              <a:rPr lang="en-US" sz="1300" dirty="0">
                <a:solidFill>
                  <a:srgbClr val="475569"/>
                </a:solidFill>
                <a:latin typeface="Public Sans" pitchFamily="34" charset="0"/>
                <a:ea typeface="Public Sans" pitchFamily="34" charset="-122"/>
                <a:cs typeface="Public Sans" pitchFamily="34" charset="-120"/>
              </a:rPr>
              <a:t> – a person who rushed to the Klondike · </a:t>
            </a:r>
            <a:r>
              <a:rPr lang="en-US" sz="1300" b="1" dirty="0">
                <a:solidFill>
                  <a:srgbClr val="475569"/>
                </a:solidFill>
                <a:latin typeface="Public Sans" pitchFamily="34" charset="0"/>
                <a:ea typeface="Public Sans" pitchFamily="34" charset="-122"/>
                <a:cs typeface="Public Sans" pitchFamily="34" charset="-120"/>
              </a:rPr>
              <a:t>Claim</a:t>
            </a:r>
            <a:r>
              <a:rPr lang="en-US" sz="1300" dirty="0">
                <a:solidFill>
                  <a:srgbClr val="475569"/>
                </a:solidFill>
                <a:latin typeface="Public Sans" pitchFamily="34" charset="0"/>
                <a:ea typeface="Public Sans" pitchFamily="34" charset="-122"/>
                <a:cs typeface="Public Sans" pitchFamily="34" charset="-120"/>
              </a:rPr>
              <a:t> – a piece of land a miner registers to dig for gold · </a:t>
            </a:r>
            <a:r>
              <a:rPr lang="en-US" sz="1300" b="1" dirty="0">
                <a:solidFill>
                  <a:srgbClr val="475569"/>
                </a:solidFill>
                <a:latin typeface="Public Sans" pitchFamily="34" charset="0"/>
                <a:ea typeface="Public Sans" pitchFamily="34" charset="-122"/>
                <a:cs typeface="Public Sans" pitchFamily="34" charset="-120"/>
              </a:rPr>
              <a:t>Panning</a:t>
            </a:r>
            <a:r>
              <a:rPr lang="en-US" sz="1300" dirty="0">
                <a:solidFill>
                  <a:srgbClr val="475569"/>
                </a:solidFill>
                <a:latin typeface="Public Sans" pitchFamily="34" charset="0"/>
                <a:ea typeface="Public Sans" pitchFamily="34" charset="-122"/>
                <a:cs typeface="Public Sans" pitchFamily="34" charset="-120"/>
              </a:rPr>
              <a:t> – washing river gravel in a pan to find gold</a:t>
            </a:r>
            <a:endParaRPr lang="en-US" sz="1300" dirty="0"/>
          </a:p>
        </p:txBody>
      </p:sp>
      <p:sp>
        <p:nvSpPr>
          <p:cNvPr id="9" name="Shape 7"/>
          <p:cNvSpPr/>
          <p:nvPr/>
        </p:nvSpPr>
        <p:spPr>
          <a:xfrm>
            <a:off x="6756400" y="1836341"/>
            <a:ext cx="2235200" cy="2230983"/>
          </a:xfrm>
          <a:prstGeom prst="roundRect">
            <a:avLst>
              <a:gd name="adj" fmla="val 4554"/>
            </a:avLst>
          </a:prstGeom>
          <a:solidFill>
            <a:srgbClr val="000084"/>
          </a:solidFill>
          <a:ln/>
        </p:spPr>
        <p:txBody>
          <a:bodyPr/>
          <a:lstStyle/>
          <a:p>
            <a:endParaRPr lang="tr-TR"/>
          </a:p>
        </p:txBody>
      </p:sp>
      <p:sp>
        <p:nvSpPr>
          <p:cNvPr id="10" name="Text 8"/>
          <p:cNvSpPr/>
          <p:nvPr/>
        </p:nvSpPr>
        <p:spPr>
          <a:xfrm>
            <a:off x="6959600" y="2039541"/>
            <a:ext cx="1883664" cy="1244600"/>
          </a:xfrm>
          <a:prstGeom prst="rect">
            <a:avLst/>
          </a:prstGeom>
          <a:noFill/>
          <a:ln/>
        </p:spPr>
        <p:txBody>
          <a:bodyPr wrap="square" lIns="0" tIns="0" rIns="0" bIns="0" rtlCol="0" anchor="t">
            <a:normAutofit/>
          </a:bodyPr>
          <a:lstStyle/>
          <a:p>
            <a:pPr marL="0" indent="0" algn="l">
              <a:lnSpc>
                <a:spcPts val="4800"/>
              </a:lnSpc>
              <a:buNone/>
            </a:pPr>
            <a:r>
              <a:rPr lang="en-US" sz="4800" b="1" dirty="0">
                <a:solidFill>
                  <a:srgbClr val="E2B050"/>
                </a:solidFill>
                <a:latin typeface="Oswald" pitchFamily="34" charset="0"/>
                <a:ea typeface="Oswald" pitchFamily="34" charset="-122"/>
                <a:cs typeface="Oswald" pitchFamily="34" charset="-120"/>
              </a:rPr>
              <a:t>100,000</a:t>
            </a:r>
            <a:endParaRPr lang="en-US" sz="4800" dirty="0"/>
          </a:p>
        </p:txBody>
      </p:sp>
      <p:sp>
        <p:nvSpPr>
          <p:cNvPr id="11" name="Text 9"/>
          <p:cNvSpPr/>
          <p:nvPr/>
        </p:nvSpPr>
        <p:spPr>
          <a:xfrm>
            <a:off x="6959600" y="3322241"/>
            <a:ext cx="1883664" cy="471091"/>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C7D4E8"/>
                </a:solidFill>
                <a:latin typeface="Public Sans" pitchFamily="34" charset="0"/>
                <a:ea typeface="Public Sans" pitchFamily="34" charset="-122"/>
                <a:cs typeface="Public Sans" pitchFamily="34" charset="-120"/>
              </a:rPr>
              <a:t>people set out for the Klondike</a:t>
            </a:r>
            <a:endParaRPr lang="en-US" sz="1300" dirty="0"/>
          </a:p>
        </p:txBody>
      </p:sp>
      <p:sp>
        <p:nvSpPr>
          <p:cNvPr id="12" name="Shape 10"/>
          <p:cNvSpPr/>
          <p:nvPr/>
        </p:nvSpPr>
        <p:spPr>
          <a:xfrm>
            <a:off x="9144000" y="1836341"/>
            <a:ext cx="2235200" cy="2230983"/>
          </a:xfrm>
          <a:prstGeom prst="roundRect">
            <a:avLst>
              <a:gd name="adj" fmla="val 4554"/>
            </a:avLst>
          </a:prstGeom>
          <a:solidFill>
            <a:srgbClr val="000084"/>
          </a:solidFill>
          <a:ln/>
        </p:spPr>
        <p:txBody>
          <a:bodyPr/>
          <a:lstStyle/>
          <a:p>
            <a:endParaRPr lang="tr-TR"/>
          </a:p>
        </p:txBody>
      </p:sp>
      <p:sp>
        <p:nvSpPr>
          <p:cNvPr id="13" name="Text 11"/>
          <p:cNvSpPr/>
          <p:nvPr/>
        </p:nvSpPr>
        <p:spPr>
          <a:xfrm>
            <a:off x="9347200" y="2039541"/>
            <a:ext cx="2032000" cy="635000"/>
          </a:xfrm>
          <a:prstGeom prst="rect">
            <a:avLst/>
          </a:prstGeom>
          <a:noFill/>
          <a:ln/>
        </p:spPr>
        <p:txBody>
          <a:bodyPr wrap="square" lIns="0" tIns="0" rIns="0" bIns="0" rtlCol="0" anchor="t">
            <a:normAutofit/>
          </a:bodyPr>
          <a:lstStyle/>
          <a:p>
            <a:pPr marL="0" indent="0" algn="l">
              <a:lnSpc>
                <a:spcPts val="4800"/>
              </a:lnSpc>
              <a:buNone/>
            </a:pPr>
            <a:r>
              <a:rPr lang="en-US" sz="4800" b="1" dirty="0">
                <a:solidFill>
                  <a:srgbClr val="E2B050"/>
                </a:solidFill>
                <a:latin typeface="Oswald" pitchFamily="34" charset="0"/>
                <a:ea typeface="Oswald" pitchFamily="34" charset="-122"/>
                <a:cs typeface="Oswald" pitchFamily="34" charset="-120"/>
              </a:rPr>
              <a:t>30,000</a:t>
            </a:r>
            <a:endParaRPr lang="en-US" sz="4800" dirty="0"/>
          </a:p>
        </p:txBody>
      </p:sp>
      <p:sp>
        <p:nvSpPr>
          <p:cNvPr id="14" name="Text 12"/>
          <p:cNvSpPr/>
          <p:nvPr/>
        </p:nvSpPr>
        <p:spPr>
          <a:xfrm>
            <a:off x="9347200" y="2712641"/>
            <a:ext cx="1883664" cy="24824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C7D4E8"/>
                </a:solidFill>
                <a:latin typeface="Public Sans" pitchFamily="34" charset="0"/>
                <a:ea typeface="Public Sans" pitchFamily="34" charset="-122"/>
                <a:cs typeface="Public Sans" pitchFamily="34" charset="-120"/>
              </a:rPr>
              <a:t>reached Dawson City</a:t>
            </a:r>
            <a:endParaRPr lang="en-US" sz="1300" dirty="0"/>
          </a:p>
        </p:txBody>
      </p:sp>
      <p:sp>
        <p:nvSpPr>
          <p:cNvPr id="15" name="Shape 13"/>
          <p:cNvSpPr/>
          <p:nvPr/>
        </p:nvSpPr>
        <p:spPr>
          <a:xfrm>
            <a:off x="6756400" y="4219724"/>
            <a:ext cx="2235200" cy="1621433"/>
          </a:xfrm>
          <a:prstGeom prst="roundRect">
            <a:avLst>
              <a:gd name="adj" fmla="val 6266"/>
            </a:avLst>
          </a:prstGeom>
          <a:solidFill>
            <a:srgbClr val="000084"/>
          </a:solidFill>
          <a:ln/>
        </p:spPr>
        <p:txBody>
          <a:bodyPr/>
          <a:lstStyle/>
          <a:p>
            <a:endParaRPr lang="tr-TR"/>
          </a:p>
        </p:txBody>
      </p:sp>
      <p:sp>
        <p:nvSpPr>
          <p:cNvPr id="16" name="Text 14"/>
          <p:cNvSpPr/>
          <p:nvPr/>
        </p:nvSpPr>
        <p:spPr>
          <a:xfrm>
            <a:off x="6959600" y="4422924"/>
            <a:ext cx="1883664" cy="635000"/>
          </a:xfrm>
          <a:prstGeom prst="rect">
            <a:avLst/>
          </a:prstGeom>
          <a:noFill/>
          <a:ln/>
        </p:spPr>
        <p:txBody>
          <a:bodyPr wrap="square" lIns="0" tIns="0" rIns="0" bIns="0" rtlCol="0" anchor="t">
            <a:normAutofit/>
          </a:bodyPr>
          <a:lstStyle/>
          <a:p>
            <a:pPr marL="0" indent="0" algn="l">
              <a:lnSpc>
                <a:spcPts val="4800"/>
              </a:lnSpc>
              <a:buNone/>
            </a:pPr>
            <a:r>
              <a:rPr lang="en-US" sz="4800" b="1" dirty="0">
                <a:solidFill>
                  <a:srgbClr val="E2B050"/>
                </a:solidFill>
                <a:latin typeface="Oswald" pitchFamily="34" charset="0"/>
                <a:ea typeface="Oswald" pitchFamily="34" charset="-122"/>
                <a:cs typeface="Oswald" pitchFamily="34" charset="-120"/>
              </a:rPr>
              <a:t>4,000</a:t>
            </a:r>
            <a:endParaRPr lang="en-US" sz="4800" dirty="0"/>
          </a:p>
        </p:txBody>
      </p:sp>
      <p:sp>
        <p:nvSpPr>
          <p:cNvPr id="17" name="Text 15"/>
          <p:cNvSpPr/>
          <p:nvPr/>
        </p:nvSpPr>
        <p:spPr>
          <a:xfrm>
            <a:off x="6959600" y="5096024"/>
            <a:ext cx="1883664" cy="24824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C7D4E8"/>
                </a:solidFill>
                <a:latin typeface="Public Sans" pitchFamily="34" charset="0"/>
                <a:ea typeface="Public Sans" pitchFamily="34" charset="-122"/>
                <a:cs typeface="Public Sans" pitchFamily="34" charset="-120"/>
              </a:rPr>
              <a:t>actually found gold</a:t>
            </a:r>
            <a:endParaRPr lang="en-US" sz="1300" dirty="0"/>
          </a:p>
        </p:txBody>
      </p:sp>
      <p:sp>
        <p:nvSpPr>
          <p:cNvPr id="18" name="Shape 16"/>
          <p:cNvSpPr/>
          <p:nvPr/>
        </p:nvSpPr>
        <p:spPr>
          <a:xfrm>
            <a:off x="9144000" y="4219724"/>
            <a:ext cx="2235200" cy="1621433"/>
          </a:xfrm>
          <a:prstGeom prst="roundRect">
            <a:avLst>
              <a:gd name="adj" fmla="val 6266"/>
            </a:avLst>
          </a:prstGeom>
          <a:solidFill>
            <a:srgbClr val="000084"/>
          </a:solidFill>
          <a:ln/>
        </p:spPr>
        <p:txBody>
          <a:bodyPr/>
          <a:lstStyle/>
          <a:p>
            <a:endParaRPr lang="tr-TR"/>
          </a:p>
        </p:txBody>
      </p:sp>
      <p:sp>
        <p:nvSpPr>
          <p:cNvPr id="19" name="Text 17"/>
          <p:cNvSpPr/>
          <p:nvPr/>
        </p:nvSpPr>
        <p:spPr>
          <a:xfrm>
            <a:off x="9347200" y="4422924"/>
            <a:ext cx="1883664" cy="635000"/>
          </a:xfrm>
          <a:prstGeom prst="rect">
            <a:avLst/>
          </a:prstGeom>
          <a:noFill/>
          <a:ln/>
        </p:spPr>
        <p:txBody>
          <a:bodyPr wrap="square" lIns="0" tIns="0" rIns="0" bIns="0" rtlCol="0" anchor="t">
            <a:normAutofit/>
          </a:bodyPr>
          <a:lstStyle/>
          <a:p>
            <a:pPr marL="0" indent="0" algn="l">
              <a:lnSpc>
                <a:spcPts val="4800"/>
              </a:lnSpc>
              <a:buNone/>
            </a:pPr>
            <a:r>
              <a:rPr lang="en-US" sz="4800" b="1" dirty="0">
                <a:solidFill>
                  <a:srgbClr val="E2B050"/>
                </a:solidFill>
                <a:latin typeface="Oswald" pitchFamily="34" charset="0"/>
                <a:ea typeface="Oswald" pitchFamily="34" charset="-122"/>
                <a:cs typeface="Oswald" pitchFamily="34" charset="-120"/>
              </a:rPr>
              <a:t>3 years</a:t>
            </a:r>
            <a:endParaRPr lang="en-US" sz="4800" dirty="0"/>
          </a:p>
        </p:txBody>
      </p:sp>
      <p:sp>
        <p:nvSpPr>
          <p:cNvPr id="20" name="Text 18"/>
          <p:cNvSpPr/>
          <p:nvPr/>
        </p:nvSpPr>
        <p:spPr>
          <a:xfrm>
            <a:off x="9347200" y="5096024"/>
            <a:ext cx="1883664" cy="471091"/>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C7D4E8"/>
                </a:solidFill>
                <a:latin typeface="Public Sans" pitchFamily="34" charset="0"/>
                <a:ea typeface="Public Sans" pitchFamily="34" charset="-122"/>
                <a:cs typeface="Public Sans" pitchFamily="34" charset="-120"/>
              </a:rPr>
              <a:t>from discovery to the end, 1896 to 1899</a:t>
            </a:r>
            <a:endParaRPr lang="en-US" sz="1300" dirty="0"/>
          </a:p>
        </p:txBody>
      </p:sp>
      <p:sp>
        <p:nvSpPr>
          <p:cNvPr id="21" name="Text 19"/>
          <p:cNvSpPr/>
          <p:nvPr/>
        </p:nvSpPr>
        <p:spPr>
          <a:xfrm>
            <a:off x="812800" y="6238280"/>
            <a:ext cx="470701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B7A"/>
                </a:solidFill>
                <a:latin typeface="Public Sans" pitchFamily="34" charset="0"/>
                <a:ea typeface="Public Sans" pitchFamily="34" charset="-122"/>
                <a:cs typeface="Public Sans" pitchFamily="34" charset="-120"/>
              </a:rPr>
              <a:t>The Klondike Gold Rush · Pertevniyal High School 159/E</a:t>
            </a:r>
            <a:endParaRPr lang="en-US" sz="1200" dirty="0"/>
          </a:p>
        </p:txBody>
      </p:sp>
      <p:sp>
        <p:nvSpPr>
          <p:cNvPr id="22" name="Text 20"/>
          <p:cNvSpPr/>
          <p:nvPr/>
        </p:nvSpPr>
        <p:spPr>
          <a:xfrm>
            <a:off x="10820400" y="6238280"/>
            <a:ext cx="558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F6B7A"/>
                </a:solidFill>
                <a:latin typeface="Public Sans" pitchFamily="34" charset="0"/>
                <a:ea typeface="Public Sans" pitchFamily="34" charset="-122"/>
                <a:cs typeface="Public Sans"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4F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A2FB0"/>
                </a:solidFill>
                <a:latin typeface="Public Sans" pitchFamily="34" charset="0"/>
                <a:ea typeface="Public Sans" pitchFamily="34" charset="-122"/>
                <a:cs typeface="Public Sans" pitchFamily="34" charset="-120"/>
              </a:rPr>
              <a:t>THE GOLD RUSH · WHERE</a:t>
            </a:r>
            <a:endParaRPr lang="en-US" sz="1200" dirty="0"/>
          </a:p>
        </p:txBody>
      </p:sp>
      <p:sp>
        <p:nvSpPr>
          <p:cNvPr id="3" name="Text 1"/>
          <p:cNvSpPr>
            <a:spLocks noGrp="1"/>
          </p:cNvSpPr>
          <p:nvPr>
            <p:ph type="title"/>
          </p:nvPr>
        </p:nvSpPr>
        <p:spPr>
          <a:xfrm>
            <a:off x="812800" y="1102320"/>
            <a:ext cx="10883392" cy="505420"/>
          </a:xfrm>
          <a:prstGeom prst="rect">
            <a:avLst/>
          </a:prstGeom>
          <a:noFill/>
          <a:ln/>
        </p:spPr>
        <p:txBody>
          <a:bodyPr wrap="square" lIns="0" tIns="0" rIns="0" bIns="0" rtlCol="0" anchor="t">
            <a:normAutofit/>
          </a:bodyPr>
          <a:lstStyle/>
          <a:p>
            <a:pPr marL="0" indent="0" algn="l">
              <a:lnSpc>
                <a:spcPts val="3780"/>
              </a:lnSpc>
              <a:buNone/>
            </a:pPr>
            <a:r>
              <a:rPr lang="en-US" sz="3600" b="0" i="0" dirty="0">
                <a:solidFill>
                  <a:srgbClr val="000084"/>
                </a:solidFill>
                <a:latin typeface="Oswald" pitchFamily="34" charset="0"/>
                <a:ea typeface="Oswald" pitchFamily="34" charset="-122"/>
                <a:cs typeface="Oswald" pitchFamily="34" charset="-120"/>
              </a:rPr>
              <a:t>Where: Dawson City, Yukon, Canada</a:t>
            </a:r>
            <a:endParaRPr lang="en-US" sz="3600" dirty="0"/>
          </a:p>
        </p:txBody>
      </p:sp>
      <p:pic>
        <p:nvPicPr>
          <p:cNvPr id="4" name="Image 0" descr="Globe seen from above the Arctic, showing Dawson City in Yukon and Istanbul, with a dashed line between them"/>
          <p:cNvPicPr>
            <a:picLocks noChangeAspect="1"/>
          </p:cNvPicPr>
          <p:nvPr/>
        </p:nvPicPr>
        <p:blipFill>
          <a:blip r:embed="rId3"/>
          <a:srcRect/>
          <a:stretch/>
        </p:blipFill>
        <p:spPr>
          <a:xfrm>
            <a:off x="812800" y="1836341"/>
            <a:ext cx="3810000" cy="3810000"/>
          </a:xfrm>
          <a:prstGeom prst="roundRect">
            <a:avLst>
              <a:gd name="adj" fmla="val 42667"/>
            </a:avLst>
          </a:prstGeom>
        </p:spPr>
      </p:pic>
      <p:pic>
        <p:nvPicPr>
          <p:cNvPr id="5" name="Image 1" descr="ellipse"/>
          <p:cNvPicPr>
            <a:picLocks noChangeAspect="1"/>
          </p:cNvPicPr>
          <p:nvPr/>
        </p:nvPicPr>
        <p:blipFill>
          <a:blip r:embed="rId4"/>
          <a:srcRect t="-262" b="-262"/>
          <a:stretch/>
        </p:blipFill>
        <p:spPr>
          <a:xfrm>
            <a:off x="5029200" y="2364978"/>
            <a:ext cx="113705" cy="114300"/>
          </a:xfrm>
          <a:prstGeom prst="rect">
            <a:avLst/>
          </a:prstGeom>
        </p:spPr>
      </p:pic>
      <p:sp>
        <p:nvSpPr>
          <p:cNvPr id="6" name="Text 2"/>
          <p:cNvSpPr/>
          <p:nvPr/>
        </p:nvSpPr>
        <p:spPr>
          <a:xfrm>
            <a:off x="5269905" y="2164953"/>
            <a:ext cx="6292574" cy="539750"/>
          </a:xfrm>
          <a:prstGeom prst="rect">
            <a:avLst/>
          </a:prstGeom>
          <a:noFill/>
          <a:ln/>
        </p:spPr>
        <p:txBody>
          <a:bodyPr wrap="square" lIns="0" tIns="0" rIns="0" bIns="0" rtlCol="0" anchor="t">
            <a:normAutofit/>
          </a:bodyPr>
          <a:lstStyle/>
          <a:p>
            <a:pPr marL="0" indent="0" algn="l">
              <a:lnSpc>
                <a:spcPts val="2025"/>
              </a:lnSpc>
              <a:buNone/>
            </a:pPr>
            <a:r>
              <a:rPr lang="en-US" sz="1500" b="1" dirty="0">
                <a:solidFill>
                  <a:srgbClr val="1B2432"/>
                </a:solidFill>
                <a:latin typeface="Public Sans" pitchFamily="34" charset="0"/>
                <a:ea typeface="Public Sans" pitchFamily="34" charset="-122"/>
                <a:cs typeface="Public Sans" pitchFamily="34" charset="-120"/>
              </a:rPr>
              <a:t>Yukon Territory</a:t>
            </a:r>
            <a:r>
              <a:rPr lang="en-US" sz="1500" dirty="0">
                <a:solidFill>
                  <a:srgbClr val="1B2432"/>
                </a:solidFill>
                <a:latin typeface="Public Sans" pitchFamily="34" charset="0"/>
                <a:ea typeface="Public Sans" pitchFamily="34" charset="-122"/>
                <a:cs typeface="Public Sans" pitchFamily="34" charset="-120"/>
              </a:rPr>
              <a:t>, in the far north-west of Canada, next to Alaska (USA)</a:t>
            </a:r>
            <a:endParaRPr lang="en-US" sz="1500" dirty="0"/>
          </a:p>
        </p:txBody>
      </p:sp>
      <p:pic>
        <p:nvPicPr>
          <p:cNvPr id="7" name="Image 2" descr="ellipse"/>
          <p:cNvPicPr>
            <a:picLocks noChangeAspect="1"/>
          </p:cNvPicPr>
          <p:nvPr/>
        </p:nvPicPr>
        <p:blipFill>
          <a:blip r:embed="rId4"/>
          <a:srcRect/>
          <a:stretch/>
        </p:blipFill>
        <p:spPr>
          <a:xfrm>
            <a:off x="5029200" y="2890441"/>
            <a:ext cx="114300" cy="114300"/>
          </a:xfrm>
          <a:prstGeom prst="rect">
            <a:avLst/>
          </a:prstGeom>
        </p:spPr>
      </p:pic>
      <p:sp>
        <p:nvSpPr>
          <p:cNvPr id="8" name="Text 3"/>
          <p:cNvSpPr/>
          <p:nvPr/>
        </p:nvSpPr>
        <p:spPr>
          <a:xfrm>
            <a:off x="5270500" y="2819003"/>
            <a:ext cx="5194578" cy="282575"/>
          </a:xfrm>
          <a:prstGeom prst="rect">
            <a:avLst/>
          </a:prstGeom>
          <a:noFill/>
          <a:ln/>
        </p:spPr>
        <p:txBody>
          <a:bodyPr wrap="square" lIns="0" tIns="0" rIns="0" bIns="0" rtlCol="0" anchor="t">
            <a:normAutofit/>
          </a:bodyPr>
          <a:lstStyle/>
          <a:p>
            <a:pPr marL="0" indent="0" algn="l">
              <a:lnSpc>
                <a:spcPts val="2025"/>
              </a:lnSpc>
              <a:buNone/>
            </a:pPr>
            <a:r>
              <a:rPr lang="en-US" sz="1500" b="1" dirty="0">
                <a:solidFill>
                  <a:srgbClr val="1B2432"/>
                </a:solidFill>
                <a:latin typeface="Public Sans" pitchFamily="34" charset="0"/>
                <a:ea typeface="Public Sans" pitchFamily="34" charset="-122"/>
                <a:cs typeface="Public Sans" pitchFamily="34" charset="-120"/>
              </a:rPr>
              <a:t>64° North</a:t>
            </a:r>
            <a:r>
              <a:rPr lang="en-US" sz="1500" dirty="0">
                <a:solidFill>
                  <a:srgbClr val="1B2432"/>
                </a:solidFill>
                <a:latin typeface="Public Sans" pitchFamily="34" charset="0"/>
                <a:ea typeface="Public Sans" pitchFamily="34" charset="-122"/>
                <a:cs typeface="Public Sans" pitchFamily="34" charset="-120"/>
              </a:rPr>
              <a:t>, only 300 km south of the Arctic Circle</a:t>
            </a:r>
            <a:endParaRPr lang="en-US" sz="1500" dirty="0"/>
          </a:p>
        </p:txBody>
      </p:sp>
      <p:pic>
        <p:nvPicPr>
          <p:cNvPr id="9" name="Image 3" descr="ellipse"/>
          <p:cNvPicPr>
            <a:picLocks noChangeAspect="1"/>
          </p:cNvPicPr>
          <p:nvPr/>
        </p:nvPicPr>
        <p:blipFill>
          <a:blip r:embed="rId4"/>
          <a:srcRect/>
          <a:stretch/>
        </p:blipFill>
        <p:spPr>
          <a:xfrm>
            <a:off x="5029200" y="3287316"/>
            <a:ext cx="114300" cy="114300"/>
          </a:xfrm>
          <a:prstGeom prst="rect">
            <a:avLst/>
          </a:prstGeom>
        </p:spPr>
      </p:pic>
      <p:sp>
        <p:nvSpPr>
          <p:cNvPr id="10" name="Text 4"/>
          <p:cNvSpPr/>
          <p:nvPr/>
        </p:nvSpPr>
        <p:spPr>
          <a:xfrm>
            <a:off x="5270500" y="3215878"/>
            <a:ext cx="5548134" cy="282575"/>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1B2432"/>
                </a:solidFill>
                <a:latin typeface="Public Sans" pitchFamily="34" charset="0"/>
                <a:ea typeface="Public Sans" pitchFamily="34" charset="-122"/>
                <a:cs typeface="Public Sans" pitchFamily="34" charset="-120"/>
              </a:rPr>
              <a:t>Where the </a:t>
            </a:r>
            <a:r>
              <a:rPr lang="en-US" sz="1500" b="1" dirty="0">
                <a:solidFill>
                  <a:srgbClr val="1B2432"/>
                </a:solidFill>
                <a:latin typeface="Public Sans" pitchFamily="34" charset="0"/>
                <a:ea typeface="Public Sans" pitchFamily="34" charset="-122"/>
                <a:cs typeface="Public Sans" pitchFamily="34" charset="-120"/>
              </a:rPr>
              <a:t>Klondike River</a:t>
            </a:r>
            <a:r>
              <a:rPr lang="en-US" sz="1500" dirty="0">
                <a:solidFill>
                  <a:srgbClr val="1B2432"/>
                </a:solidFill>
                <a:latin typeface="Public Sans" pitchFamily="34" charset="0"/>
                <a:ea typeface="Public Sans" pitchFamily="34" charset="-122"/>
                <a:cs typeface="Public Sans" pitchFamily="34" charset="-120"/>
              </a:rPr>
              <a:t> flows into the </a:t>
            </a:r>
            <a:r>
              <a:rPr lang="en-US" sz="1500" b="1" dirty="0">
                <a:solidFill>
                  <a:srgbClr val="1B2432"/>
                </a:solidFill>
                <a:latin typeface="Public Sans" pitchFamily="34" charset="0"/>
                <a:ea typeface="Public Sans" pitchFamily="34" charset="-122"/>
                <a:cs typeface="Public Sans" pitchFamily="34" charset="-120"/>
              </a:rPr>
              <a:t>Yukon River</a:t>
            </a:r>
            <a:endParaRPr lang="en-US" sz="1500" dirty="0"/>
          </a:p>
        </p:txBody>
      </p:sp>
      <p:pic>
        <p:nvPicPr>
          <p:cNvPr id="11" name="Image 4" descr="ellipse"/>
          <p:cNvPicPr>
            <a:picLocks noChangeAspect="1"/>
          </p:cNvPicPr>
          <p:nvPr/>
        </p:nvPicPr>
        <p:blipFill>
          <a:blip r:embed="rId4"/>
          <a:srcRect/>
          <a:stretch/>
        </p:blipFill>
        <p:spPr>
          <a:xfrm>
            <a:off x="5029200" y="3684191"/>
            <a:ext cx="114300" cy="114300"/>
          </a:xfrm>
          <a:prstGeom prst="rect">
            <a:avLst/>
          </a:prstGeom>
        </p:spPr>
      </p:pic>
      <p:sp>
        <p:nvSpPr>
          <p:cNvPr id="12" name="Text 5"/>
          <p:cNvSpPr/>
          <p:nvPr/>
        </p:nvSpPr>
        <p:spPr>
          <a:xfrm>
            <a:off x="5270500" y="3612753"/>
            <a:ext cx="5205532" cy="282575"/>
          </a:xfrm>
          <a:prstGeom prst="rect">
            <a:avLst/>
          </a:prstGeom>
          <a:noFill/>
          <a:ln/>
        </p:spPr>
        <p:txBody>
          <a:bodyPr wrap="square" lIns="0" tIns="0" rIns="0" bIns="0" rtlCol="0" anchor="t">
            <a:normAutofit/>
          </a:bodyPr>
          <a:lstStyle/>
          <a:p>
            <a:pPr marL="0" indent="0" algn="l">
              <a:lnSpc>
                <a:spcPts val="2025"/>
              </a:lnSpc>
              <a:buNone/>
            </a:pPr>
            <a:r>
              <a:rPr lang="en-US" sz="1500" b="1" dirty="0">
                <a:solidFill>
                  <a:srgbClr val="1B2432"/>
                </a:solidFill>
                <a:latin typeface="Public Sans" pitchFamily="34" charset="0"/>
                <a:ea typeface="Public Sans" pitchFamily="34" charset="-122"/>
                <a:cs typeface="Public Sans" pitchFamily="34" charset="-120"/>
              </a:rPr>
              <a:t>530 km</a:t>
            </a:r>
            <a:r>
              <a:rPr lang="en-US" sz="1500" dirty="0">
                <a:solidFill>
                  <a:srgbClr val="1B2432"/>
                </a:solidFill>
                <a:latin typeface="Public Sans" pitchFamily="34" charset="0"/>
                <a:ea typeface="Public Sans" pitchFamily="34" charset="-122"/>
                <a:cs typeface="Public Sans" pitchFamily="34" charset="-120"/>
              </a:rPr>
              <a:t> north of Whitehorse, the capital of Yukon</a:t>
            </a:r>
            <a:endParaRPr lang="en-US" sz="1500" dirty="0"/>
          </a:p>
        </p:txBody>
      </p:sp>
      <p:pic>
        <p:nvPicPr>
          <p:cNvPr id="13" name="Image 5" descr="ellipse"/>
          <p:cNvPicPr>
            <a:picLocks noChangeAspect="1"/>
          </p:cNvPicPr>
          <p:nvPr/>
        </p:nvPicPr>
        <p:blipFill>
          <a:blip r:embed="rId4"/>
          <a:srcRect/>
          <a:stretch/>
        </p:blipFill>
        <p:spPr>
          <a:xfrm>
            <a:off x="5029200" y="4081066"/>
            <a:ext cx="114300" cy="114300"/>
          </a:xfrm>
          <a:prstGeom prst="rect">
            <a:avLst/>
          </a:prstGeom>
        </p:spPr>
      </p:pic>
      <p:sp>
        <p:nvSpPr>
          <p:cNvPr id="14" name="Text 6"/>
          <p:cNvSpPr/>
          <p:nvPr/>
        </p:nvSpPr>
        <p:spPr>
          <a:xfrm>
            <a:off x="5270500" y="4009628"/>
            <a:ext cx="6921500" cy="282575"/>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1B2432"/>
                </a:solidFill>
                <a:latin typeface="Public Sans" pitchFamily="34" charset="0"/>
                <a:ea typeface="Public Sans" pitchFamily="34" charset="-122"/>
                <a:cs typeface="Public Sans" pitchFamily="34" charset="-120"/>
              </a:rPr>
              <a:t>About </a:t>
            </a:r>
            <a:r>
              <a:rPr lang="en-US" sz="1500" b="1" dirty="0">
                <a:solidFill>
                  <a:srgbClr val="1B2432"/>
                </a:solidFill>
                <a:latin typeface="Public Sans" pitchFamily="34" charset="0"/>
                <a:ea typeface="Public Sans" pitchFamily="34" charset="-122"/>
                <a:cs typeface="Public Sans" pitchFamily="34" charset="-120"/>
              </a:rPr>
              <a:t>8,300 km</a:t>
            </a:r>
            <a:r>
              <a:rPr lang="en-US" sz="1500" dirty="0">
                <a:solidFill>
                  <a:srgbClr val="1B2432"/>
                </a:solidFill>
                <a:latin typeface="Public Sans" pitchFamily="34" charset="0"/>
                <a:ea typeface="Public Sans" pitchFamily="34" charset="-122"/>
                <a:cs typeface="Public Sans" pitchFamily="34" charset="-120"/>
              </a:rPr>
              <a:t> from Istanbul in a straight line, over the North Pole</a:t>
            </a:r>
            <a:endParaRPr lang="en-US" sz="1500" dirty="0"/>
          </a:p>
        </p:txBody>
      </p:sp>
      <p:pic>
        <p:nvPicPr>
          <p:cNvPr id="15" name="Image 6" descr="ellipse"/>
          <p:cNvPicPr>
            <a:picLocks noChangeAspect="1"/>
          </p:cNvPicPr>
          <p:nvPr/>
        </p:nvPicPr>
        <p:blipFill>
          <a:blip r:embed="rId5"/>
          <a:srcRect t="-1064" b="-1064"/>
          <a:stretch/>
        </p:blipFill>
        <p:spPr>
          <a:xfrm>
            <a:off x="5029200" y="4606528"/>
            <a:ext cx="74613" cy="114300"/>
          </a:xfrm>
          <a:prstGeom prst="rect">
            <a:avLst/>
          </a:prstGeom>
        </p:spPr>
      </p:pic>
      <p:sp>
        <p:nvSpPr>
          <p:cNvPr id="16" name="Text 7"/>
          <p:cNvSpPr/>
          <p:nvPr/>
        </p:nvSpPr>
        <p:spPr>
          <a:xfrm>
            <a:off x="5230813" y="4406503"/>
            <a:ext cx="6332839" cy="539750"/>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1B2432"/>
                </a:solidFill>
                <a:latin typeface="Public Sans" pitchFamily="34" charset="0"/>
                <a:ea typeface="Public Sans" pitchFamily="34" charset="-122"/>
                <a:cs typeface="Public Sans" pitchFamily="34" charset="-120"/>
              </a:rPr>
              <a:t>Traditional land of the </a:t>
            </a:r>
            <a:r>
              <a:rPr lang="en-US" sz="1500" b="1" dirty="0">
                <a:solidFill>
                  <a:srgbClr val="1B2432"/>
                </a:solidFill>
                <a:latin typeface="Public Sans" pitchFamily="34" charset="0"/>
                <a:ea typeface="Public Sans" pitchFamily="34" charset="-122"/>
                <a:cs typeface="Public Sans" pitchFamily="34" charset="-120"/>
              </a:rPr>
              <a:t>Tr’ondëk Hwëch’in</a:t>
            </a:r>
            <a:r>
              <a:rPr lang="en-US" sz="1500" dirty="0">
                <a:solidFill>
                  <a:srgbClr val="1B2432"/>
                </a:solidFill>
                <a:latin typeface="Public Sans" pitchFamily="34" charset="0"/>
                <a:ea typeface="Public Sans" pitchFamily="34" charset="-122"/>
                <a:cs typeface="Public Sans" pitchFamily="34" charset="-120"/>
              </a:rPr>
              <a:t> First Nation; the name “Klondike” comes from their word </a:t>
            </a:r>
            <a:r>
              <a:rPr lang="en-US" sz="1500" i="1" dirty="0">
                <a:solidFill>
                  <a:srgbClr val="1B2432"/>
                </a:solidFill>
                <a:latin typeface="Public Sans" pitchFamily="34" charset="0"/>
                <a:ea typeface="Public Sans" pitchFamily="34" charset="-122"/>
                <a:cs typeface="Public Sans" pitchFamily="34" charset="-120"/>
              </a:rPr>
              <a:t>Tr’ondëk</a:t>
            </a:r>
            <a:endParaRPr lang="en-US" sz="1500" dirty="0"/>
          </a:p>
        </p:txBody>
      </p:sp>
      <p:pic>
        <p:nvPicPr>
          <p:cNvPr id="17" name="Image 7" descr="ellipse"/>
          <p:cNvPicPr>
            <a:picLocks noChangeAspect="1"/>
          </p:cNvPicPr>
          <p:nvPr/>
        </p:nvPicPr>
        <p:blipFill>
          <a:blip r:embed="rId4"/>
          <a:srcRect/>
          <a:stretch/>
        </p:blipFill>
        <p:spPr>
          <a:xfrm>
            <a:off x="5029200" y="5131991"/>
            <a:ext cx="114300" cy="114300"/>
          </a:xfrm>
          <a:prstGeom prst="rect">
            <a:avLst/>
          </a:prstGeom>
        </p:spPr>
      </p:pic>
      <p:sp>
        <p:nvSpPr>
          <p:cNvPr id="18" name="Text 8"/>
          <p:cNvSpPr/>
          <p:nvPr/>
        </p:nvSpPr>
        <p:spPr>
          <a:xfrm>
            <a:off x="5270500" y="5060553"/>
            <a:ext cx="5805368" cy="282575"/>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1B2432"/>
                </a:solidFill>
                <a:latin typeface="Public Sans" pitchFamily="34" charset="0"/>
                <a:ea typeface="Public Sans" pitchFamily="34" charset="-122"/>
                <a:cs typeface="Public Sans" pitchFamily="34" charset="-120"/>
              </a:rPr>
              <a:t>Population today: about </a:t>
            </a:r>
            <a:r>
              <a:rPr lang="en-US" sz="1500" b="1" dirty="0">
                <a:solidFill>
                  <a:srgbClr val="1B2432"/>
                </a:solidFill>
                <a:latin typeface="Public Sans" pitchFamily="34" charset="0"/>
                <a:ea typeface="Public Sans" pitchFamily="34" charset="-122"/>
                <a:cs typeface="Public Sans" pitchFamily="34" charset="-120"/>
              </a:rPr>
              <a:t>1,600 people</a:t>
            </a:r>
            <a:r>
              <a:rPr lang="en-US" sz="1500" dirty="0">
                <a:solidFill>
                  <a:srgbClr val="1B2432"/>
                </a:solidFill>
                <a:latin typeface="Public Sans" pitchFamily="34" charset="0"/>
                <a:ea typeface="Public Sans" pitchFamily="34" charset="-122"/>
                <a:cs typeface="Public Sans" pitchFamily="34" charset="-120"/>
              </a:rPr>
              <a:t> (40,000 in 1898!)</a:t>
            </a:r>
            <a:endParaRPr lang="en-US" sz="1500" dirty="0"/>
          </a:p>
        </p:txBody>
      </p:sp>
      <p:sp>
        <p:nvSpPr>
          <p:cNvPr id="19" name="Text 9"/>
          <p:cNvSpPr/>
          <p:nvPr/>
        </p:nvSpPr>
        <p:spPr>
          <a:xfrm>
            <a:off x="812800" y="6238280"/>
            <a:ext cx="470701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B7A"/>
                </a:solidFill>
                <a:latin typeface="Public Sans" pitchFamily="34" charset="0"/>
                <a:ea typeface="Public Sans" pitchFamily="34" charset="-122"/>
                <a:cs typeface="Public Sans" pitchFamily="34" charset="-120"/>
              </a:rPr>
              <a:t>The Klondike Gold Rush · Pertevniyal High School 159/E</a:t>
            </a:r>
            <a:endParaRPr lang="en-US" sz="1200" dirty="0"/>
          </a:p>
        </p:txBody>
      </p:sp>
      <p:sp>
        <p:nvSpPr>
          <p:cNvPr id="20" name="Text 10"/>
          <p:cNvSpPr/>
          <p:nvPr/>
        </p:nvSpPr>
        <p:spPr>
          <a:xfrm>
            <a:off x="10820400" y="6238280"/>
            <a:ext cx="558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F6B7A"/>
                </a:solidFill>
                <a:latin typeface="Public Sans" pitchFamily="34" charset="0"/>
                <a:ea typeface="Public Sans" pitchFamily="34" charset="-122"/>
                <a:cs typeface="Public Sans"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4F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A2FB0"/>
                </a:solidFill>
                <a:latin typeface="Public Sans" pitchFamily="34" charset="0"/>
                <a:ea typeface="Public Sans" pitchFamily="34" charset="-122"/>
                <a:cs typeface="Public Sans" pitchFamily="34" charset="-120"/>
              </a:rPr>
              <a:t>THE GOLD RUSH · WHEN</a:t>
            </a:r>
            <a:endParaRPr lang="en-US" sz="1200" dirty="0"/>
          </a:p>
        </p:txBody>
      </p:sp>
      <p:sp>
        <p:nvSpPr>
          <p:cNvPr id="3" name="Text 1"/>
          <p:cNvSpPr>
            <a:spLocks noGrp="1"/>
          </p:cNvSpPr>
          <p:nvPr>
            <p:ph type="title"/>
          </p:nvPr>
        </p:nvSpPr>
        <p:spPr>
          <a:xfrm>
            <a:off x="812800" y="1102320"/>
            <a:ext cx="10883392" cy="505420"/>
          </a:xfrm>
          <a:prstGeom prst="rect">
            <a:avLst/>
          </a:prstGeom>
          <a:noFill/>
          <a:ln/>
        </p:spPr>
        <p:txBody>
          <a:bodyPr wrap="square" lIns="0" tIns="0" rIns="0" bIns="0" rtlCol="0" anchor="t">
            <a:normAutofit/>
          </a:bodyPr>
          <a:lstStyle/>
          <a:p>
            <a:pPr marL="0" indent="0" algn="l">
              <a:lnSpc>
                <a:spcPts val="3780"/>
              </a:lnSpc>
              <a:buNone/>
            </a:pPr>
            <a:r>
              <a:rPr lang="en-US" sz="3600" b="0" i="0" dirty="0">
                <a:solidFill>
                  <a:srgbClr val="000084"/>
                </a:solidFill>
                <a:latin typeface="Oswald" pitchFamily="34" charset="0"/>
                <a:ea typeface="Oswald" pitchFamily="34" charset="-122"/>
                <a:cs typeface="Oswald" pitchFamily="34" charset="-120"/>
              </a:rPr>
              <a:t>When: From Discovery to the End, 1896 to 1899</a:t>
            </a:r>
            <a:endParaRPr lang="en-US" sz="3600" dirty="0"/>
          </a:p>
        </p:txBody>
      </p:sp>
      <p:sp>
        <p:nvSpPr>
          <p:cNvPr id="4" name="Shape 2"/>
          <p:cNvSpPr/>
          <p:nvPr/>
        </p:nvSpPr>
        <p:spPr>
          <a:xfrm>
            <a:off x="812800" y="2184549"/>
            <a:ext cx="10566400" cy="25400"/>
          </a:xfrm>
          <a:prstGeom prst="roundRect">
            <a:avLst>
              <a:gd name="adj" fmla="val 50000"/>
            </a:avLst>
          </a:prstGeom>
          <a:solidFill>
            <a:srgbClr val="C9D6EA"/>
          </a:solidFill>
          <a:ln/>
        </p:spPr>
        <p:txBody>
          <a:bodyPr/>
          <a:lstStyle/>
          <a:p>
            <a:endParaRPr lang="tr-TR"/>
          </a:p>
        </p:txBody>
      </p:sp>
      <p:pic>
        <p:nvPicPr>
          <p:cNvPr id="5" name="Image 0" descr="ellipse"/>
          <p:cNvPicPr>
            <a:picLocks noChangeAspect="1"/>
          </p:cNvPicPr>
          <p:nvPr/>
        </p:nvPicPr>
        <p:blipFill>
          <a:blip r:embed="rId3"/>
          <a:srcRect/>
          <a:stretch/>
        </p:blipFill>
        <p:spPr>
          <a:xfrm>
            <a:off x="812800" y="2108349"/>
            <a:ext cx="177800" cy="177800"/>
          </a:xfrm>
          <a:prstGeom prst="rect">
            <a:avLst/>
          </a:prstGeom>
        </p:spPr>
      </p:pic>
      <p:pic>
        <p:nvPicPr>
          <p:cNvPr id="6" name="Image 1" descr="ellipse"/>
          <p:cNvPicPr>
            <a:picLocks noChangeAspect="1"/>
          </p:cNvPicPr>
          <p:nvPr/>
        </p:nvPicPr>
        <p:blipFill>
          <a:blip r:embed="rId3"/>
          <a:srcRect/>
          <a:stretch/>
        </p:blipFill>
        <p:spPr>
          <a:xfrm>
            <a:off x="2966690" y="2108349"/>
            <a:ext cx="177800" cy="177800"/>
          </a:xfrm>
          <a:prstGeom prst="rect">
            <a:avLst/>
          </a:prstGeom>
        </p:spPr>
      </p:pic>
      <p:pic>
        <p:nvPicPr>
          <p:cNvPr id="7" name="Image 2" descr="ellipse"/>
          <p:cNvPicPr>
            <a:picLocks noChangeAspect="1"/>
          </p:cNvPicPr>
          <p:nvPr/>
        </p:nvPicPr>
        <p:blipFill>
          <a:blip r:embed="rId3"/>
          <a:srcRect/>
          <a:stretch/>
        </p:blipFill>
        <p:spPr>
          <a:xfrm>
            <a:off x="5120630" y="2108349"/>
            <a:ext cx="177800" cy="177800"/>
          </a:xfrm>
          <a:prstGeom prst="rect">
            <a:avLst/>
          </a:prstGeom>
        </p:spPr>
      </p:pic>
      <p:pic>
        <p:nvPicPr>
          <p:cNvPr id="8" name="Image 3" descr="ellipse"/>
          <p:cNvPicPr>
            <a:picLocks noChangeAspect="1"/>
          </p:cNvPicPr>
          <p:nvPr/>
        </p:nvPicPr>
        <p:blipFill>
          <a:blip r:embed="rId3"/>
          <a:srcRect/>
          <a:stretch/>
        </p:blipFill>
        <p:spPr>
          <a:xfrm>
            <a:off x="7274520" y="2108349"/>
            <a:ext cx="177800" cy="177800"/>
          </a:xfrm>
          <a:prstGeom prst="rect">
            <a:avLst/>
          </a:prstGeom>
        </p:spPr>
      </p:pic>
      <p:pic>
        <p:nvPicPr>
          <p:cNvPr id="9" name="Image 4" descr="ellipse"/>
          <p:cNvPicPr>
            <a:picLocks noChangeAspect="1"/>
          </p:cNvPicPr>
          <p:nvPr/>
        </p:nvPicPr>
        <p:blipFill>
          <a:blip r:embed="rId3"/>
          <a:srcRect/>
          <a:stretch/>
        </p:blipFill>
        <p:spPr>
          <a:xfrm>
            <a:off x="9428460" y="2108349"/>
            <a:ext cx="177800" cy="177800"/>
          </a:xfrm>
          <a:prstGeom prst="rect">
            <a:avLst/>
          </a:prstGeom>
        </p:spPr>
      </p:pic>
      <p:sp>
        <p:nvSpPr>
          <p:cNvPr id="10" name="Text 3"/>
          <p:cNvSpPr/>
          <p:nvPr/>
        </p:nvSpPr>
        <p:spPr>
          <a:xfrm>
            <a:off x="812800" y="2387749"/>
            <a:ext cx="2009211" cy="388590"/>
          </a:xfrm>
          <a:prstGeom prst="rect">
            <a:avLst/>
          </a:prstGeom>
          <a:noFill/>
          <a:ln/>
        </p:spPr>
        <p:txBody>
          <a:bodyPr wrap="square" lIns="0" tIns="0" rIns="0" bIns="0" rtlCol="0" anchor="t">
            <a:normAutofit/>
          </a:bodyPr>
          <a:lstStyle/>
          <a:p>
            <a:pPr marL="0" indent="0" algn="l">
              <a:lnSpc>
                <a:spcPts val="2860"/>
              </a:lnSpc>
              <a:buNone/>
            </a:pPr>
            <a:r>
              <a:rPr lang="en-US" sz="2600" b="1" dirty="0">
                <a:solidFill>
                  <a:srgbClr val="000084"/>
                </a:solidFill>
                <a:latin typeface="Oswald" pitchFamily="34" charset="0"/>
                <a:ea typeface="Oswald" pitchFamily="34" charset="-122"/>
                <a:cs typeface="Oswald" pitchFamily="34" charset="-120"/>
              </a:rPr>
              <a:t>16 Aug 1896</a:t>
            </a:r>
            <a:endParaRPr lang="en-US" sz="2600" dirty="0"/>
          </a:p>
        </p:txBody>
      </p:sp>
      <p:sp>
        <p:nvSpPr>
          <p:cNvPr id="11" name="Text 4"/>
          <p:cNvSpPr/>
          <p:nvPr/>
        </p:nvSpPr>
        <p:spPr>
          <a:xfrm>
            <a:off x="812800" y="2814439"/>
            <a:ext cx="2009211"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2A2FB0"/>
                </a:solidFill>
                <a:latin typeface="Public Sans" pitchFamily="34" charset="0"/>
                <a:ea typeface="Public Sans" pitchFamily="34" charset="-122"/>
                <a:cs typeface="Public Sans" pitchFamily="34" charset="-120"/>
              </a:rPr>
              <a:t>Gold!</a:t>
            </a:r>
            <a:endParaRPr lang="en-US" sz="1500" dirty="0"/>
          </a:p>
        </p:txBody>
      </p:sp>
      <p:sp>
        <p:nvSpPr>
          <p:cNvPr id="12" name="Text 5"/>
          <p:cNvSpPr/>
          <p:nvPr/>
        </p:nvSpPr>
        <p:spPr>
          <a:xfrm>
            <a:off x="812800" y="3106539"/>
            <a:ext cx="2009211" cy="130532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75569"/>
                </a:solidFill>
                <a:latin typeface="Public Sans" pitchFamily="34" charset="0"/>
                <a:ea typeface="Public Sans" pitchFamily="34" charset="-122"/>
                <a:cs typeface="Public Sans" pitchFamily="34" charset="-120"/>
              </a:rPr>
              <a:t>Skookum Jim Mason, Dawson Charlie and George and Kate Carmack find gold in Rabbit Creek, soon renamed Bonanza Creek.</a:t>
            </a:r>
            <a:endParaRPr lang="en-US" sz="1200" dirty="0"/>
          </a:p>
        </p:txBody>
      </p:sp>
      <p:sp>
        <p:nvSpPr>
          <p:cNvPr id="13" name="Text 6"/>
          <p:cNvSpPr/>
          <p:nvPr/>
        </p:nvSpPr>
        <p:spPr>
          <a:xfrm>
            <a:off x="2966690" y="2387749"/>
            <a:ext cx="2009262" cy="388590"/>
          </a:xfrm>
          <a:prstGeom prst="rect">
            <a:avLst/>
          </a:prstGeom>
          <a:noFill/>
          <a:ln/>
        </p:spPr>
        <p:txBody>
          <a:bodyPr wrap="square" lIns="0" tIns="0" rIns="0" bIns="0" rtlCol="0" anchor="t">
            <a:normAutofit/>
          </a:bodyPr>
          <a:lstStyle/>
          <a:p>
            <a:pPr marL="0" indent="0" algn="l">
              <a:lnSpc>
                <a:spcPts val="2860"/>
              </a:lnSpc>
              <a:buNone/>
            </a:pPr>
            <a:r>
              <a:rPr lang="en-US" sz="2600" b="1" dirty="0">
                <a:solidFill>
                  <a:srgbClr val="000084"/>
                </a:solidFill>
                <a:latin typeface="Oswald" pitchFamily="34" charset="0"/>
                <a:ea typeface="Oswald" pitchFamily="34" charset="-122"/>
                <a:cs typeface="Oswald" pitchFamily="34" charset="-120"/>
              </a:rPr>
              <a:t>July 1897</a:t>
            </a:r>
            <a:endParaRPr lang="en-US" sz="2600" dirty="0"/>
          </a:p>
        </p:txBody>
      </p:sp>
      <p:sp>
        <p:nvSpPr>
          <p:cNvPr id="14" name="Text 7"/>
          <p:cNvSpPr/>
          <p:nvPr/>
        </p:nvSpPr>
        <p:spPr>
          <a:xfrm>
            <a:off x="2966690" y="2814439"/>
            <a:ext cx="2009262"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2A2FB0"/>
                </a:solidFill>
                <a:latin typeface="Public Sans" pitchFamily="34" charset="0"/>
                <a:ea typeface="Public Sans" pitchFamily="34" charset="-122"/>
                <a:cs typeface="Public Sans" pitchFamily="34" charset="-120"/>
              </a:rPr>
              <a:t>The news spreads</a:t>
            </a:r>
            <a:endParaRPr lang="en-US" sz="1500" dirty="0"/>
          </a:p>
        </p:txBody>
      </p:sp>
      <p:sp>
        <p:nvSpPr>
          <p:cNvPr id="15" name="Text 8"/>
          <p:cNvSpPr/>
          <p:nvPr/>
        </p:nvSpPr>
        <p:spPr>
          <a:xfrm>
            <a:off x="2966690" y="3106539"/>
            <a:ext cx="2009262" cy="109200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75569"/>
                </a:solidFill>
                <a:latin typeface="Public Sans" pitchFamily="34" charset="0"/>
                <a:ea typeface="Public Sans" pitchFamily="34" charset="-122"/>
                <a:cs typeface="Public Sans" pitchFamily="34" charset="-120"/>
              </a:rPr>
              <a:t>Ships reach San Francisco and Seattle with miners carrying “a ton of gold”. Newspapers start the gold fever.</a:t>
            </a:r>
            <a:endParaRPr lang="en-US" sz="1200" dirty="0"/>
          </a:p>
        </p:txBody>
      </p:sp>
      <p:sp>
        <p:nvSpPr>
          <p:cNvPr id="16" name="Text 9"/>
          <p:cNvSpPr/>
          <p:nvPr/>
        </p:nvSpPr>
        <p:spPr>
          <a:xfrm>
            <a:off x="5120630" y="2387749"/>
            <a:ext cx="2009211" cy="388590"/>
          </a:xfrm>
          <a:prstGeom prst="rect">
            <a:avLst/>
          </a:prstGeom>
          <a:noFill/>
          <a:ln/>
        </p:spPr>
        <p:txBody>
          <a:bodyPr wrap="square" lIns="0" tIns="0" rIns="0" bIns="0" rtlCol="0" anchor="t">
            <a:normAutofit/>
          </a:bodyPr>
          <a:lstStyle/>
          <a:p>
            <a:pPr marL="0" indent="0" algn="l">
              <a:lnSpc>
                <a:spcPts val="2860"/>
              </a:lnSpc>
              <a:buNone/>
            </a:pPr>
            <a:r>
              <a:rPr lang="en-US" sz="2600" b="1" dirty="0">
                <a:solidFill>
                  <a:srgbClr val="000084"/>
                </a:solidFill>
                <a:latin typeface="Oswald" pitchFamily="34" charset="0"/>
                <a:ea typeface="Oswald" pitchFamily="34" charset="-122"/>
                <a:cs typeface="Oswald" pitchFamily="34" charset="-120"/>
              </a:rPr>
              <a:t>1897–1898</a:t>
            </a:r>
            <a:endParaRPr lang="en-US" sz="2600" dirty="0"/>
          </a:p>
        </p:txBody>
      </p:sp>
      <p:sp>
        <p:nvSpPr>
          <p:cNvPr id="17" name="Text 10"/>
          <p:cNvSpPr/>
          <p:nvPr/>
        </p:nvSpPr>
        <p:spPr>
          <a:xfrm>
            <a:off x="5120630" y="2814439"/>
            <a:ext cx="2009211"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2A2FB0"/>
                </a:solidFill>
                <a:latin typeface="Public Sans" pitchFamily="34" charset="0"/>
                <a:ea typeface="Public Sans" pitchFamily="34" charset="-122"/>
                <a:cs typeface="Public Sans" pitchFamily="34" charset="-120"/>
              </a:rPr>
              <a:t>The stampede</a:t>
            </a:r>
            <a:endParaRPr lang="en-US" sz="1500" dirty="0"/>
          </a:p>
        </p:txBody>
      </p:sp>
      <p:sp>
        <p:nvSpPr>
          <p:cNvPr id="18" name="Text 11"/>
          <p:cNvSpPr/>
          <p:nvPr/>
        </p:nvSpPr>
        <p:spPr>
          <a:xfrm>
            <a:off x="5120630" y="3106539"/>
            <a:ext cx="2009211" cy="109200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75569"/>
                </a:solidFill>
                <a:latin typeface="Public Sans" pitchFamily="34" charset="0"/>
                <a:ea typeface="Public Sans" pitchFamily="34" charset="-122"/>
                <a:cs typeface="Public Sans" pitchFamily="34" charset="-120"/>
              </a:rPr>
              <a:t>About 100,000 people set out. Most cross the Chilkoot or White Pass in winter and build boats at Lake Bennett.</a:t>
            </a:r>
            <a:endParaRPr lang="en-US" sz="1200" dirty="0"/>
          </a:p>
        </p:txBody>
      </p:sp>
      <p:sp>
        <p:nvSpPr>
          <p:cNvPr id="19" name="Text 12"/>
          <p:cNvSpPr/>
          <p:nvPr/>
        </p:nvSpPr>
        <p:spPr>
          <a:xfrm>
            <a:off x="7274520" y="2387749"/>
            <a:ext cx="2009262" cy="388590"/>
          </a:xfrm>
          <a:prstGeom prst="rect">
            <a:avLst/>
          </a:prstGeom>
          <a:noFill/>
          <a:ln/>
        </p:spPr>
        <p:txBody>
          <a:bodyPr wrap="square" lIns="0" tIns="0" rIns="0" bIns="0" rtlCol="0" anchor="t">
            <a:normAutofit/>
          </a:bodyPr>
          <a:lstStyle/>
          <a:p>
            <a:pPr marL="0" indent="0" algn="l">
              <a:lnSpc>
                <a:spcPts val="2860"/>
              </a:lnSpc>
              <a:buNone/>
            </a:pPr>
            <a:r>
              <a:rPr lang="en-US" sz="2600" b="1" dirty="0">
                <a:solidFill>
                  <a:srgbClr val="000084"/>
                </a:solidFill>
                <a:latin typeface="Oswald" pitchFamily="34" charset="0"/>
                <a:ea typeface="Oswald" pitchFamily="34" charset="-122"/>
                <a:cs typeface="Oswald" pitchFamily="34" charset="-120"/>
              </a:rPr>
              <a:t>Summer 1898</a:t>
            </a:r>
            <a:endParaRPr lang="en-US" sz="2600" dirty="0"/>
          </a:p>
        </p:txBody>
      </p:sp>
      <p:sp>
        <p:nvSpPr>
          <p:cNvPr id="20" name="Text 13"/>
          <p:cNvSpPr/>
          <p:nvPr/>
        </p:nvSpPr>
        <p:spPr>
          <a:xfrm>
            <a:off x="7274520" y="2814439"/>
            <a:ext cx="2009262"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2A2FB0"/>
                </a:solidFill>
                <a:latin typeface="Public Sans" pitchFamily="34" charset="0"/>
                <a:ea typeface="Public Sans" pitchFamily="34" charset="-122"/>
                <a:cs typeface="Public Sans" pitchFamily="34" charset="-120"/>
              </a:rPr>
              <a:t>Boomtown</a:t>
            </a:r>
            <a:endParaRPr lang="en-US" sz="1500" dirty="0"/>
          </a:p>
        </p:txBody>
      </p:sp>
      <p:sp>
        <p:nvSpPr>
          <p:cNvPr id="21" name="Text 14"/>
          <p:cNvSpPr/>
          <p:nvPr/>
        </p:nvSpPr>
        <p:spPr>
          <a:xfrm>
            <a:off x="7274520" y="3106539"/>
            <a:ext cx="2009262" cy="87868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75569"/>
                </a:solidFill>
                <a:latin typeface="Public Sans" pitchFamily="34" charset="0"/>
                <a:ea typeface="Public Sans" pitchFamily="34" charset="-122"/>
                <a:cs typeface="Public Sans" pitchFamily="34" charset="-120"/>
              </a:rPr>
              <a:t>30,000 people reach Dawson City. For one year it is the largest Canadian city west of Winnipeg.</a:t>
            </a:r>
            <a:endParaRPr lang="en-US" sz="1200" dirty="0"/>
          </a:p>
        </p:txBody>
      </p:sp>
      <p:sp>
        <p:nvSpPr>
          <p:cNvPr id="22" name="Text 15"/>
          <p:cNvSpPr/>
          <p:nvPr/>
        </p:nvSpPr>
        <p:spPr>
          <a:xfrm>
            <a:off x="9428460" y="2387749"/>
            <a:ext cx="2009262" cy="388590"/>
          </a:xfrm>
          <a:prstGeom prst="rect">
            <a:avLst/>
          </a:prstGeom>
          <a:noFill/>
          <a:ln/>
        </p:spPr>
        <p:txBody>
          <a:bodyPr wrap="square" lIns="0" tIns="0" rIns="0" bIns="0" rtlCol="0" anchor="t">
            <a:normAutofit/>
          </a:bodyPr>
          <a:lstStyle/>
          <a:p>
            <a:pPr marL="0" indent="0" algn="l">
              <a:lnSpc>
                <a:spcPts val="2860"/>
              </a:lnSpc>
              <a:buNone/>
            </a:pPr>
            <a:r>
              <a:rPr lang="en-US" sz="2600" b="1" dirty="0">
                <a:solidFill>
                  <a:srgbClr val="000084"/>
                </a:solidFill>
                <a:latin typeface="Oswald" pitchFamily="34" charset="0"/>
                <a:ea typeface="Oswald" pitchFamily="34" charset="-122"/>
                <a:cs typeface="Oswald" pitchFamily="34" charset="-120"/>
              </a:rPr>
              <a:t>1899</a:t>
            </a:r>
            <a:endParaRPr lang="en-US" sz="2600" dirty="0"/>
          </a:p>
        </p:txBody>
      </p:sp>
      <p:sp>
        <p:nvSpPr>
          <p:cNvPr id="23" name="Text 16"/>
          <p:cNvSpPr/>
          <p:nvPr/>
        </p:nvSpPr>
        <p:spPr>
          <a:xfrm>
            <a:off x="9428460" y="2814439"/>
            <a:ext cx="2009262"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2A2FB0"/>
                </a:solidFill>
                <a:latin typeface="Public Sans" pitchFamily="34" charset="0"/>
                <a:ea typeface="Public Sans" pitchFamily="34" charset="-122"/>
                <a:cs typeface="Public Sans" pitchFamily="34" charset="-120"/>
              </a:rPr>
              <a:t>The end</a:t>
            </a:r>
            <a:endParaRPr lang="en-US" sz="1500" dirty="0"/>
          </a:p>
        </p:txBody>
      </p:sp>
      <p:sp>
        <p:nvSpPr>
          <p:cNvPr id="24" name="Text 17"/>
          <p:cNvSpPr/>
          <p:nvPr/>
        </p:nvSpPr>
        <p:spPr>
          <a:xfrm>
            <a:off x="9428460" y="3106539"/>
            <a:ext cx="2009262" cy="87868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75569"/>
                </a:solidFill>
                <a:latin typeface="Public Sans" pitchFamily="34" charset="0"/>
                <a:ea typeface="Public Sans" pitchFamily="34" charset="-122"/>
                <a:cs typeface="Public Sans" pitchFamily="34" charset="-120"/>
              </a:rPr>
              <a:t>Gold is found in Nome, Alaska. Thousands leave Dawson, and the Klondike Gold Rush is over.</a:t>
            </a:r>
            <a:endParaRPr lang="en-US" sz="1200" dirty="0"/>
          </a:p>
        </p:txBody>
      </p:sp>
      <p:sp>
        <p:nvSpPr>
          <p:cNvPr id="25" name="Shape 18"/>
          <p:cNvSpPr/>
          <p:nvPr/>
        </p:nvSpPr>
        <p:spPr>
          <a:xfrm>
            <a:off x="812800" y="4988620"/>
            <a:ext cx="10566400" cy="853380"/>
          </a:xfrm>
          <a:prstGeom prst="roundRect">
            <a:avLst>
              <a:gd name="adj" fmla="val 11906"/>
            </a:avLst>
          </a:prstGeom>
          <a:solidFill>
            <a:srgbClr val="000084"/>
          </a:solidFill>
          <a:ln/>
        </p:spPr>
        <p:txBody>
          <a:bodyPr/>
          <a:lstStyle/>
          <a:p>
            <a:endParaRPr lang="tr-TR"/>
          </a:p>
        </p:txBody>
      </p:sp>
      <p:pic>
        <p:nvPicPr>
          <p:cNvPr id="26" name="Image 5" descr="Star"/>
          <p:cNvPicPr>
            <a:picLocks noChangeAspect="1"/>
          </p:cNvPicPr>
          <p:nvPr/>
        </p:nvPicPr>
        <p:blipFill>
          <a:blip r:embed="rId4"/>
          <a:srcRect t="-734" b="-734"/>
          <a:stretch/>
        </p:blipFill>
        <p:spPr>
          <a:xfrm>
            <a:off x="1066800" y="5275610"/>
            <a:ext cx="168970" cy="279400"/>
          </a:xfrm>
          <a:prstGeom prst="rect">
            <a:avLst/>
          </a:prstGeom>
        </p:spPr>
      </p:pic>
      <p:sp>
        <p:nvSpPr>
          <p:cNvPr id="27" name="Text 19"/>
          <p:cNvSpPr/>
          <p:nvPr/>
        </p:nvSpPr>
        <p:spPr>
          <a:xfrm>
            <a:off x="1413570" y="5166420"/>
            <a:ext cx="10002979" cy="52318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4F7FB"/>
                </a:solidFill>
                <a:latin typeface="Public Sans" pitchFamily="34" charset="0"/>
                <a:ea typeface="Public Sans" pitchFamily="34" charset="-122"/>
                <a:cs typeface="Public Sans" pitchFamily="34" charset="-120"/>
              </a:rPr>
              <a:t>Discovery Day:</a:t>
            </a:r>
            <a:r>
              <a:rPr lang="en-US" sz="1400" dirty="0">
                <a:solidFill>
                  <a:srgbClr val="F4F7FB"/>
                </a:solidFill>
                <a:latin typeface="Public Sans" pitchFamily="34" charset="0"/>
                <a:ea typeface="Public Sans" pitchFamily="34" charset="-122"/>
                <a:cs typeface="Public Sans" pitchFamily="34" charset="-120"/>
              </a:rPr>
              <a:t> Yukon still celebrates the 1896 discovery every year on the third Monday of August. Our trip ends on Discovery Day, </a:t>
            </a:r>
            <a:r>
              <a:rPr lang="en-US" sz="1400" b="1" dirty="0">
                <a:solidFill>
                  <a:srgbClr val="F4F7FB"/>
                </a:solidFill>
                <a:latin typeface="Public Sans" pitchFamily="34" charset="0"/>
                <a:ea typeface="Public Sans" pitchFamily="34" charset="-122"/>
                <a:cs typeface="Public Sans" pitchFamily="34" charset="-120"/>
              </a:rPr>
              <a:t>16 August 2027</a:t>
            </a:r>
            <a:r>
              <a:rPr lang="en-US" sz="1400" dirty="0">
                <a:solidFill>
                  <a:srgbClr val="F4F7FB"/>
                </a:solidFill>
                <a:latin typeface="Public Sans" pitchFamily="34" charset="0"/>
                <a:ea typeface="Public Sans" pitchFamily="34" charset="-122"/>
                <a:cs typeface="Public Sans" pitchFamily="34" charset="-120"/>
              </a:rPr>
              <a:t>, exactly 131 years after the first gold was found.</a:t>
            </a:r>
            <a:endParaRPr lang="en-US" sz="1400" dirty="0"/>
          </a:p>
        </p:txBody>
      </p:sp>
      <p:sp>
        <p:nvSpPr>
          <p:cNvPr id="28" name="Text 20"/>
          <p:cNvSpPr/>
          <p:nvPr/>
        </p:nvSpPr>
        <p:spPr>
          <a:xfrm>
            <a:off x="812800" y="6238280"/>
            <a:ext cx="470701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B7A"/>
                </a:solidFill>
                <a:latin typeface="Public Sans" pitchFamily="34" charset="0"/>
                <a:ea typeface="Public Sans" pitchFamily="34" charset="-122"/>
                <a:cs typeface="Public Sans" pitchFamily="34" charset="-120"/>
              </a:rPr>
              <a:t>The Klondike Gold Rush · Pertevniyal High School 159/E</a:t>
            </a:r>
            <a:endParaRPr lang="en-US" sz="1200" dirty="0"/>
          </a:p>
        </p:txBody>
      </p:sp>
      <p:sp>
        <p:nvSpPr>
          <p:cNvPr id="29" name="Text 21"/>
          <p:cNvSpPr/>
          <p:nvPr/>
        </p:nvSpPr>
        <p:spPr>
          <a:xfrm>
            <a:off x="10820400" y="6238280"/>
            <a:ext cx="558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F6B7A"/>
                </a:solidFill>
                <a:latin typeface="Public Sans" pitchFamily="34" charset="0"/>
                <a:ea typeface="Public Sans" pitchFamily="34" charset="-122"/>
                <a:cs typeface="Public Sans"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00084"/>
        </a:solidFill>
        <a:effectLst/>
      </p:bgPr>
    </p:bg>
    <p:spTree>
      <p:nvGrpSpPr>
        <p:cNvPr id="1" name=""/>
        <p:cNvGrpSpPr/>
        <p:nvPr/>
      </p:nvGrpSpPr>
      <p:grpSpPr>
        <a:xfrm>
          <a:off x="0" y="0"/>
          <a:ext cx="0" cy="0"/>
          <a:chOff x="0" y="0"/>
          <a:chExt cx="0" cy="0"/>
        </a:xfrm>
      </p:grpSpPr>
      <p:pic>
        <p:nvPicPr>
          <p:cNvPr id="2" name="Image 0" descr="A crowd of men in winter coats and hats queue outside the brick Custom House in Victoria, British Columbia, in February 1898"/>
          <p:cNvPicPr>
            <a:picLocks noChangeAspect="1"/>
          </p:cNvPicPr>
          <p:nvPr/>
        </p:nvPicPr>
        <p:blipFill>
          <a:blip r:embed="rId3"/>
          <a:srcRect t="11473" b="11473"/>
          <a:stretch/>
        </p:blipFill>
        <p:spPr>
          <a:xfrm>
            <a:off x="0" y="0"/>
            <a:ext cx="12192000" cy="6858000"/>
          </a:xfrm>
          <a:prstGeom prst="rect">
            <a:avLst/>
          </a:prstGeom>
        </p:spPr>
      </p:pic>
      <p:sp>
        <p:nvSpPr>
          <p:cNvPr id="3" name="Shape 0"/>
          <p:cNvSpPr/>
          <p:nvPr/>
        </p:nvSpPr>
        <p:spPr>
          <a:xfrm>
            <a:off x="0" y="4064000"/>
            <a:ext cx="12192000" cy="2794000"/>
          </a:xfrm>
          <a:prstGeom prst="rect">
            <a:avLst/>
          </a:prstGeom>
          <a:gradFill rotWithShape="1">
            <a:gsLst>
              <a:gs pos="0">
                <a:srgbClr val="00003C">
                  <a:alpha val="0"/>
                </a:srgbClr>
              </a:gs>
              <a:gs pos="100000">
                <a:srgbClr val="00003C">
                  <a:alpha val="90000"/>
                </a:srgbClr>
              </a:gs>
            </a:gsLst>
            <a:lin ang="5400000" scaled="0"/>
          </a:gradFill>
          <a:ln/>
        </p:spPr>
        <p:txBody>
          <a:bodyPr/>
          <a:lstStyle/>
          <a:p>
            <a:endParaRPr lang="tr-TR"/>
          </a:p>
        </p:txBody>
      </p:sp>
      <p:sp>
        <p:nvSpPr>
          <p:cNvPr id="4" name="Text 1"/>
          <p:cNvSpPr/>
          <p:nvPr/>
        </p:nvSpPr>
        <p:spPr>
          <a:xfrm>
            <a:off x="812800" y="4965799"/>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E2B050"/>
                </a:solidFill>
                <a:latin typeface="Public Sans" pitchFamily="34" charset="0"/>
                <a:ea typeface="Public Sans" pitchFamily="34" charset="-122"/>
                <a:cs typeface="Public Sans" pitchFamily="34" charset="-120"/>
              </a:rPr>
              <a:t>THE STAMPEDE · FEBRUARY 1898</a:t>
            </a:r>
            <a:endParaRPr lang="en-US" sz="1200" dirty="0"/>
          </a:p>
        </p:txBody>
      </p:sp>
      <p:sp>
        <p:nvSpPr>
          <p:cNvPr id="5" name="Text 2"/>
          <p:cNvSpPr>
            <a:spLocks noGrp="1"/>
          </p:cNvSpPr>
          <p:nvPr>
            <p:ph type="title"/>
          </p:nvPr>
        </p:nvSpPr>
        <p:spPr>
          <a:xfrm>
            <a:off x="812800" y="5268020"/>
            <a:ext cx="10883392" cy="505420"/>
          </a:xfrm>
          <a:prstGeom prst="rect">
            <a:avLst/>
          </a:prstGeom>
          <a:noFill/>
          <a:ln/>
        </p:spPr>
        <p:txBody>
          <a:bodyPr wrap="square" lIns="0" tIns="0" rIns="0" bIns="0" rtlCol="0" anchor="t">
            <a:normAutofit/>
          </a:bodyPr>
          <a:lstStyle/>
          <a:p>
            <a:pPr marL="0" indent="0" algn="l">
              <a:lnSpc>
                <a:spcPts val="3780"/>
              </a:lnSpc>
              <a:buNone/>
            </a:pPr>
            <a:r>
              <a:rPr lang="en-US" sz="3600" b="0" i="0" dirty="0">
                <a:solidFill>
                  <a:srgbClr val="F4F7FB"/>
                </a:solidFill>
                <a:latin typeface="Oswald" pitchFamily="34" charset="0"/>
                <a:ea typeface="Oswald" pitchFamily="34" charset="-122"/>
                <a:cs typeface="Oswald" pitchFamily="34" charset="-120"/>
              </a:rPr>
              <a:t>Gold Fever: Waiting in Line for a Miner’s Licence</a:t>
            </a:r>
            <a:endParaRPr lang="en-US" sz="3600" dirty="0"/>
          </a:p>
        </p:txBody>
      </p:sp>
      <p:sp>
        <p:nvSpPr>
          <p:cNvPr id="6" name="Text 3"/>
          <p:cNvSpPr/>
          <p:nvPr/>
        </p:nvSpPr>
        <p:spPr>
          <a:xfrm>
            <a:off x="812800" y="5836940"/>
            <a:ext cx="9156700" cy="4876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C7D4E8"/>
                </a:solidFill>
                <a:latin typeface="Public Sans" pitchFamily="34" charset="0"/>
                <a:ea typeface="Public Sans" pitchFamily="34" charset="-122"/>
                <a:cs typeface="Public Sans" pitchFamily="34" charset="-120"/>
              </a:rPr>
              <a:t>Klondikers buying miner’s licences at the Custom House in Victoria, British Columbia, on 12 February 1898. Photo: Jones, Victoria B.C. (public domain)</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4FA"/>
        </a:solidFill>
        <a:effectLst/>
      </p:bgPr>
    </p:bg>
    <p:spTree>
      <p:nvGrpSpPr>
        <p:cNvPr id="1" name=""/>
        <p:cNvGrpSpPr/>
        <p:nvPr/>
      </p:nvGrpSpPr>
      <p:grpSpPr>
        <a:xfrm>
          <a:off x="0" y="0"/>
          <a:ext cx="0" cy="0"/>
          <a:chOff x="0" y="0"/>
          <a:chExt cx="0" cy="0"/>
        </a:xfrm>
      </p:grpSpPr>
      <p:pic>
        <p:nvPicPr>
          <p:cNvPr id="2" name="Image 0" descr="Map of the stampeders’ route from Seattle by ship to Skagway, over the Chilkoot Pass to Lake Bennett, and down the Yukon River to Dawson City"/>
          <p:cNvPicPr>
            <a:picLocks noChangeAspect="1"/>
          </p:cNvPicPr>
          <p:nvPr/>
        </p:nvPicPr>
        <p:blipFill>
          <a:blip r:embed="rId3"/>
          <a:srcRect t="-22" b="-22"/>
          <a:stretch/>
        </p:blipFill>
        <p:spPr>
          <a:xfrm>
            <a:off x="819150" y="819150"/>
            <a:ext cx="4432300" cy="5219700"/>
          </a:xfrm>
          <a:prstGeom prst="roundRect">
            <a:avLst>
              <a:gd name="adj" fmla="val 2149"/>
            </a:avLst>
          </a:prstGeom>
        </p:spPr>
      </p:pic>
      <p:sp>
        <p:nvSpPr>
          <p:cNvPr id="3" name="Shape 0"/>
          <p:cNvSpPr/>
          <p:nvPr/>
        </p:nvSpPr>
        <p:spPr>
          <a:xfrm>
            <a:off x="815975" y="815975"/>
            <a:ext cx="4438650" cy="5226050"/>
          </a:xfrm>
          <a:prstGeom prst="roundRect">
            <a:avLst>
              <a:gd name="adj" fmla="val 2217"/>
            </a:avLst>
          </a:prstGeom>
          <a:noFill/>
          <a:ln w="6350">
            <a:solidFill>
              <a:srgbClr val="D9DBEE"/>
            </a:solidFill>
            <a:prstDash val="solid"/>
          </a:ln>
        </p:spPr>
        <p:txBody>
          <a:bodyPr/>
          <a:lstStyle/>
          <a:p>
            <a:endParaRPr lang="tr-TR"/>
          </a:p>
        </p:txBody>
      </p:sp>
      <p:sp>
        <p:nvSpPr>
          <p:cNvPr id="4" name="Text 1"/>
          <p:cNvSpPr/>
          <p:nvPr/>
        </p:nvSpPr>
        <p:spPr>
          <a:xfrm>
            <a:off x="5664200" y="812800"/>
            <a:ext cx="5886450" cy="204788"/>
          </a:xfrm>
          <a:prstGeom prst="rect">
            <a:avLst/>
          </a:prstGeom>
          <a:noFill/>
          <a:ln/>
        </p:spPr>
        <p:txBody>
          <a:bodyPr wrap="square" lIns="0" tIns="0" rIns="0" bIns="0" rtlCol="0" anchor="t">
            <a:normAutofit/>
          </a:bodyPr>
          <a:lstStyle/>
          <a:p>
            <a:pPr marL="0" indent="0" algn="l">
              <a:lnSpc>
                <a:spcPts val="1423"/>
              </a:lnSpc>
              <a:buNone/>
            </a:pPr>
            <a:r>
              <a:rPr lang="en-US" sz="1016" b="1" kern="0" spc="150" dirty="0">
                <a:solidFill>
                  <a:srgbClr val="2A2FB0"/>
                </a:solidFill>
                <a:latin typeface="Public Sans" pitchFamily="34" charset="0"/>
                <a:ea typeface="Public Sans" pitchFamily="34" charset="-122"/>
                <a:cs typeface="Public Sans" pitchFamily="34" charset="-120"/>
              </a:rPr>
              <a:t>THE GOLD RUSH · THE JOURNEY</a:t>
            </a:r>
            <a:endParaRPr lang="en-US" sz="1016" dirty="0"/>
          </a:p>
        </p:txBody>
      </p:sp>
      <p:sp>
        <p:nvSpPr>
          <p:cNvPr id="5" name="Text 2"/>
          <p:cNvSpPr>
            <a:spLocks noGrp="1"/>
          </p:cNvSpPr>
          <p:nvPr>
            <p:ph type="title"/>
          </p:nvPr>
        </p:nvSpPr>
        <p:spPr>
          <a:xfrm>
            <a:off x="5664200" y="1068388"/>
            <a:ext cx="5886450" cy="832594"/>
          </a:xfrm>
          <a:prstGeom prst="rect">
            <a:avLst/>
          </a:prstGeom>
          <a:noFill/>
          <a:ln/>
        </p:spPr>
        <p:txBody>
          <a:bodyPr wrap="square" lIns="0" tIns="0" rIns="0" bIns="0" rtlCol="0" anchor="t">
            <a:normAutofit/>
          </a:bodyPr>
          <a:lstStyle/>
          <a:p>
            <a:pPr marL="0" indent="0" algn="l">
              <a:lnSpc>
                <a:spcPts val="3178"/>
              </a:lnSpc>
              <a:buNone/>
            </a:pPr>
            <a:r>
              <a:rPr lang="en-US" sz="3026" b="0" i="0" dirty="0">
                <a:solidFill>
                  <a:srgbClr val="000084"/>
                </a:solidFill>
                <a:latin typeface="Oswald" pitchFamily="34" charset="0"/>
                <a:ea typeface="Oswald" pitchFamily="34" charset="-122"/>
                <a:cs typeface="Oswald" pitchFamily="34" charset="-120"/>
              </a:rPr>
              <a:t>The Stampeders’ Route to the Klondike</a:t>
            </a:r>
            <a:endParaRPr lang="en-US" sz="3026" dirty="0"/>
          </a:p>
        </p:txBody>
      </p:sp>
      <p:sp>
        <p:nvSpPr>
          <p:cNvPr id="6" name="Shape 3"/>
          <p:cNvSpPr/>
          <p:nvPr/>
        </p:nvSpPr>
        <p:spPr>
          <a:xfrm>
            <a:off x="5667375" y="2081957"/>
            <a:ext cx="5708650" cy="931168"/>
          </a:xfrm>
          <a:prstGeom prst="roundRect">
            <a:avLst>
              <a:gd name="adj" fmla="val 10570"/>
            </a:avLst>
          </a:prstGeom>
          <a:solidFill>
            <a:srgbClr val="FBFCFE"/>
          </a:solidFill>
          <a:ln w="6350">
            <a:solidFill>
              <a:srgbClr val="D9DBEE"/>
            </a:solidFill>
            <a:prstDash val="solid"/>
          </a:ln>
        </p:spPr>
        <p:txBody>
          <a:bodyPr/>
          <a:lstStyle/>
          <a:p>
            <a:endParaRPr lang="tr-TR"/>
          </a:p>
        </p:txBody>
      </p:sp>
      <p:sp>
        <p:nvSpPr>
          <p:cNvPr id="7" name="Text 4"/>
          <p:cNvSpPr/>
          <p:nvPr/>
        </p:nvSpPr>
        <p:spPr>
          <a:xfrm>
            <a:off x="5848350" y="2344341"/>
            <a:ext cx="406400" cy="406400"/>
          </a:xfrm>
          <a:custGeom>
            <a:avLst/>
            <a:gdLst/>
            <a:ahLst/>
            <a:cxnLst/>
            <a:rect l="l" t="t" r="r" b="b"/>
            <a:pathLst>
              <a:path w="406400" h="406400">
                <a:moveTo>
                  <a:pt x="203200" y="0"/>
                </a:moveTo>
                <a:lnTo>
                  <a:pt x="203200" y="0"/>
                </a:lnTo>
                <a:arcTo wR="203200" hR="203200" stAng="16200000" swAng="5400000"/>
                <a:lnTo>
                  <a:pt x="406400" y="203200"/>
                </a:lnTo>
                <a:arcTo wR="203200" hR="203200" stAng="0" swAng="5400000"/>
                <a:lnTo>
                  <a:pt x="203200" y="406400"/>
                </a:lnTo>
                <a:arcTo wR="203200" hR="203200" stAng="5400000" swAng="5400000"/>
                <a:lnTo>
                  <a:pt x="0" y="203200"/>
                </a:lnTo>
                <a:arcTo wR="203200" hR="203200" stAng="10800000" swAng="5400000"/>
                <a:close/>
              </a:path>
            </a:pathLst>
          </a:custGeom>
          <a:solidFill>
            <a:srgbClr val="2F6F7E"/>
          </a:solidFill>
          <a:ln/>
        </p:spPr>
        <p:txBody>
          <a:bodyPr wrap="square" lIns="0" tIns="0" rIns="0" bIns="0" rtlCol="0" anchor="t">
            <a:normAutofit/>
          </a:bodyPr>
          <a:lstStyle/>
          <a:p>
            <a:pPr marL="0" indent="0" algn="ctr">
              <a:lnSpc>
                <a:spcPts val="3196"/>
              </a:lnSpc>
              <a:buNone/>
            </a:pPr>
            <a:r>
              <a:rPr lang="en-US" sz="1700" b="1" dirty="0">
                <a:solidFill>
                  <a:srgbClr val="F4F7FB"/>
                </a:solidFill>
                <a:latin typeface="Oswald" pitchFamily="34" charset="0"/>
                <a:ea typeface="Oswald" pitchFamily="34" charset="-122"/>
                <a:cs typeface="Oswald" pitchFamily="34" charset="-120"/>
              </a:rPr>
              <a:t>1</a:t>
            </a:r>
            <a:endParaRPr lang="en-US" sz="1700" dirty="0"/>
          </a:p>
        </p:txBody>
      </p:sp>
      <p:sp>
        <p:nvSpPr>
          <p:cNvPr id="8" name="Text 5"/>
          <p:cNvSpPr/>
          <p:nvPr/>
        </p:nvSpPr>
        <p:spPr>
          <a:xfrm>
            <a:off x="6407150" y="2183061"/>
            <a:ext cx="4931537"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00084"/>
                </a:solidFill>
                <a:latin typeface="Public Sans" pitchFamily="34" charset="0"/>
                <a:ea typeface="Public Sans" pitchFamily="34" charset="-122"/>
                <a:cs typeface="Public Sans" pitchFamily="34" charset="-120"/>
              </a:rPr>
              <a:t>By ship: Seattle to Skagway</a:t>
            </a:r>
            <a:endParaRPr lang="en-US" sz="1500" dirty="0"/>
          </a:p>
        </p:txBody>
      </p:sp>
      <p:sp>
        <p:nvSpPr>
          <p:cNvPr id="9" name="Text 6"/>
          <p:cNvSpPr/>
          <p:nvPr/>
        </p:nvSpPr>
        <p:spPr>
          <a:xfrm>
            <a:off x="6407150" y="2449761"/>
            <a:ext cx="4931537" cy="4876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75569"/>
                </a:solidFill>
                <a:latin typeface="Public Sans" pitchFamily="34" charset="0"/>
                <a:ea typeface="Public Sans" pitchFamily="34" charset="-122"/>
                <a:cs typeface="Public Sans" pitchFamily="34" charset="-120"/>
              </a:rPr>
              <a:t>About 1,600 km north along the Inside Passage on crowded steamships, 7 to 10 days.</a:t>
            </a:r>
            <a:endParaRPr lang="en-US" sz="1300" dirty="0"/>
          </a:p>
        </p:txBody>
      </p:sp>
      <p:sp>
        <p:nvSpPr>
          <p:cNvPr id="10" name="Shape 7"/>
          <p:cNvSpPr/>
          <p:nvPr/>
        </p:nvSpPr>
        <p:spPr>
          <a:xfrm>
            <a:off x="5667375" y="3222675"/>
            <a:ext cx="5708650" cy="931168"/>
          </a:xfrm>
          <a:prstGeom prst="roundRect">
            <a:avLst>
              <a:gd name="adj" fmla="val 10570"/>
            </a:avLst>
          </a:prstGeom>
          <a:solidFill>
            <a:srgbClr val="FBFCFE"/>
          </a:solidFill>
          <a:ln w="6350">
            <a:solidFill>
              <a:srgbClr val="D9DBEE"/>
            </a:solidFill>
            <a:prstDash val="solid"/>
          </a:ln>
        </p:spPr>
        <p:txBody>
          <a:bodyPr/>
          <a:lstStyle/>
          <a:p>
            <a:endParaRPr lang="tr-TR"/>
          </a:p>
        </p:txBody>
      </p:sp>
      <p:sp>
        <p:nvSpPr>
          <p:cNvPr id="11" name="Text 8"/>
          <p:cNvSpPr/>
          <p:nvPr/>
        </p:nvSpPr>
        <p:spPr>
          <a:xfrm>
            <a:off x="5848350" y="3485059"/>
            <a:ext cx="406400" cy="406400"/>
          </a:xfrm>
          <a:custGeom>
            <a:avLst/>
            <a:gdLst/>
            <a:ahLst/>
            <a:cxnLst/>
            <a:rect l="l" t="t" r="r" b="b"/>
            <a:pathLst>
              <a:path w="406400" h="406400">
                <a:moveTo>
                  <a:pt x="203200" y="0"/>
                </a:moveTo>
                <a:lnTo>
                  <a:pt x="203200" y="0"/>
                </a:lnTo>
                <a:arcTo wR="203200" hR="203200" stAng="16200000" swAng="5400000"/>
                <a:lnTo>
                  <a:pt x="406400" y="203200"/>
                </a:lnTo>
                <a:arcTo wR="203200" hR="203200" stAng="0" swAng="5400000"/>
                <a:lnTo>
                  <a:pt x="203200" y="406400"/>
                </a:lnTo>
                <a:arcTo wR="203200" hR="203200" stAng="5400000" swAng="5400000"/>
                <a:lnTo>
                  <a:pt x="0" y="203200"/>
                </a:lnTo>
                <a:arcTo wR="203200" hR="203200" stAng="10800000" swAng="5400000"/>
                <a:close/>
              </a:path>
            </a:pathLst>
          </a:custGeom>
          <a:solidFill>
            <a:srgbClr val="B23A2E"/>
          </a:solidFill>
          <a:ln/>
        </p:spPr>
        <p:txBody>
          <a:bodyPr wrap="square" lIns="0" tIns="0" rIns="0" bIns="0" rtlCol="0" anchor="t">
            <a:normAutofit/>
          </a:bodyPr>
          <a:lstStyle/>
          <a:p>
            <a:pPr marL="0" indent="0" algn="ctr">
              <a:lnSpc>
                <a:spcPts val="3196"/>
              </a:lnSpc>
              <a:buNone/>
            </a:pPr>
            <a:r>
              <a:rPr lang="en-US" sz="1700" b="1" dirty="0">
                <a:solidFill>
                  <a:srgbClr val="F4F7FB"/>
                </a:solidFill>
                <a:latin typeface="Oswald" pitchFamily="34" charset="0"/>
                <a:ea typeface="Oswald" pitchFamily="34" charset="-122"/>
                <a:cs typeface="Oswald" pitchFamily="34" charset="-120"/>
              </a:rPr>
              <a:t>2</a:t>
            </a:r>
            <a:endParaRPr lang="en-US" sz="1700" dirty="0"/>
          </a:p>
        </p:txBody>
      </p:sp>
      <p:sp>
        <p:nvSpPr>
          <p:cNvPr id="12" name="Text 9"/>
          <p:cNvSpPr/>
          <p:nvPr/>
        </p:nvSpPr>
        <p:spPr>
          <a:xfrm>
            <a:off x="6407150" y="3323779"/>
            <a:ext cx="4931537"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00084"/>
                </a:solidFill>
                <a:latin typeface="Public Sans" pitchFamily="34" charset="0"/>
                <a:ea typeface="Public Sans" pitchFamily="34" charset="-122"/>
                <a:cs typeface="Public Sans" pitchFamily="34" charset="-120"/>
              </a:rPr>
              <a:t>On foot: the Chilkoot Trail</a:t>
            </a:r>
            <a:endParaRPr lang="en-US" sz="1500" dirty="0"/>
          </a:p>
        </p:txBody>
      </p:sp>
      <p:sp>
        <p:nvSpPr>
          <p:cNvPr id="13" name="Text 10"/>
          <p:cNvSpPr/>
          <p:nvPr/>
        </p:nvSpPr>
        <p:spPr>
          <a:xfrm>
            <a:off x="6407150" y="3590479"/>
            <a:ext cx="4931537" cy="4876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75569"/>
                </a:solidFill>
                <a:latin typeface="Public Sans" pitchFamily="34" charset="0"/>
                <a:ea typeface="Public Sans" pitchFamily="34" charset="-122"/>
                <a:cs typeface="Public Sans" pitchFamily="34" charset="-120"/>
              </a:rPr>
              <a:t>53 km from Dyea to Lake Bennett over the 1,067 m pass. The last climb, the “Golden Stairs”, was 1,500 steps cut into the ice.</a:t>
            </a:r>
            <a:endParaRPr lang="en-US" sz="1300" dirty="0"/>
          </a:p>
        </p:txBody>
      </p:sp>
      <p:sp>
        <p:nvSpPr>
          <p:cNvPr id="14" name="Shape 11"/>
          <p:cNvSpPr/>
          <p:nvPr/>
        </p:nvSpPr>
        <p:spPr>
          <a:xfrm>
            <a:off x="5667375" y="4363393"/>
            <a:ext cx="5708650" cy="931168"/>
          </a:xfrm>
          <a:prstGeom prst="roundRect">
            <a:avLst>
              <a:gd name="adj" fmla="val 10570"/>
            </a:avLst>
          </a:prstGeom>
          <a:solidFill>
            <a:srgbClr val="FBFCFE"/>
          </a:solidFill>
          <a:ln w="6350">
            <a:solidFill>
              <a:srgbClr val="D9DBEE"/>
            </a:solidFill>
            <a:prstDash val="solid"/>
          </a:ln>
        </p:spPr>
        <p:txBody>
          <a:bodyPr/>
          <a:lstStyle/>
          <a:p>
            <a:endParaRPr lang="tr-TR"/>
          </a:p>
        </p:txBody>
      </p:sp>
      <p:sp>
        <p:nvSpPr>
          <p:cNvPr id="15" name="Text 12"/>
          <p:cNvSpPr/>
          <p:nvPr/>
        </p:nvSpPr>
        <p:spPr>
          <a:xfrm>
            <a:off x="5848350" y="4625777"/>
            <a:ext cx="406400" cy="406400"/>
          </a:xfrm>
          <a:custGeom>
            <a:avLst/>
            <a:gdLst/>
            <a:ahLst/>
            <a:cxnLst/>
            <a:rect l="l" t="t" r="r" b="b"/>
            <a:pathLst>
              <a:path w="406400" h="406400">
                <a:moveTo>
                  <a:pt x="203200" y="0"/>
                </a:moveTo>
                <a:lnTo>
                  <a:pt x="203200" y="0"/>
                </a:lnTo>
                <a:arcTo wR="203200" hR="203200" stAng="16200000" swAng="5400000"/>
                <a:lnTo>
                  <a:pt x="406400" y="203200"/>
                </a:lnTo>
                <a:arcTo wR="203200" hR="203200" stAng="0" swAng="5400000"/>
                <a:lnTo>
                  <a:pt x="203200" y="406400"/>
                </a:lnTo>
                <a:arcTo wR="203200" hR="203200" stAng="5400000" swAng="5400000"/>
                <a:lnTo>
                  <a:pt x="0" y="203200"/>
                </a:lnTo>
                <a:arcTo wR="203200" hR="203200" stAng="10800000" swAng="5400000"/>
                <a:close/>
              </a:path>
            </a:pathLst>
          </a:custGeom>
          <a:solidFill>
            <a:srgbClr val="7F5D18"/>
          </a:solidFill>
          <a:ln/>
        </p:spPr>
        <p:txBody>
          <a:bodyPr wrap="square" lIns="0" tIns="0" rIns="0" bIns="0" rtlCol="0" anchor="t">
            <a:normAutofit/>
          </a:bodyPr>
          <a:lstStyle/>
          <a:p>
            <a:pPr marL="0" indent="0" algn="ctr">
              <a:lnSpc>
                <a:spcPts val="3196"/>
              </a:lnSpc>
              <a:buNone/>
            </a:pPr>
            <a:r>
              <a:rPr lang="en-US" sz="1700" b="1" dirty="0">
                <a:solidFill>
                  <a:srgbClr val="F4F7FB"/>
                </a:solidFill>
                <a:latin typeface="Oswald" pitchFamily="34" charset="0"/>
                <a:ea typeface="Oswald" pitchFamily="34" charset="-122"/>
                <a:cs typeface="Oswald" pitchFamily="34" charset="-120"/>
              </a:rPr>
              <a:t>3</a:t>
            </a:r>
            <a:endParaRPr lang="en-US" sz="1700" dirty="0"/>
          </a:p>
        </p:txBody>
      </p:sp>
      <p:sp>
        <p:nvSpPr>
          <p:cNvPr id="16" name="Text 13"/>
          <p:cNvSpPr/>
          <p:nvPr/>
        </p:nvSpPr>
        <p:spPr>
          <a:xfrm>
            <a:off x="6407150" y="4464496"/>
            <a:ext cx="4931537"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00084"/>
                </a:solidFill>
                <a:latin typeface="Public Sans" pitchFamily="34" charset="0"/>
                <a:ea typeface="Public Sans" pitchFamily="34" charset="-122"/>
                <a:cs typeface="Public Sans" pitchFamily="34" charset="-120"/>
              </a:rPr>
              <a:t>By boat: 800 km down the Yukon River</a:t>
            </a:r>
            <a:endParaRPr lang="en-US" sz="1500" dirty="0"/>
          </a:p>
        </p:txBody>
      </p:sp>
      <p:sp>
        <p:nvSpPr>
          <p:cNvPr id="17" name="Text 14"/>
          <p:cNvSpPr/>
          <p:nvPr/>
        </p:nvSpPr>
        <p:spPr>
          <a:xfrm>
            <a:off x="6407150" y="4731196"/>
            <a:ext cx="4931537" cy="4876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75569"/>
                </a:solidFill>
                <a:latin typeface="Public Sans" pitchFamily="34" charset="0"/>
                <a:ea typeface="Public Sans" pitchFamily="34" charset="-122"/>
                <a:cs typeface="Public Sans" pitchFamily="34" charset="-120"/>
              </a:rPr>
              <a:t>Stampeders built 7,000 boats at Lake Bennett and left together when the ice broke on 29 May 1898.</a:t>
            </a:r>
            <a:endParaRPr lang="en-US" sz="1300" dirty="0"/>
          </a:p>
        </p:txBody>
      </p:sp>
      <p:sp>
        <p:nvSpPr>
          <p:cNvPr id="18" name="Text 15"/>
          <p:cNvSpPr/>
          <p:nvPr/>
        </p:nvSpPr>
        <p:spPr>
          <a:xfrm>
            <a:off x="5664200" y="5500936"/>
            <a:ext cx="5886450" cy="569664"/>
          </a:xfrm>
          <a:prstGeom prst="rect">
            <a:avLst/>
          </a:prstGeom>
          <a:noFill/>
          <a:ln/>
        </p:spPr>
        <p:txBody>
          <a:bodyPr wrap="square" lIns="0" tIns="0" rIns="0" bIns="0" rtlCol="0" anchor="t">
            <a:normAutofit/>
          </a:bodyPr>
          <a:lstStyle/>
          <a:p>
            <a:pPr marL="0" indent="0" algn="l">
              <a:lnSpc>
                <a:spcPts val="1601"/>
              </a:lnSpc>
              <a:buNone/>
            </a:pPr>
            <a:r>
              <a:rPr lang="en-US" sz="1144" dirty="0">
                <a:solidFill>
                  <a:srgbClr val="5F6B7A"/>
                </a:solidFill>
                <a:latin typeface="Public Sans" pitchFamily="34" charset="0"/>
                <a:ea typeface="Public Sans" pitchFamily="34" charset="-122"/>
                <a:cs typeface="Public Sans" pitchFamily="34" charset="-120"/>
              </a:rPr>
              <a:t>Other routes: the White Pass (“Dead Horse Trail”, where about 3,000 horses died), the all-water route around Alaska (4,700 km), and long overland trails from Edmonton.</a:t>
            </a:r>
            <a:endParaRPr lang="en-US" sz="1144"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F4F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A2FB0"/>
                </a:solidFill>
                <a:latin typeface="Public Sans" pitchFamily="34" charset="0"/>
                <a:ea typeface="Public Sans" pitchFamily="34" charset="-122"/>
                <a:cs typeface="Public Sans" pitchFamily="34" charset="-120"/>
              </a:rPr>
              <a:t>THREE INTERESTING FACTS</a:t>
            </a:r>
            <a:endParaRPr lang="en-US" sz="1200" dirty="0"/>
          </a:p>
        </p:txBody>
      </p:sp>
      <p:sp>
        <p:nvSpPr>
          <p:cNvPr id="3" name="Text 1"/>
          <p:cNvSpPr>
            <a:spLocks noGrp="1"/>
          </p:cNvSpPr>
          <p:nvPr>
            <p:ph type="title"/>
          </p:nvPr>
        </p:nvSpPr>
        <p:spPr>
          <a:xfrm>
            <a:off x="812800" y="1102320"/>
            <a:ext cx="10883392" cy="505420"/>
          </a:xfrm>
          <a:prstGeom prst="rect">
            <a:avLst/>
          </a:prstGeom>
          <a:noFill/>
          <a:ln/>
        </p:spPr>
        <p:txBody>
          <a:bodyPr wrap="square" lIns="0" tIns="0" rIns="0" bIns="0" rtlCol="0" anchor="t">
            <a:normAutofit/>
          </a:bodyPr>
          <a:lstStyle/>
          <a:p>
            <a:pPr marL="0" indent="0" algn="l">
              <a:lnSpc>
                <a:spcPts val="3780"/>
              </a:lnSpc>
              <a:buNone/>
            </a:pPr>
            <a:r>
              <a:rPr lang="en-US" sz="3600" b="0" i="0" dirty="0">
                <a:solidFill>
                  <a:srgbClr val="000084"/>
                </a:solidFill>
                <a:latin typeface="Oswald" pitchFamily="34" charset="0"/>
                <a:ea typeface="Oswald" pitchFamily="34" charset="-122"/>
                <a:cs typeface="Oswald" pitchFamily="34" charset="-120"/>
              </a:rPr>
              <a:t>Three Things Most People Do Not Know</a:t>
            </a:r>
            <a:endParaRPr lang="en-US" sz="3600" dirty="0"/>
          </a:p>
        </p:txBody>
      </p:sp>
      <p:sp>
        <p:nvSpPr>
          <p:cNvPr id="4" name="Shape 2"/>
          <p:cNvSpPr/>
          <p:nvPr/>
        </p:nvSpPr>
        <p:spPr>
          <a:xfrm>
            <a:off x="812800" y="1920280"/>
            <a:ext cx="3386634" cy="3012331"/>
          </a:xfrm>
          <a:prstGeom prst="roundRect">
            <a:avLst>
              <a:gd name="adj" fmla="val 3373"/>
            </a:avLst>
          </a:prstGeom>
          <a:solidFill>
            <a:srgbClr val="000084"/>
          </a:solidFill>
          <a:ln/>
        </p:spPr>
        <p:txBody>
          <a:bodyPr/>
          <a:lstStyle/>
          <a:p>
            <a:endParaRPr lang="tr-TR"/>
          </a:p>
        </p:txBody>
      </p:sp>
      <p:sp>
        <p:nvSpPr>
          <p:cNvPr id="5" name="Text 3"/>
          <p:cNvSpPr/>
          <p:nvPr/>
        </p:nvSpPr>
        <p:spPr>
          <a:xfrm>
            <a:off x="1066800" y="2174280"/>
            <a:ext cx="2964993"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E2B050"/>
                </a:solidFill>
                <a:latin typeface="Public Sans" pitchFamily="34" charset="0"/>
                <a:ea typeface="Public Sans" pitchFamily="34" charset="-122"/>
                <a:cs typeface="Public Sans" pitchFamily="34" charset="-120"/>
              </a:rPr>
              <a:t>FACT 1</a:t>
            </a:r>
            <a:endParaRPr lang="en-US" sz="1200" dirty="0"/>
          </a:p>
        </p:txBody>
      </p:sp>
      <p:sp>
        <p:nvSpPr>
          <p:cNvPr id="6" name="Text 4"/>
          <p:cNvSpPr/>
          <p:nvPr/>
        </p:nvSpPr>
        <p:spPr>
          <a:xfrm>
            <a:off x="1066800" y="2476500"/>
            <a:ext cx="2964993" cy="635000"/>
          </a:xfrm>
          <a:prstGeom prst="rect">
            <a:avLst/>
          </a:prstGeom>
          <a:noFill/>
          <a:ln/>
        </p:spPr>
        <p:txBody>
          <a:bodyPr wrap="square" lIns="0" tIns="0" rIns="0" bIns="0" rtlCol="0" anchor="t">
            <a:normAutofit/>
          </a:bodyPr>
          <a:lstStyle/>
          <a:p>
            <a:pPr marL="0" indent="0" algn="l">
              <a:lnSpc>
                <a:spcPts val="4800"/>
              </a:lnSpc>
              <a:buNone/>
            </a:pPr>
            <a:r>
              <a:rPr lang="en-US" sz="4800" b="1" dirty="0">
                <a:solidFill>
                  <a:srgbClr val="F4F7FB"/>
                </a:solidFill>
                <a:latin typeface="Oswald" pitchFamily="34" charset="0"/>
                <a:ea typeface="Oswald" pitchFamily="34" charset="-122"/>
                <a:cs typeface="Oswald" pitchFamily="34" charset="-120"/>
              </a:rPr>
              <a:t>1,000 kg</a:t>
            </a:r>
            <a:endParaRPr lang="en-US" sz="4800" dirty="0"/>
          </a:p>
        </p:txBody>
      </p:sp>
      <p:sp>
        <p:nvSpPr>
          <p:cNvPr id="7" name="Text 5"/>
          <p:cNvSpPr/>
          <p:nvPr/>
        </p:nvSpPr>
        <p:spPr>
          <a:xfrm>
            <a:off x="1066800" y="3175000"/>
            <a:ext cx="2964993"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E2B050"/>
                </a:solidFill>
                <a:latin typeface="Public Sans" pitchFamily="34" charset="0"/>
                <a:ea typeface="Public Sans" pitchFamily="34" charset="-122"/>
                <a:cs typeface="Public Sans" pitchFamily="34" charset="-120"/>
              </a:rPr>
              <a:t>A ton of goods per person</a:t>
            </a:r>
            <a:endParaRPr lang="en-US" sz="1700" dirty="0"/>
          </a:p>
        </p:txBody>
      </p:sp>
      <p:sp>
        <p:nvSpPr>
          <p:cNvPr id="8" name="Text 6"/>
          <p:cNvSpPr/>
          <p:nvPr/>
        </p:nvSpPr>
        <p:spPr>
          <a:xfrm>
            <a:off x="1066800" y="3522960"/>
            <a:ext cx="2964993" cy="118105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C7D4E8"/>
                </a:solidFill>
                <a:latin typeface="Public Sans" pitchFamily="34" charset="0"/>
                <a:ea typeface="Public Sans" pitchFamily="34" charset="-122"/>
                <a:cs typeface="Public Sans" pitchFamily="34" charset="-120"/>
              </a:rPr>
              <a:t>The Canadian Mounted Police let nobody into Yukon without a year of supplies, about one ton. Stampeders carried it over the Chilkoot Pass in 20 to 40 trips.</a:t>
            </a:r>
            <a:endParaRPr lang="en-US" sz="1300" dirty="0"/>
          </a:p>
        </p:txBody>
      </p:sp>
      <p:sp>
        <p:nvSpPr>
          <p:cNvPr id="9" name="Shape 7"/>
          <p:cNvSpPr/>
          <p:nvPr/>
        </p:nvSpPr>
        <p:spPr>
          <a:xfrm>
            <a:off x="4402634" y="1920280"/>
            <a:ext cx="3386683" cy="3012331"/>
          </a:xfrm>
          <a:prstGeom prst="roundRect">
            <a:avLst>
              <a:gd name="adj" fmla="val 3373"/>
            </a:avLst>
          </a:prstGeom>
          <a:solidFill>
            <a:srgbClr val="000084"/>
          </a:solidFill>
          <a:ln/>
        </p:spPr>
        <p:txBody>
          <a:bodyPr/>
          <a:lstStyle/>
          <a:p>
            <a:endParaRPr lang="tr-TR"/>
          </a:p>
        </p:txBody>
      </p:sp>
      <p:sp>
        <p:nvSpPr>
          <p:cNvPr id="10" name="Text 8"/>
          <p:cNvSpPr/>
          <p:nvPr/>
        </p:nvSpPr>
        <p:spPr>
          <a:xfrm>
            <a:off x="4656634" y="2174280"/>
            <a:ext cx="2965044"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E2B050"/>
                </a:solidFill>
                <a:latin typeface="Public Sans" pitchFamily="34" charset="0"/>
                <a:ea typeface="Public Sans" pitchFamily="34" charset="-122"/>
                <a:cs typeface="Public Sans" pitchFamily="34" charset="-120"/>
              </a:rPr>
              <a:t>FACT 2</a:t>
            </a:r>
            <a:endParaRPr lang="en-US" sz="1200" dirty="0"/>
          </a:p>
        </p:txBody>
      </p:sp>
      <p:sp>
        <p:nvSpPr>
          <p:cNvPr id="11" name="Text 9"/>
          <p:cNvSpPr/>
          <p:nvPr/>
        </p:nvSpPr>
        <p:spPr>
          <a:xfrm>
            <a:off x="4656634" y="2476500"/>
            <a:ext cx="2965044" cy="635000"/>
          </a:xfrm>
          <a:prstGeom prst="rect">
            <a:avLst/>
          </a:prstGeom>
          <a:noFill/>
          <a:ln/>
        </p:spPr>
        <p:txBody>
          <a:bodyPr wrap="square" lIns="0" tIns="0" rIns="0" bIns="0" rtlCol="0" anchor="t">
            <a:normAutofit/>
          </a:bodyPr>
          <a:lstStyle/>
          <a:p>
            <a:pPr marL="0" indent="0" algn="l">
              <a:lnSpc>
                <a:spcPts val="4800"/>
              </a:lnSpc>
              <a:buNone/>
            </a:pPr>
            <a:r>
              <a:rPr lang="en-US" sz="4800" b="1" dirty="0">
                <a:solidFill>
                  <a:srgbClr val="F4F7FB"/>
                </a:solidFill>
                <a:latin typeface="Oswald" pitchFamily="34" charset="0"/>
                <a:ea typeface="Oswald" pitchFamily="34" charset="-122"/>
                <a:cs typeface="Oswald" pitchFamily="34" charset="-120"/>
              </a:rPr>
              <a:t>40,000</a:t>
            </a:r>
            <a:endParaRPr lang="en-US" sz="4800" dirty="0"/>
          </a:p>
        </p:txBody>
      </p:sp>
      <p:sp>
        <p:nvSpPr>
          <p:cNvPr id="12" name="Text 10"/>
          <p:cNvSpPr/>
          <p:nvPr/>
        </p:nvSpPr>
        <p:spPr>
          <a:xfrm>
            <a:off x="4656634" y="3175000"/>
            <a:ext cx="2965044"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E2B050"/>
                </a:solidFill>
                <a:latin typeface="Public Sans" pitchFamily="34" charset="0"/>
                <a:ea typeface="Public Sans" pitchFamily="34" charset="-122"/>
                <a:cs typeface="Public Sans" pitchFamily="34" charset="-120"/>
              </a:rPr>
              <a:t>The “Paris of the North”</a:t>
            </a:r>
            <a:endParaRPr lang="en-US" sz="1700" dirty="0"/>
          </a:p>
        </p:txBody>
      </p:sp>
      <p:sp>
        <p:nvSpPr>
          <p:cNvPr id="13" name="Text 11"/>
          <p:cNvSpPr/>
          <p:nvPr/>
        </p:nvSpPr>
        <p:spPr>
          <a:xfrm>
            <a:off x="4656634" y="3522960"/>
            <a:ext cx="2965044" cy="94992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C7D4E8"/>
                </a:solidFill>
                <a:latin typeface="Public Sans" pitchFamily="34" charset="0"/>
                <a:ea typeface="Public Sans" pitchFamily="34" charset="-122"/>
                <a:cs typeface="Public Sans" pitchFamily="34" charset="-120"/>
              </a:rPr>
              <a:t>In 1898 Dawson City had up to 40,000 people, electric lights, telephones and theatres. Today only about 1,600 people live there.</a:t>
            </a:r>
            <a:endParaRPr lang="en-US" sz="1300" dirty="0"/>
          </a:p>
        </p:txBody>
      </p:sp>
      <p:sp>
        <p:nvSpPr>
          <p:cNvPr id="14" name="Shape 12"/>
          <p:cNvSpPr/>
          <p:nvPr/>
        </p:nvSpPr>
        <p:spPr>
          <a:xfrm>
            <a:off x="7992517" y="1920280"/>
            <a:ext cx="3386683" cy="3012331"/>
          </a:xfrm>
          <a:prstGeom prst="roundRect">
            <a:avLst>
              <a:gd name="adj" fmla="val 3373"/>
            </a:avLst>
          </a:prstGeom>
          <a:solidFill>
            <a:srgbClr val="000084"/>
          </a:solidFill>
          <a:ln/>
        </p:spPr>
        <p:txBody>
          <a:bodyPr/>
          <a:lstStyle/>
          <a:p>
            <a:endParaRPr lang="tr-TR" dirty="0"/>
          </a:p>
        </p:txBody>
      </p:sp>
      <p:sp>
        <p:nvSpPr>
          <p:cNvPr id="15" name="Text 13"/>
          <p:cNvSpPr/>
          <p:nvPr/>
        </p:nvSpPr>
        <p:spPr>
          <a:xfrm>
            <a:off x="8246517" y="2174280"/>
            <a:ext cx="2965044"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E2B050"/>
                </a:solidFill>
                <a:latin typeface="Public Sans" pitchFamily="34" charset="0"/>
                <a:ea typeface="Public Sans" pitchFamily="34" charset="-122"/>
                <a:cs typeface="Public Sans" pitchFamily="34" charset="-120"/>
              </a:rPr>
              <a:t>FACT 3</a:t>
            </a:r>
            <a:endParaRPr lang="en-US" sz="1200" dirty="0"/>
          </a:p>
        </p:txBody>
      </p:sp>
      <p:sp>
        <p:nvSpPr>
          <p:cNvPr id="16" name="Text 14"/>
          <p:cNvSpPr/>
          <p:nvPr/>
        </p:nvSpPr>
        <p:spPr>
          <a:xfrm>
            <a:off x="8246517" y="2476500"/>
            <a:ext cx="2965044" cy="635000"/>
          </a:xfrm>
          <a:prstGeom prst="rect">
            <a:avLst/>
          </a:prstGeom>
          <a:noFill/>
          <a:ln/>
        </p:spPr>
        <p:txBody>
          <a:bodyPr wrap="square" lIns="0" tIns="0" rIns="0" bIns="0" rtlCol="0" anchor="t">
            <a:normAutofit/>
          </a:bodyPr>
          <a:lstStyle/>
          <a:p>
            <a:pPr marL="0" indent="0" algn="l">
              <a:lnSpc>
                <a:spcPts val="4800"/>
              </a:lnSpc>
              <a:buNone/>
            </a:pPr>
            <a:r>
              <a:rPr lang="en-US" sz="4800" b="1" dirty="0">
                <a:solidFill>
                  <a:srgbClr val="F4F7FB"/>
                </a:solidFill>
                <a:latin typeface="Oswald" pitchFamily="34" charset="0"/>
              </a:rPr>
              <a:t>in 1899</a:t>
            </a:r>
            <a:endParaRPr lang="en-US" sz="4800" dirty="0"/>
          </a:p>
        </p:txBody>
      </p:sp>
      <p:sp>
        <p:nvSpPr>
          <p:cNvPr id="17" name="Text 15"/>
          <p:cNvSpPr/>
          <p:nvPr/>
        </p:nvSpPr>
        <p:spPr>
          <a:xfrm>
            <a:off x="8246517" y="3175000"/>
            <a:ext cx="2965044"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E2B050"/>
                </a:solidFill>
                <a:latin typeface="Public Sans" pitchFamily="34" charset="0"/>
                <a:ea typeface="Public Sans" pitchFamily="34" charset="-122"/>
                <a:cs typeface="Public Sans" pitchFamily="34" charset="-120"/>
              </a:rPr>
              <a:t>The rush ended because:</a:t>
            </a:r>
            <a:endParaRPr lang="en-US" sz="1700" dirty="0"/>
          </a:p>
        </p:txBody>
      </p:sp>
      <p:sp>
        <p:nvSpPr>
          <p:cNvPr id="18" name="Text 16"/>
          <p:cNvSpPr/>
          <p:nvPr/>
        </p:nvSpPr>
        <p:spPr>
          <a:xfrm>
            <a:off x="8246517" y="3522960"/>
            <a:ext cx="2965044" cy="94992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C7D4E8"/>
                </a:solidFill>
                <a:latin typeface="Public Sans" pitchFamily="34" charset="0"/>
                <a:ea typeface="Public Sans" pitchFamily="34" charset="-122"/>
              </a:rPr>
              <a:t>In the Nome region in Alaska people found a new gold deposit and it was easier to mine this deposit. So people gave up on Klondike and went there.</a:t>
            </a:r>
            <a:endParaRPr lang="en-US" sz="1300" dirty="0"/>
          </a:p>
        </p:txBody>
      </p:sp>
      <p:sp>
        <p:nvSpPr>
          <p:cNvPr id="19" name="Shape 17"/>
          <p:cNvSpPr/>
          <p:nvPr/>
        </p:nvSpPr>
        <p:spPr>
          <a:xfrm>
            <a:off x="815975" y="5273675"/>
            <a:ext cx="10560050" cy="565150"/>
          </a:xfrm>
          <a:prstGeom prst="roundRect">
            <a:avLst>
              <a:gd name="adj" fmla="val 17416"/>
            </a:avLst>
          </a:prstGeom>
          <a:solidFill>
            <a:srgbClr val="FBFCFE"/>
          </a:solidFill>
          <a:ln w="6350">
            <a:solidFill>
              <a:srgbClr val="D9DBEE"/>
            </a:solidFill>
            <a:prstDash val="solid"/>
          </a:ln>
        </p:spPr>
        <p:txBody>
          <a:bodyPr/>
          <a:lstStyle/>
          <a:p>
            <a:endParaRPr lang="tr-TR"/>
          </a:p>
        </p:txBody>
      </p:sp>
      <p:pic>
        <p:nvPicPr>
          <p:cNvPr id="20" name="Image 0" descr="Verified"/>
          <p:cNvPicPr>
            <a:picLocks noChangeAspect="1"/>
          </p:cNvPicPr>
          <p:nvPr/>
        </p:nvPicPr>
        <p:blipFill>
          <a:blip r:embed="rId3"/>
          <a:srcRect/>
          <a:stretch/>
        </p:blipFill>
        <p:spPr>
          <a:xfrm>
            <a:off x="1073150" y="5429250"/>
            <a:ext cx="254000" cy="254000"/>
          </a:xfrm>
          <a:prstGeom prst="rect">
            <a:avLst/>
          </a:prstGeom>
        </p:spPr>
      </p:pic>
      <p:sp>
        <p:nvSpPr>
          <p:cNvPr id="21" name="Text 18"/>
          <p:cNvSpPr/>
          <p:nvPr/>
        </p:nvSpPr>
        <p:spPr>
          <a:xfrm>
            <a:off x="1504950" y="5440660"/>
            <a:ext cx="9867900"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B2432"/>
                </a:solidFill>
                <a:latin typeface="Public Sans" pitchFamily="34" charset="0"/>
                <a:ea typeface="Public Sans" pitchFamily="34" charset="-122"/>
                <a:cs typeface="Public Sans" pitchFamily="34" charset="-120"/>
              </a:rPr>
              <a:t>Bonus:</a:t>
            </a:r>
            <a:r>
              <a:rPr lang="en-US" sz="1300" dirty="0">
                <a:solidFill>
                  <a:srgbClr val="1B2432"/>
                </a:solidFill>
                <a:latin typeface="Public Sans" pitchFamily="34" charset="0"/>
                <a:ea typeface="Public Sans" pitchFamily="34" charset="-122"/>
                <a:cs typeface="Public Sans" pitchFamily="34" charset="-120"/>
              </a:rPr>
              <a:t> Dawson City and the Klondike goldfields became a UNESCO World Heritage Site (“Tr’ondëk-Klondike”) in 2023.</a:t>
            </a:r>
            <a:endParaRPr lang="en-US" sz="1300" dirty="0"/>
          </a:p>
        </p:txBody>
      </p:sp>
      <p:sp>
        <p:nvSpPr>
          <p:cNvPr id="22" name="Text 19"/>
          <p:cNvSpPr/>
          <p:nvPr/>
        </p:nvSpPr>
        <p:spPr>
          <a:xfrm>
            <a:off x="812800" y="6238280"/>
            <a:ext cx="470701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B7A"/>
                </a:solidFill>
                <a:latin typeface="Public Sans" pitchFamily="34" charset="0"/>
                <a:ea typeface="Public Sans" pitchFamily="34" charset="-122"/>
                <a:cs typeface="Public Sans" pitchFamily="34" charset="-120"/>
              </a:rPr>
              <a:t>The Klondike Gold Rush · Pertevniyal High School 159/E</a:t>
            </a:r>
            <a:endParaRPr lang="en-US" sz="1200" dirty="0"/>
          </a:p>
        </p:txBody>
      </p:sp>
      <p:sp>
        <p:nvSpPr>
          <p:cNvPr id="23" name="Text 20"/>
          <p:cNvSpPr/>
          <p:nvPr/>
        </p:nvSpPr>
        <p:spPr>
          <a:xfrm>
            <a:off x="10820400" y="6238280"/>
            <a:ext cx="558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F6B7A"/>
                </a:solidFill>
                <a:latin typeface="Public Sans" pitchFamily="34" charset="0"/>
                <a:ea typeface="Public Sans" pitchFamily="34" charset="-122"/>
                <a:cs typeface="Public Sans"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3F4F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A2FB0"/>
                </a:solidFill>
                <a:latin typeface="Public Sans" pitchFamily="34" charset="0"/>
                <a:ea typeface="Public Sans" pitchFamily="34" charset="-122"/>
                <a:cs typeface="Public Sans" pitchFamily="34" charset="-120"/>
              </a:rPr>
              <a:t>DAWSON CITY · THEN AND NOW</a:t>
            </a:r>
            <a:endParaRPr lang="en-US" sz="1200" dirty="0"/>
          </a:p>
        </p:txBody>
      </p:sp>
      <p:sp>
        <p:nvSpPr>
          <p:cNvPr id="3" name="Text 1"/>
          <p:cNvSpPr>
            <a:spLocks noGrp="1"/>
          </p:cNvSpPr>
          <p:nvPr>
            <p:ph type="title"/>
          </p:nvPr>
        </p:nvSpPr>
        <p:spPr>
          <a:xfrm>
            <a:off x="812800" y="1102320"/>
            <a:ext cx="10883392" cy="505420"/>
          </a:xfrm>
          <a:prstGeom prst="rect">
            <a:avLst/>
          </a:prstGeom>
          <a:noFill/>
          <a:ln/>
        </p:spPr>
        <p:txBody>
          <a:bodyPr wrap="square" lIns="0" tIns="0" rIns="0" bIns="0" rtlCol="0" anchor="t">
            <a:normAutofit/>
          </a:bodyPr>
          <a:lstStyle/>
          <a:p>
            <a:pPr marL="0" indent="0" algn="l">
              <a:lnSpc>
                <a:spcPts val="3780"/>
              </a:lnSpc>
              <a:buNone/>
            </a:pPr>
            <a:r>
              <a:rPr lang="en-US" sz="3600" b="0" i="0" dirty="0">
                <a:solidFill>
                  <a:srgbClr val="000084"/>
                </a:solidFill>
                <a:latin typeface="Oswald" pitchFamily="34" charset="0"/>
                <a:ea typeface="Oswald" pitchFamily="34" charset="-122"/>
                <a:cs typeface="Oswald" pitchFamily="34" charset="-120"/>
              </a:rPr>
              <a:t>Dawson City in 1899 and Today</a:t>
            </a:r>
            <a:endParaRPr lang="en-US" sz="3600" dirty="0"/>
          </a:p>
        </p:txBody>
      </p:sp>
      <p:sp>
        <p:nvSpPr>
          <p:cNvPr id="4" name="Shape 2"/>
          <p:cNvSpPr/>
          <p:nvPr/>
        </p:nvSpPr>
        <p:spPr>
          <a:xfrm>
            <a:off x="815975" y="1839516"/>
            <a:ext cx="5175250" cy="3798491"/>
          </a:xfrm>
          <a:prstGeom prst="roundRect">
            <a:avLst>
              <a:gd name="adj" fmla="val 2591"/>
            </a:avLst>
          </a:prstGeom>
          <a:solidFill>
            <a:srgbClr val="FBFCFE"/>
          </a:solidFill>
          <a:ln w="6350">
            <a:solidFill>
              <a:srgbClr val="D9DBEE"/>
            </a:solidFill>
            <a:prstDash val="solid"/>
          </a:ln>
        </p:spPr>
        <p:txBody>
          <a:bodyPr/>
          <a:lstStyle/>
          <a:p>
            <a:endParaRPr lang="tr-TR"/>
          </a:p>
        </p:txBody>
      </p:sp>
      <p:pic>
        <p:nvPicPr>
          <p:cNvPr id="5" name="Image 0" descr="Black and white photo of log cabins and a sternwheeler on the Yukon River, with Dawson City on the far bank, 1899"/>
          <p:cNvPicPr>
            <a:picLocks noChangeAspect="1"/>
          </p:cNvPicPr>
          <p:nvPr/>
        </p:nvPicPr>
        <p:blipFill>
          <a:blip r:embed="rId3"/>
          <a:srcRect t="11470" b="11470"/>
          <a:stretch/>
        </p:blipFill>
        <p:spPr>
          <a:xfrm>
            <a:off x="946150" y="1969691"/>
            <a:ext cx="4927600" cy="2667000"/>
          </a:xfrm>
          <a:prstGeom prst="roundRect">
            <a:avLst>
              <a:gd name="adj" fmla="val 2381"/>
            </a:avLst>
          </a:prstGeom>
        </p:spPr>
      </p:pic>
      <p:sp>
        <p:nvSpPr>
          <p:cNvPr id="6" name="Text 3"/>
          <p:cNvSpPr/>
          <p:nvPr/>
        </p:nvSpPr>
        <p:spPr>
          <a:xfrm>
            <a:off x="996950" y="4763691"/>
            <a:ext cx="4957699"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00084"/>
                </a:solidFill>
                <a:latin typeface="Public Sans" pitchFamily="34" charset="0"/>
                <a:ea typeface="Public Sans" pitchFamily="34" charset="-122"/>
                <a:cs typeface="Public Sans" pitchFamily="34" charset="-120"/>
              </a:rPr>
              <a:t>1899: the boomtown on the Yukon River</a:t>
            </a:r>
            <a:endParaRPr lang="en-US" sz="1500" dirty="0"/>
          </a:p>
        </p:txBody>
      </p:sp>
      <p:sp>
        <p:nvSpPr>
          <p:cNvPr id="7" name="Text 4"/>
          <p:cNvSpPr/>
          <p:nvPr/>
        </p:nvSpPr>
        <p:spPr>
          <a:xfrm>
            <a:off x="996950" y="5030391"/>
            <a:ext cx="4957699"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75569"/>
                </a:solidFill>
                <a:latin typeface="Public Sans" pitchFamily="34" charset="0"/>
                <a:ea typeface="Public Sans" pitchFamily="34" charset="-122"/>
                <a:cs typeface="Public Sans" pitchFamily="34" charset="-120"/>
              </a:rPr>
              <a:t>Klondike City in front and Dawson City across the river; a sternwheeler waits at the bank. Photo: Asahel Curtis</a:t>
            </a:r>
            <a:endParaRPr lang="en-US" sz="1200" dirty="0"/>
          </a:p>
        </p:txBody>
      </p:sp>
      <p:sp>
        <p:nvSpPr>
          <p:cNvPr id="8" name="Shape 5"/>
          <p:cNvSpPr/>
          <p:nvPr/>
        </p:nvSpPr>
        <p:spPr>
          <a:xfrm>
            <a:off x="6200775" y="1839516"/>
            <a:ext cx="5175250" cy="3798491"/>
          </a:xfrm>
          <a:prstGeom prst="roundRect">
            <a:avLst>
              <a:gd name="adj" fmla="val 2591"/>
            </a:avLst>
          </a:prstGeom>
          <a:solidFill>
            <a:srgbClr val="FBFCFE"/>
          </a:solidFill>
          <a:ln w="6350">
            <a:solidFill>
              <a:srgbClr val="D9DBEE"/>
            </a:solidFill>
            <a:prstDash val="solid"/>
          </a:ln>
        </p:spPr>
        <p:txBody>
          <a:bodyPr/>
          <a:lstStyle/>
          <a:p>
            <a:endParaRPr lang="tr-TR"/>
          </a:p>
        </p:txBody>
      </p:sp>
      <p:pic>
        <p:nvPicPr>
          <p:cNvPr id="9" name="Image 1" descr="The wooden Yukon Hotel and the Front Street Inn in Dawson City in 2005, with forested hills behind"/>
          <p:cNvPicPr>
            <a:picLocks noChangeAspect="1"/>
          </p:cNvPicPr>
          <p:nvPr/>
        </p:nvPicPr>
        <p:blipFill>
          <a:blip r:embed="rId4"/>
          <a:srcRect t="12477" b="12477"/>
          <a:stretch/>
        </p:blipFill>
        <p:spPr>
          <a:xfrm>
            <a:off x="6330950" y="1969691"/>
            <a:ext cx="4927600" cy="2667000"/>
          </a:xfrm>
          <a:prstGeom prst="roundRect">
            <a:avLst>
              <a:gd name="adj" fmla="val 2381"/>
            </a:avLst>
          </a:prstGeom>
        </p:spPr>
      </p:pic>
      <p:sp>
        <p:nvSpPr>
          <p:cNvPr id="10" name="Text 6"/>
          <p:cNvSpPr/>
          <p:nvPr/>
        </p:nvSpPr>
        <p:spPr>
          <a:xfrm>
            <a:off x="6381750" y="4763691"/>
            <a:ext cx="4957699"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00084"/>
                </a:solidFill>
                <a:latin typeface="Public Sans" pitchFamily="34" charset="0"/>
                <a:ea typeface="Public Sans" pitchFamily="34" charset="-122"/>
                <a:cs typeface="Public Sans" pitchFamily="34" charset="-120"/>
              </a:rPr>
              <a:t>2005: the Yukon Hotel on Front Street</a:t>
            </a:r>
            <a:endParaRPr lang="en-US" sz="1500" dirty="0"/>
          </a:p>
        </p:txBody>
      </p:sp>
      <p:sp>
        <p:nvSpPr>
          <p:cNvPr id="11" name="Text 7"/>
          <p:cNvSpPr/>
          <p:nvPr/>
        </p:nvSpPr>
        <p:spPr>
          <a:xfrm>
            <a:off x="6381750" y="5030391"/>
            <a:ext cx="4957699"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75569"/>
                </a:solidFill>
                <a:latin typeface="Public Sans" pitchFamily="34" charset="0"/>
                <a:ea typeface="Public Sans" pitchFamily="34" charset="-122"/>
                <a:cs typeface="Public Sans" pitchFamily="34" charset="-120"/>
              </a:rPr>
              <a:t>Gold-rush buildings restored by Parks Canada; about 1,600 people live here today. Photo: Wikimedia Commons</a:t>
            </a:r>
            <a:endParaRPr lang="en-US" sz="1200" dirty="0"/>
          </a:p>
        </p:txBody>
      </p:sp>
      <p:sp>
        <p:nvSpPr>
          <p:cNvPr id="12" name="Text 8"/>
          <p:cNvSpPr/>
          <p:nvPr/>
        </p:nvSpPr>
        <p:spPr>
          <a:xfrm>
            <a:off x="812800" y="6238280"/>
            <a:ext cx="470701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B7A"/>
                </a:solidFill>
                <a:latin typeface="Public Sans" pitchFamily="34" charset="0"/>
                <a:ea typeface="Public Sans" pitchFamily="34" charset="-122"/>
                <a:cs typeface="Public Sans" pitchFamily="34" charset="-120"/>
              </a:rPr>
              <a:t>The Klondike Gold Rush · Pertevniyal High School 159/E</a:t>
            </a:r>
            <a:endParaRPr lang="en-US" sz="1200" dirty="0"/>
          </a:p>
        </p:txBody>
      </p:sp>
      <p:sp>
        <p:nvSpPr>
          <p:cNvPr id="13" name="Text 9"/>
          <p:cNvSpPr/>
          <p:nvPr/>
        </p:nvSpPr>
        <p:spPr>
          <a:xfrm>
            <a:off x="10820400" y="6238280"/>
            <a:ext cx="558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F6B7A"/>
                </a:solidFill>
                <a:latin typeface="Public Sans" pitchFamily="34" charset="0"/>
                <a:ea typeface="Public Sans" pitchFamily="34" charset="-122"/>
                <a:cs typeface="Public Sans"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3F4FA"/>
        </a:solidFill>
        <a:effectLst/>
      </p:bgPr>
    </p:bg>
    <p:spTree>
      <p:nvGrpSpPr>
        <p:cNvPr id="1" name=""/>
        <p:cNvGrpSpPr/>
        <p:nvPr/>
      </p:nvGrpSpPr>
      <p:grpSpPr>
        <a:xfrm>
          <a:off x="0" y="0"/>
          <a:ext cx="0" cy="0"/>
          <a:chOff x="0" y="0"/>
          <a:chExt cx="0" cy="0"/>
        </a:xfrm>
      </p:grpSpPr>
      <p:sp>
        <p:nvSpPr>
          <p:cNvPr id="2" name="Text 0"/>
          <p:cNvSpPr/>
          <p:nvPr/>
        </p:nvSpPr>
        <p:spPr>
          <a:xfrm>
            <a:off x="812800" y="601067"/>
            <a:ext cx="10883392" cy="420241"/>
          </a:xfrm>
          <a:prstGeom prst="rect">
            <a:avLst/>
          </a:prstGeom>
          <a:noFill/>
          <a:ln/>
        </p:spPr>
        <p:txBody>
          <a:bodyPr wrap="square" lIns="0" tIns="0" rIns="0" bIns="0" rtlCol="0" anchor="t">
            <a:normAutofit/>
          </a:bodyPr>
          <a:lstStyle/>
          <a:p>
            <a:pPr marL="0" indent="0" algn="l">
              <a:lnSpc>
                <a:spcPts val="1470"/>
              </a:lnSpc>
              <a:buNone/>
            </a:pPr>
            <a:r>
              <a:rPr lang="en-US" sz="1050" b="1" kern="0" spc="150" dirty="0">
                <a:solidFill>
                  <a:srgbClr val="2A2FB0"/>
                </a:solidFill>
                <a:latin typeface="Public Sans" pitchFamily="34" charset="0"/>
                <a:ea typeface="Public Sans" pitchFamily="34" charset="-122"/>
                <a:cs typeface="Public Sans" pitchFamily="34" charset="-120"/>
              </a:rPr>
              <a:t>5-DAY TOUR PLAN · 12 TO 16 AUGUST 2027</a:t>
            </a:r>
            <a:endParaRPr lang="en-US" sz="1050" dirty="0"/>
          </a:p>
        </p:txBody>
      </p:sp>
      <p:sp>
        <p:nvSpPr>
          <p:cNvPr id="3" name="Text 1"/>
          <p:cNvSpPr>
            <a:spLocks noGrp="1"/>
          </p:cNvSpPr>
          <p:nvPr>
            <p:ph type="title"/>
          </p:nvPr>
        </p:nvSpPr>
        <p:spPr>
          <a:xfrm>
            <a:off x="812800" y="910927"/>
            <a:ext cx="10883392" cy="598587"/>
          </a:xfrm>
          <a:prstGeom prst="rect">
            <a:avLst/>
          </a:prstGeom>
          <a:noFill/>
          <a:ln/>
        </p:spPr>
        <p:txBody>
          <a:bodyPr wrap="square" lIns="0" tIns="0" rIns="0" bIns="0" rtlCol="0" anchor="t">
            <a:normAutofit/>
          </a:bodyPr>
          <a:lstStyle/>
          <a:p>
            <a:pPr marL="0" indent="0" algn="l">
              <a:lnSpc>
                <a:spcPts val="3272"/>
              </a:lnSpc>
              <a:buNone/>
            </a:pPr>
            <a:r>
              <a:rPr lang="en-US" sz="3116" b="0" i="0" dirty="0">
                <a:solidFill>
                  <a:srgbClr val="000084"/>
                </a:solidFill>
                <a:latin typeface="Oswald" pitchFamily="34" charset="0"/>
                <a:ea typeface="Oswald" pitchFamily="34" charset="-122"/>
                <a:cs typeface="Oswald" pitchFamily="34" charset="-120"/>
              </a:rPr>
              <a:t>Our Five Days in Dawson City at a Glance</a:t>
            </a:r>
            <a:endParaRPr lang="en-US" sz="3116" dirty="0"/>
          </a:p>
        </p:txBody>
      </p:sp>
      <p:sp>
        <p:nvSpPr>
          <p:cNvPr id="4" name="Shape 2"/>
          <p:cNvSpPr/>
          <p:nvPr/>
        </p:nvSpPr>
        <p:spPr>
          <a:xfrm>
            <a:off x="815975" y="1386632"/>
            <a:ext cx="4794250" cy="875010"/>
          </a:xfrm>
          <a:prstGeom prst="roundRect">
            <a:avLst>
              <a:gd name="adj" fmla="val 8346"/>
            </a:avLst>
          </a:prstGeom>
          <a:solidFill>
            <a:srgbClr val="FBFCFE"/>
          </a:solidFill>
          <a:ln w="6350">
            <a:solidFill>
              <a:srgbClr val="D9DBEE"/>
            </a:solidFill>
            <a:prstDash val="solid"/>
          </a:ln>
        </p:spPr>
        <p:txBody>
          <a:bodyPr/>
          <a:lstStyle/>
          <a:p>
            <a:endParaRPr lang="tr-TR"/>
          </a:p>
        </p:txBody>
      </p:sp>
      <p:sp>
        <p:nvSpPr>
          <p:cNvPr id="5" name="Text 3"/>
          <p:cNvSpPr/>
          <p:nvPr/>
        </p:nvSpPr>
        <p:spPr>
          <a:xfrm>
            <a:off x="971550" y="1626046"/>
            <a:ext cx="1003300" cy="421580"/>
          </a:xfrm>
          <a:prstGeom prst="rect">
            <a:avLst/>
          </a:prstGeom>
          <a:noFill/>
          <a:ln/>
        </p:spPr>
        <p:txBody>
          <a:bodyPr wrap="square" lIns="0" tIns="0" rIns="0" bIns="0" rtlCol="0" anchor="t">
            <a:normAutofit/>
          </a:bodyPr>
          <a:lstStyle/>
          <a:p>
            <a:pPr marL="0" indent="0" algn="l">
              <a:lnSpc>
                <a:spcPts val="1560"/>
              </a:lnSpc>
              <a:buNone/>
            </a:pPr>
            <a:r>
              <a:rPr lang="en-US" sz="1200" b="1" kern="0" spc="50" dirty="0">
                <a:solidFill>
                  <a:srgbClr val="2A2FB0"/>
                </a:solidFill>
                <a:latin typeface="Public Sans" pitchFamily="34" charset="0"/>
                <a:ea typeface="Public Sans" pitchFamily="34" charset="-122"/>
                <a:cs typeface="Public Sans" pitchFamily="34" charset="-120"/>
              </a:rPr>
              <a:t>DAY 1</a:t>
            </a:r>
            <a:endParaRPr lang="en-US" sz="1200" dirty="0"/>
          </a:p>
          <a:p>
            <a:pPr marL="0" indent="0" algn="l">
              <a:lnSpc>
                <a:spcPts val="1560"/>
              </a:lnSpc>
              <a:buNone/>
            </a:pPr>
            <a:r>
              <a:rPr lang="en-US" sz="1200" b="1" kern="0" spc="50" dirty="0">
                <a:solidFill>
                  <a:srgbClr val="2A2FB0"/>
                </a:solidFill>
                <a:latin typeface="Public Sans" pitchFamily="34" charset="0"/>
                <a:ea typeface="Public Sans" pitchFamily="34" charset="-122"/>
                <a:cs typeface="Public Sans" pitchFamily="34" charset="-120"/>
              </a:rPr>
              <a:t>THU 12 AUG</a:t>
            </a:r>
            <a:endParaRPr lang="en-US" sz="1200" dirty="0"/>
          </a:p>
        </p:txBody>
      </p:sp>
      <p:sp>
        <p:nvSpPr>
          <p:cNvPr id="6" name="Text 4"/>
          <p:cNvSpPr/>
          <p:nvPr/>
        </p:nvSpPr>
        <p:spPr>
          <a:xfrm>
            <a:off x="2051050" y="1491407"/>
            <a:ext cx="3505708"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00084"/>
                </a:solidFill>
                <a:latin typeface="Public Sans" pitchFamily="34" charset="0"/>
                <a:ea typeface="Public Sans" pitchFamily="34" charset="-122"/>
                <a:cs typeface="Public Sans" pitchFamily="34" charset="-120"/>
              </a:rPr>
              <a:t>Arrival and the Historic Town</a:t>
            </a:r>
            <a:endParaRPr lang="en-US" sz="1500" dirty="0"/>
          </a:p>
        </p:txBody>
      </p:sp>
      <p:sp>
        <p:nvSpPr>
          <p:cNvPr id="7" name="Text 5"/>
          <p:cNvSpPr/>
          <p:nvPr/>
        </p:nvSpPr>
        <p:spPr>
          <a:xfrm>
            <a:off x="2051050" y="1745407"/>
            <a:ext cx="3505708" cy="43686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75569"/>
                </a:solidFill>
                <a:latin typeface="Public Sans" pitchFamily="34" charset="0"/>
                <a:ea typeface="Public Sans" pitchFamily="34" charset="-122"/>
                <a:cs typeface="Public Sans" pitchFamily="34" charset="-120"/>
              </a:rPr>
              <a:t>Flight from Whitehorse, walking tour, Dänojà Zho, riverfront (pin 1)</a:t>
            </a:r>
            <a:endParaRPr lang="en-US" sz="1200" dirty="0"/>
          </a:p>
        </p:txBody>
      </p:sp>
      <p:sp>
        <p:nvSpPr>
          <p:cNvPr id="8" name="Shape 6"/>
          <p:cNvSpPr/>
          <p:nvPr/>
        </p:nvSpPr>
        <p:spPr>
          <a:xfrm>
            <a:off x="815975" y="2356892"/>
            <a:ext cx="4794250" cy="875010"/>
          </a:xfrm>
          <a:prstGeom prst="roundRect">
            <a:avLst>
              <a:gd name="adj" fmla="val 8346"/>
            </a:avLst>
          </a:prstGeom>
          <a:solidFill>
            <a:srgbClr val="FBFCFE"/>
          </a:solidFill>
          <a:ln w="6350">
            <a:solidFill>
              <a:srgbClr val="D9DBEE"/>
            </a:solidFill>
            <a:prstDash val="solid"/>
          </a:ln>
        </p:spPr>
        <p:txBody>
          <a:bodyPr/>
          <a:lstStyle/>
          <a:p>
            <a:endParaRPr lang="tr-TR"/>
          </a:p>
        </p:txBody>
      </p:sp>
      <p:sp>
        <p:nvSpPr>
          <p:cNvPr id="9" name="Text 7"/>
          <p:cNvSpPr/>
          <p:nvPr/>
        </p:nvSpPr>
        <p:spPr>
          <a:xfrm>
            <a:off x="971550" y="2596307"/>
            <a:ext cx="1003300" cy="421580"/>
          </a:xfrm>
          <a:prstGeom prst="rect">
            <a:avLst/>
          </a:prstGeom>
          <a:noFill/>
          <a:ln/>
        </p:spPr>
        <p:txBody>
          <a:bodyPr wrap="square" lIns="0" tIns="0" rIns="0" bIns="0" rtlCol="0" anchor="t">
            <a:normAutofit/>
          </a:bodyPr>
          <a:lstStyle/>
          <a:p>
            <a:pPr marL="0" indent="0" algn="l">
              <a:lnSpc>
                <a:spcPts val="1560"/>
              </a:lnSpc>
              <a:buNone/>
            </a:pPr>
            <a:r>
              <a:rPr lang="en-US" sz="1200" b="1" kern="0" spc="50" dirty="0">
                <a:solidFill>
                  <a:srgbClr val="2A2FB0"/>
                </a:solidFill>
                <a:latin typeface="Public Sans" pitchFamily="34" charset="0"/>
                <a:ea typeface="Public Sans" pitchFamily="34" charset="-122"/>
                <a:cs typeface="Public Sans" pitchFamily="34" charset="-120"/>
              </a:rPr>
              <a:t>DAY 2</a:t>
            </a:r>
            <a:endParaRPr lang="en-US" sz="1200" dirty="0"/>
          </a:p>
          <a:p>
            <a:pPr marL="0" indent="0" algn="l">
              <a:lnSpc>
                <a:spcPts val="1560"/>
              </a:lnSpc>
              <a:buNone/>
            </a:pPr>
            <a:r>
              <a:rPr lang="en-US" sz="1200" b="1" kern="0" spc="50" dirty="0">
                <a:solidFill>
                  <a:srgbClr val="2A2FB0"/>
                </a:solidFill>
                <a:latin typeface="Public Sans" pitchFamily="34" charset="0"/>
                <a:ea typeface="Public Sans" pitchFamily="34" charset="-122"/>
                <a:cs typeface="Public Sans" pitchFamily="34" charset="-120"/>
              </a:rPr>
              <a:t>FRI 13 AUG</a:t>
            </a:r>
            <a:endParaRPr lang="en-US" sz="1200" dirty="0"/>
          </a:p>
        </p:txBody>
      </p:sp>
      <p:sp>
        <p:nvSpPr>
          <p:cNvPr id="10" name="Text 8"/>
          <p:cNvSpPr/>
          <p:nvPr/>
        </p:nvSpPr>
        <p:spPr>
          <a:xfrm>
            <a:off x="2051050" y="2461667"/>
            <a:ext cx="3505708"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00084"/>
                </a:solidFill>
                <a:latin typeface="Public Sans" pitchFamily="34" charset="0"/>
                <a:ea typeface="Public Sans" pitchFamily="34" charset="-122"/>
                <a:cs typeface="Public Sans" pitchFamily="34" charset="-120"/>
              </a:rPr>
              <a:t>The Goldfields</a:t>
            </a:r>
            <a:endParaRPr lang="en-US" sz="1500" dirty="0"/>
          </a:p>
        </p:txBody>
      </p:sp>
      <p:sp>
        <p:nvSpPr>
          <p:cNvPr id="11" name="Text 9"/>
          <p:cNvSpPr/>
          <p:nvPr/>
        </p:nvSpPr>
        <p:spPr>
          <a:xfrm>
            <a:off x="2051050" y="2715667"/>
            <a:ext cx="3505708" cy="43686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75569"/>
                </a:solidFill>
                <a:latin typeface="Public Sans" pitchFamily="34" charset="0"/>
                <a:ea typeface="Public Sans" pitchFamily="34" charset="-122"/>
                <a:cs typeface="Public Sans" pitchFamily="34" charset="-120"/>
              </a:rPr>
              <a:t>Discovery Claim, Dredge No. 4, gold panning, river cruise (pins 2, 3, 4)</a:t>
            </a:r>
            <a:endParaRPr lang="en-US" sz="1200" dirty="0"/>
          </a:p>
        </p:txBody>
      </p:sp>
      <p:sp>
        <p:nvSpPr>
          <p:cNvPr id="12" name="Shape 10"/>
          <p:cNvSpPr/>
          <p:nvPr/>
        </p:nvSpPr>
        <p:spPr>
          <a:xfrm>
            <a:off x="815975" y="3327152"/>
            <a:ext cx="4794250" cy="875010"/>
          </a:xfrm>
          <a:prstGeom prst="roundRect">
            <a:avLst>
              <a:gd name="adj" fmla="val 8346"/>
            </a:avLst>
          </a:prstGeom>
          <a:solidFill>
            <a:srgbClr val="FBFCFE"/>
          </a:solidFill>
          <a:ln w="6350">
            <a:solidFill>
              <a:srgbClr val="D9DBEE"/>
            </a:solidFill>
            <a:prstDash val="solid"/>
          </a:ln>
        </p:spPr>
        <p:txBody>
          <a:bodyPr/>
          <a:lstStyle/>
          <a:p>
            <a:endParaRPr lang="tr-TR"/>
          </a:p>
        </p:txBody>
      </p:sp>
      <p:sp>
        <p:nvSpPr>
          <p:cNvPr id="13" name="Text 11"/>
          <p:cNvSpPr/>
          <p:nvPr/>
        </p:nvSpPr>
        <p:spPr>
          <a:xfrm>
            <a:off x="971550" y="3566567"/>
            <a:ext cx="1003300" cy="421580"/>
          </a:xfrm>
          <a:prstGeom prst="rect">
            <a:avLst/>
          </a:prstGeom>
          <a:noFill/>
          <a:ln/>
        </p:spPr>
        <p:txBody>
          <a:bodyPr wrap="square" lIns="0" tIns="0" rIns="0" bIns="0" rtlCol="0" anchor="t">
            <a:normAutofit/>
          </a:bodyPr>
          <a:lstStyle/>
          <a:p>
            <a:pPr marL="0" indent="0" algn="l">
              <a:lnSpc>
                <a:spcPts val="1560"/>
              </a:lnSpc>
              <a:buNone/>
            </a:pPr>
            <a:r>
              <a:rPr lang="en-US" sz="1200" b="1" kern="0" spc="50" dirty="0">
                <a:solidFill>
                  <a:srgbClr val="2A2FB0"/>
                </a:solidFill>
                <a:latin typeface="Public Sans" pitchFamily="34" charset="0"/>
                <a:ea typeface="Public Sans" pitchFamily="34" charset="-122"/>
                <a:cs typeface="Public Sans" pitchFamily="34" charset="-120"/>
              </a:rPr>
              <a:t>DAY 3</a:t>
            </a:r>
            <a:endParaRPr lang="en-US" sz="1200" dirty="0"/>
          </a:p>
          <a:p>
            <a:pPr marL="0" indent="0" algn="l">
              <a:lnSpc>
                <a:spcPts val="1560"/>
              </a:lnSpc>
              <a:buNone/>
            </a:pPr>
            <a:r>
              <a:rPr lang="en-US" sz="1200" b="1" kern="0" spc="50" dirty="0">
                <a:solidFill>
                  <a:srgbClr val="2A2FB0"/>
                </a:solidFill>
                <a:latin typeface="Public Sans" pitchFamily="34" charset="0"/>
                <a:ea typeface="Public Sans" pitchFamily="34" charset="-122"/>
                <a:cs typeface="Public Sans" pitchFamily="34" charset="-120"/>
              </a:rPr>
              <a:t>SAT 14 AUG</a:t>
            </a:r>
            <a:endParaRPr lang="en-US" sz="1200" dirty="0"/>
          </a:p>
        </p:txBody>
      </p:sp>
      <p:sp>
        <p:nvSpPr>
          <p:cNvPr id="14" name="Text 12"/>
          <p:cNvSpPr/>
          <p:nvPr/>
        </p:nvSpPr>
        <p:spPr>
          <a:xfrm>
            <a:off x="2051050" y="3431927"/>
            <a:ext cx="3505708"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00084"/>
                </a:solidFill>
                <a:latin typeface="Public Sans" pitchFamily="34" charset="0"/>
                <a:ea typeface="Public Sans" pitchFamily="34" charset="-122"/>
                <a:cs typeface="Public Sans" pitchFamily="34" charset="-120"/>
              </a:rPr>
              <a:t>Discovery Days</a:t>
            </a:r>
            <a:endParaRPr lang="en-US" sz="1500" dirty="0"/>
          </a:p>
        </p:txBody>
      </p:sp>
      <p:sp>
        <p:nvSpPr>
          <p:cNvPr id="15" name="Text 13"/>
          <p:cNvSpPr/>
          <p:nvPr/>
        </p:nvSpPr>
        <p:spPr>
          <a:xfrm>
            <a:off x="2051050" y="3685927"/>
            <a:ext cx="3505708" cy="43686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75569"/>
                </a:solidFill>
                <a:latin typeface="Public Sans" pitchFamily="34" charset="0"/>
                <a:ea typeface="Public Sans" pitchFamily="34" charset="-122"/>
                <a:cs typeface="Public Sans" pitchFamily="34" charset="-120"/>
              </a:rPr>
              <a:t>Museum, Jack London’s cabin, the parade, sunset on the Midnight Dome (pin 5)</a:t>
            </a:r>
            <a:endParaRPr lang="en-US" sz="1200" dirty="0"/>
          </a:p>
        </p:txBody>
      </p:sp>
      <p:sp>
        <p:nvSpPr>
          <p:cNvPr id="16" name="Shape 14"/>
          <p:cNvSpPr/>
          <p:nvPr/>
        </p:nvSpPr>
        <p:spPr>
          <a:xfrm>
            <a:off x="815975" y="4297412"/>
            <a:ext cx="4794250" cy="875010"/>
          </a:xfrm>
          <a:prstGeom prst="roundRect">
            <a:avLst>
              <a:gd name="adj" fmla="val 8346"/>
            </a:avLst>
          </a:prstGeom>
          <a:solidFill>
            <a:srgbClr val="FBFCFE"/>
          </a:solidFill>
          <a:ln w="6350">
            <a:solidFill>
              <a:srgbClr val="D9DBEE"/>
            </a:solidFill>
            <a:prstDash val="solid"/>
          </a:ln>
        </p:spPr>
        <p:txBody>
          <a:bodyPr/>
          <a:lstStyle/>
          <a:p>
            <a:endParaRPr lang="tr-TR"/>
          </a:p>
        </p:txBody>
      </p:sp>
      <p:sp>
        <p:nvSpPr>
          <p:cNvPr id="17" name="Text 15"/>
          <p:cNvSpPr/>
          <p:nvPr/>
        </p:nvSpPr>
        <p:spPr>
          <a:xfrm>
            <a:off x="971550" y="4437757"/>
            <a:ext cx="1003300" cy="619671"/>
          </a:xfrm>
          <a:prstGeom prst="rect">
            <a:avLst/>
          </a:prstGeom>
          <a:noFill/>
          <a:ln/>
        </p:spPr>
        <p:txBody>
          <a:bodyPr wrap="square" lIns="0" tIns="0" rIns="0" bIns="0" rtlCol="0" anchor="t">
            <a:normAutofit/>
          </a:bodyPr>
          <a:lstStyle/>
          <a:p>
            <a:pPr marL="0" indent="0" algn="l">
              <a:lnSpc>
                <a:spcPts val="1560"/>
              </a:lnSpc>
              <a:buNone/>
            </a:pPr>
            <a:r>
              <a:rPr lang="en-US" sz="1200" b="1" kern="0" spc="50" dirty="0">
                <a:solidFill>
                  <a:srgbClr val="2A2FB0"/>
                </a:solidFill>
                <a:latin typeface="Public Sans" pitchFamily="34" charset="0"/>
                <a:ea typeface="Public Sans" pitchFamily="34" charset="-122"/>
                <a:cs typeface="Public Sans" pitchFamily="34" charset="-120"/>
              </a:rPr>
              <a:t>DAY 4</a:t>
            </a:r>
            <a:endParaRPr lang="en-US" sz="1200" dirty="0"/>
          </a:p>
          <a:p>
            <a:pPr marL="0" indent="0" algn="l">
              <a:lnSpc>
                <a:spcPts val="1560"/>
              </a:lnSpc>
              <a:buNone/>
            </a:pPr>
            <a:r>
              <a:rPr lang="en-US" sz="1200" b="1" kern="0" spc="50" dirty="0">
                <a:solidFill>
                  <a:srgbClr val="2A2FB0"/>
                </a:solidFill>
                <a:latin typeface="Public Sans" pitchFamily="34" charset="0"/>
                <a:ea typeface="Public Sans" pitchFamily="34" charset="-122"/>
                <a:cs typeface="Public Sans" pitchFamily="34" charset="-120"/>
              </a:rPr>
              <a:t>SUN 15 AUG</a:t>
            </a:r>
            <a:endParaRPr lang="en-US" sz="1200" dirty="0"/>
          </a:p>
        </p:txBody>
      </p:sp>
      <p:sp>
        <p:nvSpPr>
          <p:cNvPr id="18" name="Text 16"/>
          <p:cNvSpPr/>
          <p:nvPr/>
        </p:nvSpPr>
        <p:spPr>
          <a:xfrm>
            <a:off x="2051050" y="4402187"/>
            <a:ext cx="3505708"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00084"/>
                </a:solidFill>
                <a:latin typeface="Public Sans" pitchFamily="34" charset="0"/>
                <a:ea typeface="Public Sans" pitchFamily="34" charset="-122"/>
                <a:cs typeface="Public Sans" pitchFamily="34" charset="-120"/>
              </a:rPr>
              <a:t>Tombstone Territorial Park</a:t>
            </a:r>
            <a:endParaRPr lang="en-US" sz="1500" dirty="0"/>
          </a:p>
        </p:txBody>
      </p:sp>
      <p:sp>
        <p:nvSpPr>
          <p:cNvPr id="19" name="Text 17"/>
          <p:cNvSpPr/>
          <p:nvPr/>
        </p:nvSpPr>
        <p:spPr>
          <a:xfrm>
            <a:off x="2051050" y="4656187"/>
            <a:ext cx="3505708" cy="43686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75569"/>
                </a:solidFill>
                <a:latin typeface="Public Sans" pitchFamily="34" charset="0"/>
                <a:ea typeface="Public Sans" pitchFamily="34" charset="-122"/>
                <a:cs typeface="Public Sans" pitchFamily="34" charset="-120"/>
              </a:rPr>
              <a:t>Full-day tour up the Dempster Highway with a guided hike (pin 8)</a:t>
            </a:r>
            <a:endParaRPr lang="en-US" sz="1200" dirty="0"/>
          </a:p>
        </p:txBody>
      </p:sp>
      <p:sp>
        <p:nvSpPr>
          <p:cNvPr id="20" name="Shape 18"/>
          <p:cNvSpPr/>
          <p:nvPr/>
        </p:nvSpPr>
        <p:spPr>
          <a:xfrm>
            <a:off x="815975" y="5267672"/>
            <a:ext cx="4794250" cy="875010"/>
          </a:xfrm>
          <a:prstGeom prst="roundRect">
            <a:avLst>
              <a:gd name="adj" fmla="val 8346"/>
            </a:avLst>
          </a:prstGeom>
          <a:solidFill>
            <a:srgbClr val="FBFCFE"/>
          </a:solidFill>
          <a:ln w="6350">
            <a:solidFill>
              <a:srgbClr val="D9DBEE"/>
            </a:solidFill>
            <a:prstDash val="solid"/>
          </a:ln>
        </p:spPr>
        <p:txBody>
          <a:bodyPr/>
          <a:lstStyle/>
          <a:p>
            <a:endParaRPr lang="tr-TR"/>
          </a:p>
        </p:txBody>
      </p:sp>
      <p:sp>
        <p:nvSpPr>
          <p:cNvPr id="21" name="Text 19"/>
          <p:cNvSpPr/>
          <p:nvPr/>
        </p:nvSpPr>
        <p:spPr>
          <a:xfrm>
            <a:off x="971550" y="5408017"/>
            <a:ext cx="1003300" cy="619671"/>
          </a:xfrm>
          <a:prstGeom prst="rect">
            <a:avLst/>
          </a:prstGeom>
          <a:noFill/>
          <a:ln/>
        </p:spPr>
        <p:txBody>
          <a:bodyPr wrap="square" lIns="0" tIns="0" rIns="0" bIns="0" rtlCol="0" anchor="t">
            <a:normAutofit/>
          </a:bodyPr>
          <a:lstStyle/>
          <a:p>
            <a:pPr marL="0" indent="0" algn="l">
              <a:lnSpc>
                <a:spcPts val="1560"/>
              </a:lnSpc>
              <a:buNone/>
            </a:pPr>
            <a:r>
              <a:rPr lang="en-US" sz="1200" b="1" kern="0" spc="50" dirty="0">
                <a:solidFill>
                  <a:srgbClr val="2A2FB0"/>
                </a:solidFill>
                <a:latin typeface="Public Sans" pitchFamily="34" charset="0"/>
                <a:ea typeface="Public Sans" pitchFamily="34" charset="-122"/>
                <a:cs typeface="Public Sans" pitchFamily="34" charset="-120"/>
              </a:rPr>
              <a:t>DAY 5</a:t>
            </a:r>
            <a:endParaRPr lang="en-US" sz="1200" dirty="0"/>
          </a:p>
          <a:p>
            <a:pPr marL="0" indent="0" algn="l">
              <a:lnSpc>
                <a:spcPts val="1560"/>
              </a:lnSpc>
              <a:buNone/>
            </a:pPr>
            <a:r>
              <a:rPr lang="en-US" sz="1200" b="1" kern="0" spc="50" dirty="0">
                <a:solidFill>
                  <a:srgbClr val="2A2FB0"/>
                </a:solidFill>
                <a:latin typeface="Public Sans" pitchFamily="34" charset="0"/>
                <a:ea typeface="Public Sans" pitchFamily="34" charset="-122"/>
                <a:cs typeface="Public Sans" pitchFamily="34" charset="-120"/>
              </a:rPr>
              <a:t>MON 16 AUG</a:t>
            </a:r>
            <a:endParaRPr lang="en-US" sz="1200" dirty="0"/>
          </a:p>
        </p:txBody>
      </p:sp>
      <p:sp>
        <p:nvSpPr>
          <p:cNvPr id="22" name="Text 20"/>
          <p:cNvSpPr/>
          <p:nvPr/>
        </p:nvSpPr>
        <p:spPr>
          <a:xfrm>
            <a:off x="2051050" y="5372447"/>
            <a:ext cx="3505708"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00084"/>
                </a:solidFill>
                <a:latin typeface="Public Sans" pitchFamily="34" charset="0"/>
                <a:ea typeface="Public Sans" pitchFamily="34" charset="-122"/>
                <a:cs typeface="Public Sans" pitchFamily="34" charset="-120"/>
              </a:rPr>
              <a:t>River Stories and Departure</a:t>
            </a:r>
            <a:endParaRPr lang="en-US" sz="1500" dirty="0"/>
          </a:p>
        </p:txBody>
      </p:sp>
      <p:sp>
        <p:nvSpPr>
          <p:cNvPr id="23" name="Text 21"/>
          <p:cNvSpPr/>
          <p:nvPr/>
        </p:nvSpPr>
        <p:spPr>
          <a:xfrm>
            <a:off x="2051050" y="5626447"/>
            <a:ext cx="3505708" cy="43686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75569"/>
                </a:solidFill>
                <a:latin typeface="Public Sans" pitchFamily="34" charset="0"/>
                <a:ea typeface="Public Sans" pitchFamily="34" charset="-122"/>
                <a:cs typeface="Public Sans" pitchFamily="34" charset="-120"/>
              </a:rPr>
              <a:t>S.S. Keno, free ferry, Sternwheeler Graveyard, flight home (pins 6, 7)</a:t>
            </a:r>
            <a:endParaRPr lang="en-US" sz="1200" dirty="0"/>
          </a:p>
        </p:txBody>
      </p:sp>
      <p:sp>
        <p:nvSpPr>
          <p:cNvPr id="24" name="Shape 22"/>
          <p:cNvSpPr/>
          <p:nvPr/>
        </p:nvSpPr>
        <p:spPr>
          <a:xfrm>
            <a:off x="5921375" y="1862832"/>
            <a:ext cx="5454650" cy="3803650"/>
          </a:xfrm>
          <a:prstGeom prst="roundRect">
            <a:avLst>
              <a:gd name="adj" fmla="val 2588"/>
            </a:avLst>
          </a:prstGeom>
          <a:noFill/>
          <a:ln w="6350">
            <a:solidFill>
              <a:srgbClr val="D9DBEE"/>
            </a:solidFill>
            <a:prstDash val="solid"/>
          </a:ln>
        </p:spPr>
        <p:txBody>
          <a:bodyPr/>
          <a:lstStyle/>
          <a:p>
            <a:endParaRPr lang="tr-TR"/>
          </a:p>
        </p:txBody>
      </p:sp>
      <p:pic>
        <p:nvPicPr>
          <p:cNvPr id="25" name="Image 0" descr="Schematic map of Dawson City with the places in the five-day plan"/>
          <p:cNvPicPr>
            <a:picLocks noChangeAspect="1"/>
          </p:cNvPicPr>
          <p:nvPr/>
        </p:nvPicPr>
        <p:blipFill>
          <a:blip r:embed="rId3"/>
          <a:srcRect l="-167" r="-167"/>
          <a:stretch/>
        </p:blipFill>
        <p:spPr>
          <a:xfrm>
            <a:off x="5924550" y="1866007"/>
            <a:ext cx="5461000" cy="3797300"/>
          </a:xfrm>
          <a:custGeom>
            <a:avLst/>
            <a:gdLst/>
            <a:ahLst/>
            <a:cxnLst/>
            <a:rect l="l" t="t" r="r" b="b"/>
            <a:pathLst>
              <a:path w="5461000" h="3797300">
                <a:moveTo>
                  <a:pt x="0" y="95250"/>
                </a:moveTo>
                <a:arcTo wR="95250" hR="95250" stAng="10800000" swAng="5400000"/>
                <a:lnTo>
                  <a:pt x="5461000" y="0"/>
                </a:lnTo>
                <a:lnTo>
                  <a:pt x="5461000" y="3797300"/>
                </a:lnTo>
                <a:lnTo>
                  <a:pt x="95250" y="3797300"/>
                </a:lnTo>
                <a:arcTo wR="95250" hR="95250" stAng="5400000" swAng="5400000"/>
                <a:close/>
              </a:path>
            </a:pathLst>
          </a:custGeom>
        </p:spPr>
      </p:pic>
      <p:sp>
        <p:nvSpPr>
          <p:cNvPr id="26" name="Text 23"/>
          <p:cNvSpPr/>
          <p:nvPr/>
        </p:nvSpPr>
        <p:spPr>
          <a:xfrm>
            <a:off x="10972800" y="1885057"/>
            <a:ext cx="203200" cy="23872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000084"/>
                </a:solidFill>
                <a:latin typeface="Public Sans" pitchFamily="34" charset="0"/>
                <a:ea typeface="Public Sans" pitchFamily="34" charset="-122"/>
                <a:cs typeface="Public Sans" pitchFamily="34" charset="-120"/>
              </a:rPr>
              <a:t>N</a:t>
            </a:r>
            <a:endParaRPr lang="en-US" sz="1200" dirty="0"/>
          </a:p>
        </p:txBody>
      </p:sp>
      <p:sp>
        <p:nvSpPr>
          <p:cNvPr id="27" name="Text 24"/>
          <p:cNvSpPr/>
          <p:nvPr/>
        </p:nvSpPr>
        <p:spPr>
          <a:xfrm>
            <a:off x="6019800" y="1948557"/>
            <a:ext cx="13208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B7A"/>
                </a:solidFill>
                <a:latin typeface="Public Sans" pitchFamily="34" charset="0"/>
                <a:ea typeface="Public Sans" pitchFamily="34" charset="-122"/>
                <a:cs typeface="Public Sans" pitchFamily="34" charset="-120"/>
              </a:rPr>
              <a:t>Not to scale</a:t>
            </a:r>
            <a:endParaRPr lang="en-US" sz="1200" dirty="0"/>
          </a:p>
        </p:txBody>
      </p:sp>
      <p:sp>
        <p:nvSpPr>
          <p:cNvPr id="28" name="Text 25"/>
          <p:cNvSpPr/>
          <p:nvPr/>
        </p:nvSpPr>
        <p:spPr>
          <a:xfrm>
            <a:off x="7721600" y="2113657"/>
            <a:ext cx="9398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00084"/>
                </a:solidFill>
                <a:latin typeface="Public Sans" pitchFamily="34" charset="0"/>
                <a:ea typeface="Public Sans" pitchFamily="34" charset="-122"/>
                <a:cs typeface="Public Sans" pitchFamily="34" charset="-120"/>
              </a:rPr>
              <a:t>Moosehide</a:t>
            </a:r>
            <a:endParaRPr lang="en-US" sz="1200" dirty="0"/>
          </a:p>
        </p:txBody>
      </p:sp>
      <p:sp>
        <p:nvSpPr>
          <p:cNvPr id="29" name="Text 26"/>
          <p:cNvSpPr/>
          <p:nvPr/>
        </p:nvSpPr>
        <p:spPr>
          <a:xfrm>
            <a:off x="9626600" y="2405757"/>
            <a:ext cx="1638300" cy="43686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000084"/>
                </a:solidFill>
                <a:latin typeface="Public Sans" pitchFamily="34" charset="0"/>
                <a:ea typeface="Public Sans" pitchFamily="34" charset="-122"/>
                <a:cs typeface="Public Sans" pitchFamily="34" charset="-120"/>
              </a:rPr>
              <a:t>Midnight Dome</a:t>
            </a:r>
            <a:endParaRPr lang="en-US" sz="1200" dirty="0"/>
          </a:p>
          <a:p>
            <a:pPr marL="0" indent="0" algn="l">
              <a:lnSpc>
                <a:spcPts val="1620"/>
              </a:lnSpc>
              <a:buNone/>
            </a:pPr>
            <a:r>
              <a:rPr lang="en-US" sz="1200" b="1" dirty="0">
                <a:solidFill>
                  <a:srgbClr val="000084"/>
                </a:solidFill>
                <a:latin typeface="Public Sans" pitchFamily="34" charset="0"/>
                <a:ea typeface="Public Sans" pitchFamily="34" charset="-122"/>
                <a:cs typeface="Public Sans" pitchFamily="34" charset="-120"/>
              </a:rPr>
              <a:t>880 m</a:t>
            </a:r>
            <a:endParaRPr lang="en-US" sz="1200" dirty="0"/>
          </a:p>
        </p:txBody>
      </p:sp>
      <p:sp>
        <p:nvSpPr>
          <p:cNvPr id="30" name="Text 27"/>
          <p:cNvSpPr/>
          <p:nvPr/>
        </p:nvSpPr>
        <p:spPr>
          <a:xfrm>
            <a:off x="5994400" y="2520057"/>
            <a:ext cx="1638300" cy="43686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000084"/>
                </a:solidFill>
                <a:latin typeface="Public Sans" pitchFamily="34" charset="0"/>
                <a:ea typeface="Public Sans" pitchFamily="34" charset="-122"/>
                <a:cs typeface="Public Sans" pitchFamily="34" charset="-120"/>
              </a:rPr>
              <a:t>Sternwheeler Graveyard</a:t>
            </a:r>
            <a:endParaRPr lang="en-US" sz="1200" dirty="0"/>
          </a:p>
        </p:txBody>
      </p:sp>
      <p:sp>
        <p:nvSpPr>
          <p:cNvPr id="31" name="Text 28"/>
          <p:cNvSpPr/>
          <p:nvPr/>
        </p:nvSpPr>
        <p:spPr>
          <a:xfrm>
            <a:off x="8026400" y="3066157"/>
            <a:ext cx="11303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00084"/>
                </a:solidFill>
                <a:latin typeface="Public Sans" pitchFamily="34" charset="0"/>
                <a:ea typeface="Public Sans" pitchFamily="34" charset="-122"/>
                <a:cs typeface="Public Sans" pitchFamily="34" charset="-120"/>
              </a:rPr>
              <a:t>Dawson City</a:t>
            </a:r>
            <a:endParaRPr lang="en-US" sz="1200" dirty="0"/>
          </a:p>
        </p:txBody>
      </p:sp>
      <p:sp>
        <p:nvSpPr>
          <p:cNvPr id="32" name="Text 29"/>
          <p:cNvSpPr/>
          <p:nvPr/>
        </p:nvSpPr>
        <p:spPr>
          <a:xfrm>
            <a:off x="5969000" y="3269357"/>
            <a:ext cx="8763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00084"/>
                </a:solidFill>
                <a:latin typeface="Public Sans" pitchFamily="34" charset="0"/>
                <a:ea typeface="Public Sans" pitchFamily="34" charset="-122"/>
                <a:cs typeface="Public Sans" pitchFamily="34" charset="-120"/>
              </a:rPr>
              <a:t>to Alaska</a:t>
            </a:r>
            <a:endParaRPr lang="en-US" sz="1200" dirty="0"/>
          </a:p>
        </p:txBody>
      </p:sp>
      <p:sp>
        <p:nvSpPr>
          <p:cNvPr id="33" name="Text 30"/>
          <p:cNvSpPr/>
          <p:nvPr/>
        </p:nvSpPr>
        <p:spPr>
          <a:xfrm>
            <a:off x="9296400" y="3383657"/>
            <a:ext cx="1701800" cy="436860"/>
          </a:xfrm>
          <a:prstGeom prst="rect">
            <a:avLst/>
          </a:prstGeom>
          <a:noFill/>
          <a:ln/>
        </p:spPr>
        <p:txBody>
          <a:bodyPr wrap="square" lIns="0" tIns="0" rIns="0" bIns="0" rtlCol="0" anchor="t">
            <a:normAutofit/>
          </a:bodyPr>
          <a:lstStyle/>
          <a:p>
            <a:pPr marL="0" indent="0" algn="r">
              <a:lnSpc>
                <a:spcPts val="1620"/>
              </a:lnSpc>
              <a:buNone/>
            </a:pPr>
            <a:r>
              <a:rPr lang="en-US" sz="1200" b="1" dirty="0">
                <a:solidFill>
                  <a:srgbClr val="000084"/>
                </a:solidFill>
                <a:latin typeface="Public Sans" pitchFamily="34" charset="0"/>
                <a:ea typeface="Public Sans" pitchFamily="34" charset="-122"/>
                <a:cs typeface="Public Sans" pitchFamily="34" charset="-120"/>
              </a:rPr>
              <a:t>Tombstone Park</a:t>
            </a:r>
            <a:endParaRPr lang="en-US" sz="1200" dirty="0"/>
          </a:p>
          <a:p>
            <a:pPr marL="0" indent="0" algn="r">
              <a:lnSpc>
                <a:spcPts val="1620"/>
              </a:lnSpc>
              <a:buNone/>
            </a:pPr>
            <a:r>
              <a:rPr lang="en-US" sz="1200" b="1" dirty="0">
                <a:solidFill>
                  <a:srgbClr val="000084"/>
                </a:solidFill>
                <a:latin typeface="Public Sans" pitchFamily="34" charset="0"/>
                <a:ea typeface="Public Sans" pitchFamily="34" charset="-122"/>
                <a:cs typeface="Public Sans" pitchFamily="34" charset="-120"/>
              </a:rPr>
              <a:t>110 km</a:t>
            </a:r>
            <a:endParaRPr lang="en-US" sz="1200" dirty="0"/>
          </a:p>
        </p:txBody>
      </p:sp>
      <p:sp>
        <p:nvSpPr>
          <p:cNvPr id="34" name="Text 31"/>
          <p:cNvSpPr/>
          <p:nvPr/>
        </p:nvSpPr>
        <p:spPr>
          <a:xfrm>
            <a:off x="5994400" y="3713857"/>
            <a:ext cx="1320800" cy="43686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2F6F7E"/>
                </a:solidFill>
                <a:latin typeface="Public Sans" pitchFamily="34" charset="0"/>
                <a:ea typeface="Public Sans" pitchFamily="34" charset="-122"/>
                <a:cs typeface="Public Sans" pitchFamily="34" charset="-120"/>
              </a:rPr>
              <a:t>George Black</a:t>
            </a:r>
            <a:endParaRPr lang="en-US" sz="1200" dirty="0"/>
          </a:p>
          <a:p>
            <a:pPr marL="0" indent="0" algn="l">
              <a:lnSpc>
                <a:spcPts val="1620"/>
              </a:lnSpc>
              <a:buNone/>
            </a:pPr>
            <a:r>
              <a:rPr lang="en-US" sz="1200" b="1" dirty="0">
                <a:solidFill>
                  <a:srgbClr val="2F6F7E"/>
                </a:solidFill>
                <a:latin typeface="Public Sans" pitchFamily="34" charset="0"/>
                <a:ea typeface="Public Sans" pitchFamily="34" charset="-122"/>
                <a:cs typeface="Public Sans" pitchFamily="34" charset="-120"/>
              </a:rPr>
              <a:t>Ferry (free)</a:t>
            </a:r>
            <a:endParaRPr lang="en-US" sz="1200" dirty="0"/>
          </a:p>
        </p:txBody>
      </p:sp>
      <p:sp>
        <p:nvSpPr>
          <p:cNvPr id="35" name="Text 32"/>
          <p:cNvSpPr/>
          <p:nvPr/>
        </p:nvSpPr>
        <p:spPr>
          <a:xfrm>
            <a:off x="8407400" y="3993257"/>
            <a:ext cx="1384300" cy="238720"/>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000084"/>
                </a:solidFill>
                <a:latin typeface="Public Sans" pitchFamily="34" charset="0"/>
                <a:ea typeface="Public Sans" pitchFamily="34" charset="-122"/>
                <a:cs typeface="Public Sans" pitchFamily="34" charset="-120"/>
              </a:rPr>
              <a:t>Airport · 15 km</a:t>
            </a:r>
            <a:endParaRPr lang="en-US" sz="1200" dirty="0"/>
          </a:p>
        </p:txBody>
      </p:sp>
      <p:sp>
        <p:nvSpPr>
          <p:cNvPr id="36" name="Text 33"/>
          <p:cNvSpPr/>
          <p:nvPr/>
        </p:nvSpPr>
        <p:spPr>
          <a:xfrm rot="17880000">
            <a:off x="6296938" y="4623203"/>
            <a:ext cx="1066800" cy="241300"/>
          </a:xfrm>
          <a:prstGeom prst="rect">
            <a:avLst/>
          </a:prstGeom>
          <a:noFill/>
          <a:ln/>
        </p:spPr>
        <p:txBody>
          <a:bodyPr wrap="square" lIns="0" tIns="0" rIns="0" bIns="0" rtlCol="0" anchor="t">
            <a:normAutofit/>
          </a:bodyPr>
          <a:lstStyle/>
          <a:p>
            <a:pPr marL="0" indent="0" algn="l">
              <a:lnSpc>
                <a:spcPts val="1680"/>
              </a:lnSpc>
              <a:buNone/>
            </a:pPr>
            <a:r>
              <a:rPr lang="en-US" sz="1200" i="1" dirty="0">
                <a:solidFill>
                  <a:srgbClr val="000084"/>
                </a:solidFill>
                <a:latin typeface="Public Sans" pitchFamily="34" charset="0"/>
                <a:ea typeface="Public Sans" pitchFamily="34" charset="-122"/>
                <a:cs typeface="Public Sans" pitchFamily="34" charset="-120"/>
              </a:rPr>
              <a:t>Yukon River</a:t>
            </a:r>
            <a:endParaRPr lang="en-US" sz="1200" dirty="0"/>
          </a:p>
        </p:txBody>
      </p:sp>
      <p:sp>
        <p:nvSpPr>
          <p:cNvPr id="37" name="Text 34"/>
          <p:cNvSpPr/>
          <p:nvPr/>
        </p:nvSpPr>
        <p:spPr>
          <a:xfrm>
            <a:off x="10439400" y="5021957"/>
            <a:ext cx="990600" cy="421580"/>
          </a:xfrm>
          <a:prstGeom prst="rect">
            <a:avLst/>
          </a:prstGeom>
          <a:noFill/>
          <a:ln/>
        </p:spPr>
        <p:txBody>
          <a:bodyPr wrap="square" lIns="0" tIns="0" rIns="0" bIns="0" rtlCol="0" anchor="t">
            <a:normAutofit/>
          </a:bodyPr>
          <a:lstStyle/>
          <a:p>
            <a:pPr marL="0" indent="0" algn="l">
              <a:lnSpc>
                <a:spcPts val="1560"/>
              </a:lnSpc>
              <a:buNone/>
            </a:pPr>
            <a:r>
              <a:rPr lang="en-US" sz="1200" i="1" dirty="0">
                <a:solidFill>
                  <a:srgbClr val="000084"/>
                </a:solidFill>
                <a:latin typeface="Public Sans" pitchFamily="34" charset="0"/>
                <a:ea typeface="Public Sans" pitchFamily="34" charset="-122"/>
                <a:cs typeface="Public Sans" pitchFamily="34" charset="-120"/>
              </a:rPr>
              <a:t>Klondike River</a:t>
            </a:r>
            <a:endParaRPr lang="en-US" sz="1200" dirty="0"/>
          </a:p>
        </p:txBody>
      </p:sp>
      <p:sp>
        <p:nvSpPr>
          <p:cNvPr id="38" name="Text 35"/>
          <p:cNvSpPr/>
          <p:nvPr/>
        </p:nvSpPr>
        <p:spPr>
          <a:xfrm>
            <a:off x="7747000" y="4844157"/>
            <a:ext cx="876300" cy="436860"/>
          </a:xfrm>
          <a:prstGeom prst="rect">
            <a:avLst/>
          </a:prstGeom>
          <a:noFill/>
          <a:ln/>
        </p:spPr>
        <p:txBody>
          <a:bodyPr wrap="square" lIns="0" tIns="0" rIns="0" bIns="0" rtlCol="0" anchor="t">
            <a:normAutofit/>
          </a:bodyPr>
          <a:lstStyle/>
          <a:p>
            <a:pPr marL="0" indent="0" algn="r">
              <a:lnSpc>
                <a:spcPts val="1620"/>
              </a:lnSpc>
              <a:buNone/>
            </a:pPr>
            <a:r>
              <a:rPr lang="en-US" sz="1200" i="1" dirty="0">
                <a:solidFill>
                  <a:srgbClr val="000084"/>
                </a:solidFill>
                <a:latin typeface="Public Sans" pitchFamily="34" charset="0"/>
                <a:ea typeface="Public Sans" pitchFamily="34" charset="-122"/>
                <a:cs typeface="Public Sans" pitchFamily="34" charset="-120"/>
              </a:rPr>
              <a:t>Bonanza Creek</a:t>
            </a:r>
            <a:endParaRPr lang="en-US" sz="1200" dirty="0"/>
          </a:p>
        </p:txBody>
      </p:sp>
      <p:sp>
        <p:nvSpPr>
          <p:cNvPr id="39" name="Text 36"/>
          <p:cNvSpPr/>
          <p:nvPr/>
        </p:nvSpPr>
        <p:spPr>
          <a:xfrm>
            <a:off x="9029700" y="4691757"/>
            <a:ext cx="222377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00084"/>
                </a:solidFill>
                <a:latin typeface="Public Sans" pitchFamily="34" charset="0"/>
                <a:ea typeface="Public Sans" pitchFamily="34" charset="-122"/>
                <a:cs typeface="Public Sans" pitchFamily="34" charset="-120"/>
              </a:rPr>
              <a:t>Claim 33 · gold panning</a:t>
            </a:r>
            <a:endParaRPr lang="en-US" sz="1200" dirty="0"/>
          </a:p>
        </p:txBody>
      </p:sp>
      <p:sp>
        <p:nvSpPr>
          <p:cNvPr id="40" name="Text 37"/>
          <p:cNvSpPr/>
          <p:nvPr/>
        </p:nvSpPr>
        <p:spPr>
          <a:xfrm>
            <a:off x="9131300" y="5034657"/>
            <a:ext cx="13208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00084"/>
                </a:solidFill>
                <a:latin typeface="Public Sans" pitchFamily="34" charset="0"/>
                <a:ea typeface="Public Sans" pitchFamily="34" charset="-122"/>
                <a:cs typeface="Public Sans" pitchFamily="34" charset="-120"/>
              </a:rPr>
              <a:t>Dredge No. 4</a:t>
            </a:r>
            <a:endParaRPr lang="en-US" sz="1200" dirty="0"/>
          </a:p>
        </p:txBody>
      </p:sp>
      <p:sp>
        <p:nvSpPr>
          <p:cNvPr id="41" name="Text 38"/>
          <p:cNvSpPr/>
          <p:nvPr/>
        </p:nvSpPr>
        <p:spPr>
          <a:xfrm>
            <a:off x="9220200" y="5377557"/>
            <a:ext cx="14478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00084"/>
                </a:solidFill>
                <a:latin typeface="Public Sans" pitchFamily="34" charset="0"/>
                <a:ea typeface="Public Sans" pitchFamily="34" charset="-122"/>
                <a:cs typeface="Public Sans" pitchFamily="34" charset="-120"/>
              </a:rPr>
              <a:t>Discovery Claim</a:t>
            </a:r>
            <a:endParaRPr lang="en-US" sz="1200" dirty="0"/>
          </a:p>
        </p:txBody>
      </p:sp>
      <p:sp>
        <p:nvSpPr>
          <p:cNvPr id="42" name="Text 39"/>
          <p:cNvSpPr/>
          <p:nvPr/>
        </p:nvSpPr>
        <p:spPr>
          <a:xfrm>
            <a:off x="7721600" y="3040757"/>
            <a:ext cx="254000" cy="254496"/>
          </a:xfrm>
          <a:custGeom>
            <a:avLst/>
            <a:gdLst/>
            <a:ahLst/>
            <a:cxnLst/>
            <a:rect l="l" t="t" r="r" b="b"/>
            <a:pathLst>
              <a:path w="254000" h="254496">
                <a:moveTo>
                  <a:pt x="127000" y="0"/>
                </a:moveTo>
                <a:lnTo>
                  <a:pt x="127000" y="0"/>
                </a:lnTo>
                <a:arcTo wR="127000" hR="127000" stAng="16200000" swAng="5400000"/>
                <a:lnTo>
                  <a:pt x="254000" y="127496"/>
                </a:lnTo>
                <a:arcTo wR="127000" hR="127000" stAng="0" swAng="5400000"/>
                <a:lnTo>
                  <a:pt x="127000" y="254496"/>
                </a:lnTo>
                <a:arcTo wR="127000" hR="127000" stAng="5400000" swAng="5400000"/>
                <a:lnTo>
                  <a:pt x="0" y="127000"/>
                </a:lnTo>
                <a:arcTo wR="127000" hR="127000" stAng="10800000" swAng="5400000"/>
                <a:close/>
              </a:path>
            </a:pathLst>
          </a:custGeom>
          <a:solidFill>
            <a:srgbClr val="000084"/>
          </a:solidFill>
          <a:ln/>
        </p:spPr>
        <p:txBody>
          <a:bodyPr wrap="square" lIns="0" tIns="0" rIns="0" bIns="0" rtlCol="0" anchor="t">
            <a:normAutofit/>
          </a:bodyPr>
          <a:lstStyle/>
          <a:p>
            <a:pPr marL="0" indent="0" algn="ctr">
              <a:lnSpc>
                <a:spcPts val="2004"/>
              </a:lnSpc>
              <a:buNone/>
            </a:pPr>
            <a:r>
              <a:rPr lang="en-US" sz="1200" b="1" dirty="0">
                <a:solidFill>
                  <a:srgbClr val="E2B050"/>
                </a:solidFill>
                <a:latin typeface="Public Sans" pitchFamily="34" charset="0"/>
                <a:ea typeface="Public Sans" pitchFamily="34" charset="-122"/>
                <a:cs typeface="Public Sans" pitchFamily="34" charset="-120"/>
              </a:rPr>
              <a:t>1</a:t>
            </a:r>
            <a:endParaRPr lang="en-US" sz="1200" dirty="0"/>
          </a:p>
        </p:txBody>
      </p:sp>
      <p:sp>
        <p:nvSpPr>
          <p:cNvPr id="43" name="Text 40"/>
          <p:cNvSpPr/>
          <p:nvPr/>
        </p:nvSpPr>
        <p:spPr>
          <a:xfrm>
            <a:off x="8718550" y="4672707"/>
            <a:ext cx="254000" cy="254496"/>
          </a:xfrm>
          <a:custGeom>
            <a:avLst/>
            <a:gdLst/>
            <a:ahLst/>
            <a:cxnLst/>
            <a:rect l="l" t="t" r="r" b="b"/>
            <a:pathLst>
              <a:path w="254000" h="254496">
                <a:moveTo>
                  <a:pt x="127000" y="0"/>
                </a:moveTo>
                <a:lnTo>
                  <a:pt x="127000" y="0"/>
                </a:lnTo>
                <a:arcTo wR="127000" hR="127000" stAng="16200000" swAng="5400000"/>
                <a:lnTo>
                  <a:pt x="254000" y="127496"/>
                </a:lnTo>
                <a:arcTo wR="127000" hR="127000" stAng="0" swAng="5400000"/>
                <a:lnTo>
                  <a:pt x="127000" y="254496"/>
                </a:lnTo>
                <a:arcTo wR="127000" hR="127000" stAng="5400000" swAng="5400000"/>
                <a:lnTo>
                  <a:pt x="0" y="127000"/>
                </a:lnTo>
                <a:arcTo wR="127000" hR="127000" stAng="10800000" swAng="5400000"/>
                <a:close/>
              </a:path>
            </a:pathLst>
          </a:custGeom>
          <a:solidFill>
            <a:srgbClr val="000084"/>
          </a:solidFill>
          <a:ln/>
        </p:spPr>
        <p:txBody>
          <a:bodyPr wrap="square" lIns="0" tIns="0" rIns="0" bIns="0" rtlCol="0" anchor="t">
            <a:normAutofit/>
          </a:bodyPr>
          <a:lstStyle/>
          <a:p>
            <a:pPr marL="0" indent="0" algn="ctr">
              <a:lnSpc>
                <a:spcPts val="2004"/>
              </a:lnSpc>
              <a:buNone/>
            </a:pPr>
            <a:r>
              <a:rPr lang="en-US" sz="1200" b="1" dirty="0">
                <a:solidFill>
                  <a:srgbClr val="E2B050"/>
                </a:solidFill>
                <a:latin typeface="Public Sans" pitchFamily="34" charset="0"/>
                <a:ea typeface="Public Sans" pitchFamily="34" charset="-122"/>
                <a:cs typeface="Public Sans" pitchFamily="34" charset="-120"/>
              </a:rPr>
              <a:t>2</a:t>
            </a:r>
            <a:endParaRPr lang="en-US" sz="1200" dirty="0"/>
          </a:p>
        </p:txBody>
      </p:sp>
      <p:sp>
        <p:nvSpPr>
          <p:cNvPr id="44" name="Text 41"/>
          <p:cNvSpPr/>
          <p:nvPr/>
        </p:nvSpPr>
        <p:spPr>
          <a:xfrm>
            <a:off x="8820150" y="5015607"/>
            <a:ext cx="254000" cy="254496"/>
          </a:xfrm>
          <a:custGeom>
            <a:avLst/>
            <a:gdLst/>
            <a:ahLst/>
            <a:cxnLst/>
            <a:rect l="l" t="t" r="r" b="b"/>
            <a:pathLst>
              <a:path w="254000" h="254496">
                <a:moveTo>
                  <a:pt x="127000" y="0"/>
                </a:moveTo>
                <a:lnTo>
                  <a:pt x="127000" y="0"/>
                </a:lnTo>
                <a:arcTo wR="127000" hR="127000" stAng="16200000" swAng="5400000"/>
                <a:lnTo>
                  <a:pt x="254000" y="127496"/>
                </a:lnTo>
                <a:arcTo wR="127000" hR="127000" stAng="0" swAng="5400000"/>
                <a:lnTo>
                  <a:pt x="127000" y="254496"/>
                </a:lnTo>
                <a:arcTo wR="127000" hR="127000" stAng="5400000" swAng="5400000"/>
                <a:lnTo>
                  <a:pt x="0" y="127000"/>
                </a:lnTo>
                <a:arcTo wR="127000" hR="127000" stAng="10800000" swAng="5400000"/>
                <a:close/>
              </a:path>
            </a:pathLst>
          </a:custGeom>
          <a:solidFill>
            <a:srgbClr val="000084"/>
          </a:solidFill>
          <a:ln/>
        </p:spPr>
        <p:txBody>
          <a:bodyPr wrap="square" lIns="0" tIns="0" rIns="0" bIns="0" rtlCol="0" anchor="t">
            <a:normAutofit/>
          </a:bodyPr>
          <a:lstStyle/>
          <a:p>
            <a:pPr marL="0" indent="0" algn="ctr">
              <a:lnSpc>
                <a:spcPts val="2004"/>
              </a:lnSpc>
              <a:buNone/>
            </a:pPr>
            <a:r>
              <a:rPr lang="en-US" sz="1200" b="1" dirty="0">
                <a:solidFill>
                  <a:srgbClr val="E2B050"/>
                </a:solidFill>
                <a:latin typeface="Public Sans" pitchFamily="34" charset="0"/>
                <a:ea typeface="Public Sans" pitchFamily="34" charset="-122"/>
                <a:cs typeface="Public Sans" pitchFamily="34" charset="-120"/>
              </a:rPr>
              <a:t>3</a:t>
            </a:r>
            <a:endParaRPr lang="en-US" sz="1200" dirty="0"/>
          </a:p>
        </p:txBody>
      </p:sp>
      <p:sp>
        <p:nvSpPr>
          <p:cNvPr id="45" name="Text 42"/>
          <p:cNvSpPr/>
          <p:nvPr/>
        </p:nvSpPr>
        <p:spPr>
          <a:xfrm>
            <a:off x="8915400" y="5358507"/>
            <a:ext cx="254000" cy="254496"/>
          </a:xfrm>
          <a:custGeom>
            <a:avLst/>
            <a:gdLst/>
            <a:ahLst/>
            <a:cxnLst/>
            <a:rect l="l" t="t" r="r" b="b"/>
            <a:pathLst>
              <a:path w="254000" h="254496">
                <a:moveTo>
                  <a:pt x="127000" y="0"/>
                </a:moveTo>
                <a:lnTo>
                  <a:pt x="127000" y="0"/>
                </a:lnTo>
                <a:arcTo wR="127000" hR="127000" stAng="16200000" swAng="5400000"/>
                <a:lnTo>
                  <a:pt x="254000" y="127496"/>
                </a:lnTo>
                <a:arcTo wR="127000" hR="127000" stAng="0" swAng="5400000"/>
                <a:lnTo>
                  <a:pt x="127000" y="254496"/>
                </a:lnTo>
                <a:arcTo wR="127000" hR="127000" stAng="5400000" swAng="5400000"/>
                <a:lnTo>
                  <a:pt x="0" y="127000"/>
                </a:lnTo>
                <a:arcTo wR="127000" hR="127000" stAng="10800000" swAng="5400000"/>
                <a:close/>
              </a:path>
            </a:pathLst>
          </a:custGeom>
          <a:solidFill>
            <a:srgbClr val="000084"/>
          </a:solidFill>
          <a:ln/>
        </p:spPr>
        <p:txBody>
          <a:bodyPr wrap="square" lIns="0" tIns="0" rIns="0" bIns="0" rtlCol="0" anchor="t">
            <a:normAutofit/>
          </a:bodyPr>
          <a:lstStyle/>
          <a:p>
            <a:pPr marL="0" indent="0" algn="ctr">
              <a:lnSpc>
                <a:spcPts val="2004"/>
              </a:lnSpc>
              <a:buNone/>
            </a:pPr>
            <a:r>
              <a:rPr lang="en-US" sz="1200" b="1" dirty="0">
                <a:solidFill>
                  <a:srgbClr val="E2B050"/>
                </a:solidFill>
                <a:latin typeface="Public Sans" pitchFamily="34" charset="0"/>
                <a:ea typeface="Public Sans" pitchFamily="34" charset="-122"/>
                <a:cs typeface="Public Sans" pitchFamily="34" charset="-120"/>
              </a:rPr>
              <a:t>4</a:t>
            </a:r>
            <a:endParaRPr lang="en-US" sz="1200" dirty="0"/>
          </a:p>
        </p:txBody>
      </p:sp>
      <p:sp>
        <p:nvSpPr>
          <p:cNvPr id="46" name="Text 43"/>
          <p:cNvSpPr/>
          <p:nvPr/>
        </p:nvSpPr>
        <p:spPr>
          <a:xfrm>
            <a:off x="8839200" y="2494657"/>
            <a:ext cx="254000" cy="254496"/>
          </a:xfrm>
          <a:custGeom>
            <a:avLst/>
            <a:gdLst/>
            <a:ahLst/>
            <a:cxnLst/>
            <a:rect l="l" t="t" r="r" b="b"/>
            <a:pathLst>
              <a:path w="254000" h="254496">
                <a:moveTo>
                  <a:pt x="127000" y="0"/>
                </a:moveTo>
                <a:lnTo>
                  <a:pt x="127000" y="0"/>
                </a:lnTo>
                <a:arcTo wR="127000" hR="127000" stAng="16200000" swAng="5400000"/>
                <a:lnTo>
                  <a:pt x="254000" y="127496"/>
                </a:lnTo>
                <a:arcTo wR="127000" hR="127000" stAng="0" swAng="5400000"/>
                <a:lnTo>
                  <a:pt x="127000" y="254496"/>
                </a:lnTo>
                <a:arcTo wR="127000" hR="127000" stAng="5400000" swAng="5400000"/>
                <a:lnTo>
                  <a:pt x="0" y="127000"/>
                </a:lnTo>
                <a:arcTo wR="127000" hR="127000" stAng="10800000" swAng="5400000"/>
                <a:close/>
              </a:path>
            </a:pathLst>
          </a:custGeom>
          <a:solidFill>
            <a:srgbClr val="000084"/>
          </a:solidFill>
          <a:ln/>
        </p:spPr>
        <p:txBody>
          <a:bodyPr wrap="square" lIns="0" tIns="0" rIns="0" bIns="0" rtlCol="0" anchor="t">
            <a:normAutofit/>
          </a:bodyPr>
          <a:lstStyle/>
          <a:p>
            <a:pPr marL="0" indent="0" algn="ctr">
              <a:lnSpc>
                <a:spcPts val="2004"/>
              </a:lnSpc>
              <a:buNone/>
            </a:pPr>
            <a:r>
              <a:rPr lang="en-US" sz="1200" b="1" dirty="0">
                <a:solidFill>
                  <a:srgbClr val="E2B050"/>
                </a:solidFill>
                <a:latin typeface="Public Sans" pitchFamily="34" charset="0"/>
                <a:ea typeface="Public Sans" pitchFamily="34" charset="-122"/>
                <a:cs typeface="Public Sans" pitchFamily="34" charset="-120"/>
              </a:rPr>
              <a:t>5</a:t>
            </a:r>
            <a:endParaRPr lang="en-US" sz="1200" dirty="0"/>
          </a:p>
        </p:txBody>
      </p:sp>
      <p:sp>
        <p:nvSpPr>
          <p:cNvPr id="47" name="Text 44"/>
          <p:cNvSpPr/>
          <p:nvPr/>
        </p:nvSpPr>
        <p:spPr>
          <a:xfrm>
            <a:off x="7035800" y="2786757"/>
            <a:ext cx="254000" cy="254496"/>
          </a:xfrm>
          <a:custGeom>
            <a:avLst/>
            <a:gdLst/>
            <a:ahLst/>
            <a:cxnLst/>
            <a:rect l="l" t="t" r="r" b="b"/>
            <a:pathLst>
              <a:path w="254000" h="254496">
                <a:moveTo>
                  <a:pt x="127000" y="0"/>
                </a:moveTo>
                <a:lnTo>
                  <a:pt x="127000" y="0"/>
                </a:lnTo>
                <a:arcTo wR="127000" hR="127000" stAng="16200000" swAng="5400000"/>
                <a:lnTo>
                  <a:pt x="254000" y="127496"/>
                </a:lnTo>
                <a:arcTo wR="127000" hR="127000" stAng="0" swAng="5400000"/>
                <a:lnTo>
                  <a:pt x="127000" y="254496"/>
                </a:lnTo>
                <a:arcTo wR="127000" hR="127000" stAng="5400000" swAng="5400000"/>
                <a:lnTo>
                  <a:pt x="0" y="127000"/>
                </a:lnTo>
                <a:arcTo wR="127000" hR="127000" stAng="10800000" swAng="5400000"/>
                <a:close/>
              </a:path>
            </a:pathLst>
          </a:custGeom>
          <a:solidFill>
            <a:srgbClr val="000084"/>
          </a:solidFill>
          <a:ln/>
        </p:spPr>
        <p:txBody>
          <a:bodyPr wrap="square" lIns="0" tIns="0" rIns="0" bIns="0" rtlCol="0" anchor="t">
            <a:normAutofit/>
          </a:bodyPr>
          <a:lstStyle/>
          <a:p>
            <a:pPr marL="0" indent="0" algn="ctr">
              <a:lnSpc>
                <a:spcPts val="2004"/>
              </a:lnSpc>
              <a:buNone/>
            </a:pPr>
            <a:r>
              <a:rPr lang="en-US" sz="1200" b="1" dirty="0">
                <a:solidFill>
                  <a:srgbClr val="E2B050"/>
                </a:solidFill>
                <a:latin typeface="Public Sans" pitchFamily="34" charset="0"/>
                <a:ea typeface="Public Sans" pitchFamily="34" charset="-122"/>
                <a:cs typeface="Public Sans" pitchFamily="34" charset="-120"/>
              </a:rPr>
              <a:t>6</a:t>
            </a:r>
            <a:endParaRPr lang="en-US" sz="1200" dirty="0"/>
          </a:p>
        </p:txBody>
      </p:sp>
      <p:sp>
        <p:nvSpPr>
          <p:cNvPr id="48" name="Text 45"/>
          <p:cNvSpPr/>
          <p:nvPr/>
        </p:nvSpPr>
        <p:spPr>
          <a:xfrm>
            <a:off x="9918700" y="3955157"/>
            <a:ext cx="254000" cy="254496"/>
          </a:xfrm>
          <a:custGeom>
            <a:avLst/>
            <a:gdLst/>
            <a:ahLst/>
            <a:cxnLst/>
            <a:rect l="l" t="t" r="r" b="b"/>
            <a:pathLst>
              <a:path w="254000" h="254496">
                <a:moveTo>
                  <a:pt x="127000" y="0"/>
                </a:moveTo>
                <a:lnTo>
                  <a:pt x="127000" y="0"/>
                </a:lnTo>
                <a:arcTo wR="127000" hR="127000" stAng="16200000" swAng="5400000"/>
                <a:lnTo>
                  <a:pt x="254000" y="127496"/>
                </a:lnTo>
                <a:arcTo wR="127000" hR="127000" stAng="0" swAng="5400000"/>
                <a:lnTo>
                  <a:pt x="127000" y="254496"/>
                </a:lnTo>
                <a:arcTo wR="127000" hR="127000" stAng="5400000" swAng="5400000"/>
                <a:lnTo>
                  <a:pt x="0" y="127000"/>
                </a:lnTo>
                <a:arcTo wR="127000" hR="127000" stAng="10800000" swAng="5400000"/>
                <a:close/>
              </a:path>
            </a:pathLst>
          </a:custGeom>
          <a:solidFill>
            <a:srgbClr val="000084"/>
          </a:solidFill>
          <a:ln/>
        </p:spPr>
        <p:txBody>
          <a:bodyPr wrap="square" lIns="0" tIns="0" rIns="0" bIns="0" rtlCol="0" anchor="t">
            <a:normAutofit/>
          </a:bodyPr>
          <a:lstStyle/>
          <a:p>
            <a:pPr marL="0" indent="0" algn="ctr">
              <a:lnSpc>
                <a:spcPts val="2004"/>
              </a:lnSpc>
              <a:buNone/>
            </a:pPr>
            <a:r>
              <a:rPr lang="en-US" sz="1200" b="1" dirty="0">
                <a:solidFill>
                  <a:srgbClr val="E2B050"/>
                </a:solidFill>
                <a:latin typeface="Public Sans" pitchFamily="34" charset="0"/>
                <a:ea typeface="Public Sans" pitchFamily="34" charset="-122"/>
                <a:cs typeface="Public Sans" pitchFamily="34" charset="-120"/>
              </a:rPr>
              <a:t>7</a:t>
            </a:r>
            <a:endParaRPr lang="en-US" sz="1200" dirty="0"/>
          </a:p>
        </p:txBody>
      </p:sp>
      <p:sp>
        <p:nvSpPr>
          <p:cNvPr id="49" name="Text 46"/>
          <p:cNvSpPr/>
          <p:nvPr/>
        </p:nvSpPr>
        <p:spPr>
          <a:xfrm>
            <a:off x="11099800" y="3396357"/>
            <a:ext cx="254000" cy="254496"/>
          </a:xfrm>
          <a:custGeom>
            <a:avLst/>
            <a:gdLst/>
            <a:ahLst/>
            <a:cxnLst/>
            <a:rect l="l" t="t" r="r" b="b"/>
            <a:pathLst>
              <a:path w="254000" h="254496">
                <a:moveTo>
                  <a:pt x="127000" y="0"/>
                </a:moveTo>
                <a:lnTo>
                  <a:pt x="127000" y="0"/>
                </a:lnTo>
                <a:arcTo wR="127000" hR="127000" stAng="16200000" swAng="5400000"/>
                <a:lnTo>
                  <a:pt x="254000" y="127496"/>
                </a:lnTo>
                <a:arcTo wR="127000" hR="127000" stAng="0" swAng="5400000"/>
                <a:lnTo>
                  <a:pt x="127000" y="254496"/>
                </a:lnTo>
                <a:arcTo wR="127000" hR="127000" stAng="5400000" swAng="5400000"/>
                <a:lnTo>
                  <a:pt x="0" y="127000"/>
                </a:lnTo>
                <a:arcTo wR="127000" hR="127000" stAng="10800000" swAng="5400000"/>
                <a:close/>
              </a:path>
            </a:pathLst>
          </a:custGeom>
          <a:solidFill>
            <a:srgbClr val="000084"/>
          </a:solidFill>
          <a:ln/>
        </p:spPr>
        <p:txBody>
          <a:bodyPr wrap="square" lIns="0" tIns="0" rIns="0" bIns="0" rtlCol="0" anchor="t">
            <a:normAutofit/>
          </a:bodyPr>
          <a:lstStyle/>
          <a:p>
            <a:pPr marL="0" indent="0" algn="ctr">
              <a:lnSpc>
                <a:spcPts val="2004"/>
              </a:lnSpc>
              <a:buNone/>
            </a:pPr>
            <a:r>
              <a:rPr lang="en-US" sz="1200" b="1" dirty="0">
                <a:solidFill>
                  <a:srgbClr val="E2B050"/>
                </a:solidFill>
                <a:latin typeface="Public Sans" pitchFamily="34" charset="0"/>
                <a:ea typeface="Public Sans" pitchFamily="34" charset="-122"/>
                <a:cs typeface="Public Sans" pitchFamily="34" charset="-120"/>
              </a:rPr>
              <a:t>8</a:t>
            </a:r>
            <a:endParaRPr lang="en-US" sz="1200" dirty="0"/>
          </a:p>
        </p:txBody>
      </p:sp>
      <p:sp>
        <p:nvSpPr>
          <p:cNvPr id="50" name="Text 47"/>
          <p:cNvSpPr/>
          <p:nvPr/>
        </p:nvSpPr>
        <p:spPr>
          <a:xfrm>
            <a:off x="812800" y="6238280"/>
            <a:ext cx="470701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B7A"/>
                </a:solidFill>
                <a:latin typeface="Public Sans" pitchFamily="34" charset="0"/>
                <a:ea typeface="Public Sans" pitchFamily="34" charset="-122"/>
                <a:cs typeface="Public Sans" pitchFamily="34" charset="-120"/>
              </a:rPr>
              <a:t>The Klondike Gold Rush · Pertevniyal High School 159/E</a:t>
            </a:r>
            <a:endParaRPr lang="en-US" sz="1200" dirty="0"/>
          </a:p>
        </p:txBody>
      </p:sp>
      <p:sp>
        <p:nvSpPr>
          <p:cNvPr id="51" name="Text 48"/>
          <p:cNvSpPr/>
          <p:nvPr/>
        </p:nvSpPr>
        <p:spPr>
          <a:xfrm>
            <a:off x="10820400" y="6238280"/>
            <a:ext cx="558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F6B7A"/>
                </a:solidFill>
                <a:latin typeface="Public Sans" pitchFamily="34" charset="0"/>
                <a:ea typeface="Public Sans" pitchFamily="34" charset="-122"/>
                <a:cs typeface="Public Sans"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3F4F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5248"/>
          </a:xfrm>
          <a:prstGeom prst="rect">
            <a:avLst/>
          </a:prstGeom>
          <a:noFill/>
          <a:ln/>
        </p:spPr>
        <p:txBody>
          <a:bodyPr wrap="square" lIns="0" tIns="0" rIns="0" bIns="0" rtlCol="0" anchor="t">
            <a:normAutofit/>
          </a:bodyPr>
          <a:lstStyle/>
          <a:p>
            <a:pPr marL="0" indent="0" algn="l">
              <a:lnSpc>
                <a:spcPts val="1675"/>
              </a:lnSpc>
              <a:buNone/>
            </a:pPr>
            <a:r>
              <a:rPr lang="en-US" sz="1196" b="1" kern="0" spc="150" dirty="0">
                <a:solidFill>
                  <a:srgbClr val="2A2FB0"/>
                </a:solidFill>
                <a:latin typeface="Public Sans" pitchFamily="34" charset="0"/>
                <a:ea typeface="Public Sans" pitchFamily="34" charset="-122"/>
                <a:cs typeface="Public Sans" pitchFamily="34" charset="-120"/>
              </a:rPr>
              <a:t>DAY 1 OF 5 · THURSDAY 12 AUGUST 2027</a:t>
            </a:r>
            <a:endParaRPr lang="en-US" sz="1196" dirty="0"/>
          </a:p>
        </p:txBody>
      </p:sp>
      <p:sp>
        <p:nvSpPr>
          <p:cNvPr id="3" name="Text 1"/>
          <p:cNvSpPr>
            <a:spLocks noGrp="1"/>
          </p:cNvSpPr>
          <p:nvPr>
            <p:ph type="title"/>
          </p:nvPr>
        </p:nvSpPr>
        <p:spPr>
          <a:xfrm>
            <a:off x="812800" y="1098848"/>
            <a:ext cx="10883392" cy="497632"/>
          </a:xfrm>
          <a:prstGeom prst="rect">
            <a:avLst/>
          </a:prstGeom>
          <a:noFill/>
          <a:ln/>
        </p:spPr>
        <p:txBody>
          <a:bodyPr wrap="square" lIns="0" tIns="0" rIns="0" bIns="0" rtlCol="0" anchor="t">
            <a:normAutofit/>
          </a:bodyPr>
          <a:lstStyle/>
          <a:p>
            <a:pPr marL="0" indent="0" algn="l">
              <a:lnSpc>
                <a:spcPts val="3721"/>
              </a:lnSpc>
              <a:buNone/>
            </a:pPr>
            <a:r>
              <a:rPr lang="en-US" sz="3544" b="0" i="0" dirty="0">
                <a:solidFill>
                  <a:srgbClr val="000084"/>
                </a:solidFill>
                <a:latin typeface="Oswald" pitchFamily="34" charset="0"/>
                <a:ea typeface="Oswald" pitchFamily="34" charset="-122"/>
                <a:cs typeface="Oswald" pitchFamily="34" charset="-120"/>
              </a:rPr>
              <a:t>Day 1: Arrival and the Historic Town</a:t>
            </a:r>
            <a:endParaRPr lang="en-US" sz="3544" dirty="0"/>
          </a:p>
        </p:txBody>
      </p:sp>
      <p:sp>
        <p:nvSpPr>
          <p:cNvPr id="4" name="Shape 2"/>
          <p:cNvSpPr/>
          <p:nvPr/>
        </p:nvSpPr>
        <p:spPr>
          <a:xfrm>
            <a:off x="815975" y="1828254"/>
            <a:ext cx="6953250" cy="1103610"/>
          </a:xfrm>
          <a:prstGeom prst="roundRect">
            <a:avLst>
              <a:gd name="adj" fmla="val 8918"/>
            </a:avLst>
          </a:prstGeom>
          <a:solidFill>
            <a:srgbClr val="FBFCFE"/>
          </a:solidFill>
          <a:ln w="6350">
            <a:solidFill>
              <a:srgbClr val="D9DBEE"/>
            </a:solidFill>
            <a:prstDash val="solid"/>
          </a:ln>
        </p:spPr>
        <p:txBody>
          <a:bodyPr/>
          <a:lstStyle/>
          <a:p>
            <a:endParaRPr lang="tr-TR"/>
          </a:p>
        </p:txBody>
      </p:sp>
      <p:sp>
        <p:nvSpPr>
          <p:cNvPr id="5" name="Text 3"/>
          <p:cNvSpPr/>
          <p:nvPr/>
        </p:nvSpPr>
        <p:spPr>
          <a:xfrm>
            <a:off x="1022350" y="2009229"/>
            <a:ext cx="1003300"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A2FB0"/>
                </a:solidFill>
                <a:latin typeface="Public Sans" pitchFamily="34" charset="0"/>
                <a:ea typeface="Public Sans" pitchFamily="34" charset="-122"/>
                <a:cs typeface="Public Sans" pitchFamily="34" charset="-120"/>
              </a:rPr>
              <a:t>MORNING</a:t>
            </a:r>
            <a:endParaRPr lang="en-US" sz="1200" dirty="0"/>
          </a:p>
        </p:txBody>
      </p:sp>
      <p:sp>
        <p:nvSpPr>
          <p:cNvPr id="6" name="Text 4"/>
          <p:cNvSpPr/>
          <p:nvPr/>
        </p:nvSpPr>
        <p:spPr>
          <a:xfrm>
            <a:off x="1022350" y="2247950"/>
            <a:ext cx="10033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B7A"/>
                </a:solidFill>
                <a:latin typeface="Public Sans" pitchFamily="34" charset="0"/>
                <a:ea typeface="Public Sans" pitchFamily="34" charset="-122"/>
                <a:cs typeface="Public Sans" pitchFamily="34" charset="-120"/>
              </a:rPr>
              <a:t>08:00</a:t>
            </a:r>
            <a:endParaRPr lang="en-US" sz="1200" dirty="0"/>
          </a:p>
        </p:txBody>
      </p:sp>
      <p:sp>
        <p:nvSpPr>
          <p:cNvPr id="7" name="Text 5"/>
          <p:cNvSpPr/>
          <p:nvPr/>
        </p:nvSpPr>
        <p:spPr>
          <a:xfrm>
            <a:off x="2127250" y="2009229"/>
            <a:ext cx="5598668"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00084"/>
                </a:solidFill>
                <a:latin typeface="Public Sans" pitchFamily="34" charset="0"/>
                <a:ea typeface="Public Sans" pitchFamily="34" charset="-122"/>
                <a:cs typeface="Public Sans" pitchFamily="34" charset="-120"/>
              </a:rPr>
              <a:t>Fly Whitehorse to Dawson City</a:t>
            </a:r>
            <a:endParaRPr lang="en-US" sz="1500" dirty="0"/>
          </a:p>
        </p:txBody>
      </p:sp>
      <p:sp>
        <p:nvSpPr>
          <p:cNvPr id="8" name="Text 6"/>
          <p:cNvSpPr/>
          <p:nvPr/>
        </p:nvSpPr>
        <p:spPr>
          <a:xfrm>
            <a:off x="2127250" y="2288629"/>
            <a:ext cx="5598668" cy="4876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75569"/>
                </a:solidFill>
                <a:latin typeface="Public Sans" pitchFamily="34" charset="0"/>
                <a:ea typeface="Public Sans" pitchFamily="34" charset="-122"/>
                <a:cs typeface="Public Sans" pitchFamily="34" charset="-120"/>
              </a:rPr>
              <a:t>Air North flight, about 1 hour. Shuttle from the airport (15 km) and check-in at The Bunkhouse hostel.</a:t>
            </a:r>
            <a:endParaRPr lang="en-US" sz="1300" dirty="0"/>
          </a:p>
        </p:txBody>
      </p:sp>
      <p:sp>
        <p:nvSpPr>
          <p:cNvPr id="9" name="Shape 7"/>
          <p:cNvSpPr/>
          <p:nvPr/>
        </p:nvSpPr>
        <p:spPr>
          <a:xfrm>
            <a:off x="815975" y="3065214"/>
            <a:ext cx="6953250" cy="1103610"/>
          </a:xfrm>
          <a:prstGeom prst="roundRect">
            <a:avLst>
              <a:gd name="adj" fmla="val 8918"/>
            </a:avLst>
          </a:prstGeom>
          <a:solidFill>
            <a:srgbClr val="FBFCFE"/>
          </a:solidFill>
          <a:ln w="6350">
            <a:solidFill>
              <a:srgbClr val="D9DBEE"/>
            </a:solidFill>
            <a:prstDash val="solid"/>
          </a:ln>
        </p:spPr>
        <p:txBody>
          <a:bodyPr/>
          <a:lstStyle/>
          <a:p>
            <a:endParaRPr lang="tr-TR"/>
          </a:p>
        </p:txBody>
      </p:sp>
      <p:sp>
        <p:nvSpPr>
          <p:cNvPr id="10" name="Text 8"/>
          <p:cNvSpPr/>
          <p:nvPr/>
        </p:nvSpPr>
        <p:spPr>
          <a:xfrm>
            <a:off x="1022350" y="3246189"/>
            <a:ext cx="1003300" cy="45204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A2FB0"/>
                </a:solidFill>
                <a:latin typeface="Public Sans" pitchFamily="34" charset="0"/>
                <a:ea typeface="Public Sans" pitchFamily="34" charset="-122"/>
                <a:cs typeface="Public Sans" pitchFamily="34" charset="-120"/>
              </a:rPr>
              <a:t>AFTERNOON</a:t>
            </a:r>
            <a:endParaRPr lang="en-US" sz="1200" dirty="0"/>
          </a:p>
        </p:txBody>
      </p:sp>
      <p:sp>
        <p:nvSpPr>
          <p:cNvPr id="11" name="Text 9"/>
          <p:cNvSpPr/>
          <p:nvPr/>
        </p:nvSpPr>
        <p:spPr>
          <a:xfrm>
            <a:off x="1022350" y="3698230"/>
            <a:ext cx="10033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B7A"/>
                </a:solidFill>
                <a:latin typeface="Public Sans" pitchFamily="34" charset="0"/>
                <a:ea typeface="Public Sans" pitchFamily="34" charset="-122"/>
                <a:cs typeface="Public Sans" pitchFamily="34" charset="-120"/>
              </a:rPr>
              <a:t>13:00</a:t>
            </a:r>
            <a:endParaRPr lang="en-US" sz="1200" dirty="0"/>
          </a:p>
        </p:txBody>
      </p:sp>
      <p:sp>
        <p:nvSpPr>
          <p:cNvPr id="12" name="Text 10"/>
          <p:cNvSpPr/>
          <p:nvPr/>
        </p:nvSpPr>
        <p:spPr>
          <a:xfrm>
            <a:off x="2127250" y="3246189"/>
            <a:ext cx="5598668"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00084"/>
                </a:solidFill>
                <a:latin typeface="Public Sans" pitchFamily="34" charset="0"/>
                <a:ea typeface="Public Sans" pitchFamily="34" charset="-122"/>
                <a:cs typeface="Public Sans" pitchFamily="34" charset="-120"/>
              </a:rPr>
              <a:t>Historic Town Walking Tour</a:t>
            </a:r>
            <a:endParaRPr lang="en-US" sz="1500" dirty="0"/>
          </a:p>
        </p:txBody>
      </p:sp>
      <p:sp>
        <p:nvSpPr>
          <p:cNvPr id="13" name="Text 11"/>
          <p:cNvSpPr/>
          <p:nvPr/>
        </p:nvSpPr>
        <p:spPr>
          <a:xfrm>
            <a:off x="2127250" y="3525589"/>
            <a:ext cx="5598668" cy="4876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75569"/>
                </a:solidFill>
                <a:latin typeface="Public Sans" pitchFamily="34" charset="0"/>
                <a:ea typeface="Public Sans" pitchFamily="34" charset="-122"/>
                <a:cs typeface="Public Sans" pitchFamily="34" charset="-120"/>
              </a:rPr>
              <a:t>A Parks Canada guide in 1898 costume shows us Front Street, the Palace Grand Theatre and the wooden boardwalks.</a:t>
            </a:r>
            <a:endParaRPr lang="en-US" sz="1300" dirty="0"/>
          </a:p>
        </p:txBody>
      </p:sp>
      <p:sp>
        <p:nvSpPr>
          <p:cNvPr id="14" name="Shape 12"/>
          <p:cNvSpPr/>
          <p:nvPr/>
        </p:nvSpPr>
        <p:spPr>
          <a:xfrm>
            <a:off x="815975" y="4302175"/>
            <a:ext cx="6953250" cy="1103610"/>
          </a:xfrm>
          <a:prstGeom prst="roundRect">
            <a:avLst>
              <a:gd name="adj" fmla="val 8918"/>
            </a:avLst>
          </a:prstGeom>
          <a:solidFill>
            <a:srgbClr val="FBFCFE"/>
          </a:solidFill>
          <a:ln w="6350">
            <a:solidFill>
              <a:srgbClr val="D9DBEE"/>
            </a:solidFill>
            <a:prstDash val="solid"/>
          </a:ln>
        </p:spPr>
        <p:txBody>
          <a:bodyPr/>
          <a:lstStyle/>
          <a:p>
            <a:endParaRPr lang="tr-TR"/>
          </a:p>
        </p:txBody>
      </p:sp>
      <p:sp>
        <p:nvSpPr>
          <p:cNvPr id="15" name="Text 13"/>
          <p:cNvSpPr/>
          <p:nvPr/>
        </p:nvSpPr>
        <p:spPr>
          <a:xfrm>
            <a:off x="1022350" y="4483150"/>
            <a:ext cx="1003300"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A2FB0"/>
                </a:solidFill>
                <a:latin typeface="Public Sans" pitchFamily="34" charset="0"/>
                <a:ea typeface="Public Sans" pitchFamily="34" charset="-122"/>
                <a:cs typeface="Public Sans" pitchFamily="34" charset="-120"/>
              </a:rPr>
              <a:t>EVENING</a:t>
            </a:r>
            <a:endParaRPr lang="en-US" sz="1200" dirty="0"/>
          </a:p>
        </p:txBody>
      </p:sp>
      <p:sp>
        <p:nvSpPr>
          <p:cNvPr id="16" name="Text 14"/>
          <p:cNvSpPr/>
          <p:nvPr/>
        </p:nvSpPr>
        <p:spPr>
          <a:xfrm>
            <a:off x="1022350" y="4721870"/>
            <a:ext cx="10033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B7A"/>
                </a:solidFill>
                <a:latin typeface="Public Sans" pitchFamily="34" charset="0"/>
                <a:ea typeface="Public Sans" pitchFamily="34" charset="-122"/>
                <a:cs typeface="Public Sans" pitchFamily="34" charset="-120"/>
              </a:rPr>
              <a:t>17:00</a:t>
            </a:r>
            <a:endParaRPr lang="en-US" sz="1200" dirty="0"/>
          </a:p>
        </p:txBody>
      </p:sp>
      <p:sp>
        <p:nvSpPr>
          <p:cNvPr id="17" name="Text 15"/>
          <p:cNvSpPr/>
          <p:nvPr/>
        </p:nvSpPr>
        <p:spPr>
          <a:xfrm>
            <a:off x="2127250" y="4483150"/>
            <a:ext cx="5598668"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00084"/>
                </a:solidFill>
                <a:latin typeface="Public Sans" pitchFamily="34" charset="0"/>
                <a:ea typeface="Public Sans" pitchFamily="34" charset="-122"/>
                <a:cs typeface="Public Sans" pitchFamily="34" charset="-120"/>
              </a:rPr>
              <a:t>Dänojà Zho and the riverfront</a:t>
            </a:r>
            <a:endParaRPr lang="en-US" sz="1500" dirty="0"/>
          </a:p>
        </p:txBody>
      </p:sp>
      <p:sp>
        <p:nvSpPr>
          <p:cNvPr id="18" name="Text 16"/>
          <p:cNvSpPr/>
          <p:nvPr/>
        </p:nvSpPr>
        <p:spPr>
          <a:xfrm>
            <a:off x="2127250" y="4762550"/>
            <a:ext cx="5598668" cy="4876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75569"/>
                </a:solidFill>
                <a:latin typeface="Public Sans" pitchFamily="34" charset="0"/>
                <a:ea typeface="Public Sans" pitchFamily="34" charset="-122"/>
                <a:cs typeface="Public Sans" pitchFamily="34" charset="-120"/>
              </a:rPr>
              <a:t>The Tr’ondëk Hwëch’in cultural centre, then a walk along the Yukon River. The sun sets after 10 pm!</a:t>
            </a:r>
            <a:endParaRPr lang="en-US" sz="1300" dirty="0"/>
          </a:p>
        </p:txBody>
      </p:sp>
      <p:sp>
        <p:nvSpPr>
          <p:cNvPr id="19" name="Shape 17"/>
          <p:cNvSpPr/>
          <p:nvPr/>
        </p:nvSpPr>
        <p:spPr>
          <a:xfrm>
            <a:off x="8077200" y="1825079"/>
            <a:ext cx="3302000" cy="4016921"/>
          </a:xfrm>
          <a:prstGeom prst="roundRect">
            <a:avLst>
              <a:gd name="adj" fmla="val 3077"/>
            </a:avLst>
          </a:prstGeom>
          <a:solidFill>
            <a:srgbClr val="000084"/>
          </a:solidFill>
          <a:ln/>
        </p:spPr>
        <p:txBody>
          <a:bodyPr/>
          <a:lstStyle/>
          <a:p>
            <a:endParaRPr lang="tr-TR"/>
          </a:p>
        </p:txBody>
      </p:sp>
      <p:pic>
        <p:nvPicPr>
          <p:cNvPr id="20" name="Image 0" descr="preencoded.png"/>
          <p:cNvPicPr>
            <a:picLocks noChangeAspect="1"/>
          </p:cNvPicPr>
          <p:nvPr/>
        </p:nvPicPr>
        <p:blipFill>
          <a:blip r:embed="rId3"/>
          <a:srcRect l="-877" r="-877"/>
          <a:stretch/>
        </p:blipFill>
        <p:spPr>
          <a:xfrm>
            <a:off x="8305800" y="2053679"/>
            <a:ext cx="2844800" cy="936079"/>
          </a:xfrm>
          <a:prstGeom prst="rect">
            <a:avLst/>
          </a:prstGeom>
        </p:spPr>
      </p:pic>
      <p:sp>
        <p:nvSpPr>
          <p:cNvPr id="21" name="Text 18"/>
          <p:cNvSpPr/>
          <p:nvPr/>
        </p:nvSpPr>
        <p:spPr>
          <a:xfrm>
            <a:off x="8305800" y="3142159"/>
            <a:ext cx="876300" cy="932607"/>
          </a:xfrm>
          <a:prstGeom prst="rect">
            <a:avLst/>
          </a:prstGeom>
          <a:noFill/>
          <a:ln/>
        </p:spPr>
        <p:txBody>
          <a:bodyPr wrap="square" lIns="0" tIns="0" rIns="0" bIns="0" rtlCol="0" anchor="t">
            <a:normAutofit/>
          </a:bodyPr>
          <a:lstStyle/>
          <a:p>
            <a:pPr marL="0" indent="0" algn="l">
              <a:lnSpc>
                <a:spcPts val="1800"/>
              </a:lnSpc>
              <a:buNone/>
            </a:pPr>
            <a:r>
              <a:rPr lang="en-US" sz="1200" b="1" kern="0" spc="100" dirty="0">
                <a:solidFill>
                  <a:srgbClr val="E2B050"/>
                </a:solidFill>
                <a:latin typeface="Public Sans" pitchFamily="34" charset="0"/>
                <a:ea typeface="Public Sans" pitchFamily="34" charset="-122"/>
                <a:cs typeface="Public Sans" pitchFamily="34" charset="-120"/>
              </a:rPr>
              <a:t>PLACES</a:t>
            </a:r>
            <a:endParaRPr lang="en-US" sz="1200" dirty="0"/>
          </a:p>
        </p:txBody>
      </p:sp>
      <p:sp>
        <p:nvSpPr>
          <p:cNvPr id="22" name="Text 19"/>
          <p:cNvSpPr/>
          <p:nvPr/>
        </p:nvSpPr>
        <p:spPr>
          <a:xfrm>
            <a:off x="9232900" y="3142159"/>
            <a:ext cx="1975231" cy="932607"/>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4F7FB"/>
                </a:solidFill>
                <a:latin typeface="Public Sans" pitchFamily="34" charset="0"/>
                <a:ea typeface="Public Sans" pitchFamily="34" charset="-122"/>
                <a:cs typeface="Public Sans" pitchFamily="34" charset="-120"/>
              </a:rPr>
              <a:t>Palace Grand Theatre · Dänojà Zho Cultural Centre · Front Street and the Yukon riverfront</a:t>
            </a:r>
            <a:endParaRPr lang="en-US" sz="1300" dirty="0"/>
          </a:p>
        </p:txBody>
      </p:sp>
      <p:sp>
        <p:nvSpPr>
          <p:cNvPr id="23" name="Text 20"/>
          <p:cNvSpPr/>
          <p:nvPr/>
        </p:nvSpPr>
        <p:spPr>
          <a:xfrm>
            <a:off x="8305800" y="4150965"/>
            <a:ext cx="876300" cy="705842"/>
          </a:xfrm>
          <a:prstGeom prst="rect">
            <a:avLst/>
          </a:prstGeom>
          <a:noFill/>
          <a:ln/>
        </p:spPr>
        <p:txBody>
          <a:bodyPr wrap="square" lIns="0" tIns="0" rIns="0" bIns="0" rtlCol="0" anchor="t">
            <a:normAutofit/>
          </a:bodyPr>
          <a:lstStyle/>
          <a:p>
            <a:pPr marL="0" indent="0" algn="l">
              <a:lnSpc>
                <a:spcPts val="1800"/>
              </a:lnSpc>
              <a:buNone/>
            </a:pPr>
            <a:r>
              <a:rPr lang="en-US" sz="1200" b="1" kern="0" spc="100" dirty="0">
                <a:solidFill>
                  <a:srgbClr val="E2B050"/>
                </a:solidFill>
                <a:latin typeface="Public Sans" pitchFamily="34" charset="0"/>
                <a:ea typeface="Public Sans" pitchFamily="34" charset="-122"/>
                <a:cs typeface="Public Sans" pitchFamily="34" charset="-120"/>
              </a:rPr>
              <a:t>ACTIVITY</a:t>
            </a:r>
            <a:endParaRPr lang="en-US" sz="1200" dirty="0"/>
          </a:p>
        </p:txBody>
      </p:sp>
      <p:sp>
        <p:nvSpPr>
          <p:cNvPr id="24" name="Text 21"/>
          <p:cNvSpPr/>
          <p:nvPr/>
        </p:nvSpPr>
        <p:spPr>
          <a:xfrm>
            <a:off x="9232900" y="4150965"/>
            <a:ext cx="1975231" cy="705842"/>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4F7FB"/>
                </a:solidFill>
                <a:latin typeface="Public Sans" pitchFamily="34" charset="0"/>
                <a:ea typeface="Public Sans" pitchFamily="34" charset="-122"/>
                <a:cs typeface="Public Sans" pitchFamily="34" charset="-120"/>
              </a:rPr>
              <a:t>Guided walking tour with a costumed guide (90 minutes)</a:t>
            </a:r>
            <a:endParaRPr lang="en-US" sz="1300" dirty="0"/>
          </a:p>
        </p:txBody>
      </p:sp>
      <p:sp>
        <p:nvSpPr>
          <p:cNvPr id="25" name="Text 22"/>
          <p:cNvSpPr/>
          <p:nvPr/>
        </p:nvSpPr>
        <p:spPr>
          <a:xfrm>
            <a:off x="8305800" y="4933007"/>
            <a:ext cx="876300" cy="705793"/>
          </a:xfrm>
          <a:prstGeom prst="rect">
            <a:avLst/>
          </a:prstGeom>
          <a:noFill/>
          <a:ln/>
        </p:spPr>
        <p:txBody>
          <a:bodyPr wrap="square" lIns="0" tIns="0" rIns="0" bIns="0" rtlCol="0" anchor="t">
            <a:normAutofit/>
          </a:bodyPr>
          <a:lstStyle/>
          <a:p>
            <a:pPr marL="0" indent="0" algn="l">
              <a:lnSpc>
                <a:spcPts val="1800"/>
              </a:lnSpc>
              <a:buNone/>
            </a:pPr>
            <a:r>
              <a:rPr lang="en-US" sz="1200" b="1" kern="0" spc="100" dirty="0">
                <a:solidFill>
                  <a:srgbClr val="E2B050"/>
                </a:solidFill>
                <a:latin typeface="Public Sans" pitchFamily="34" charset="0"/>
                <a:ea typeface="Public Sans" pitchFamily="34" charset="-122"/>
                <a:cs typeface="Public Sans" pitchFamily="34" charset="-120"/>
              </a:rPr>
              <a:t>COST</a:t>
            </a:r>
            <a:endParaRPr lang="en-US" sz="1200" dirty="0"/>
          </a:p>
        </p:txBody>
      </p:sp>
      <p:sp>
        <p:nvSpPr>
          <p:cNvPr id="26" name="Text 23"/>
          <p:cNvSpPr/>
          <p:nvPr/>
        </p:nvSpPr>
        <p:spPr>
          <a:xfrm>
            <a:off x="9232900" y="4933007"/>
            <a:ext cx="1975231" cy="705793"/>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4F7FB"/>
                </a:solidFill>
                <a:latin typeface="Public Sans" pitchFamily="34" charset="0"/>
                <a:ea typeface="Public Sans" pitchFamily="34" charset="-122"/>
                <a:cs typeface="Public Sans" pitchFamily="34" charset="-120"/>
              </a:rPr>
              <a:t>About CA$30 per person for the tour and the centre</a:t>
            </a:r>
            <a:endParaRPr lang="en-US" sz="1300" dirty="0"/>
          </a:p>
        </p:txBody>
      </p:sp>
      <p:sp>
        <p:nvSpPr>
          <p:cNvPr id="27" name="Text 24"/>
          <p:cNvSpPr/>
          <p:nvPr/>
        </p:nvSpPr>
        <p:spPr>
          <a:xfrm>
            <a:off x="812800" y="6238280"/>
            <a:ext cx="470701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B7A"/>
                </a:solidFill>
                <a:latin typeface="Public Sans" pitchFamily="34" charset="0"/>
                <a:ea typeface="Public Sans" pitchFamily="34" charset="-122"/>
                <a:cs typeface="Public Sans" pitchFamily="34" charset="-120"/>
              </a:rPr>
              <a:t>The Klondike Gold Rush · Pertevniyal High School 159/E</a:t>
            </a:r>
            <a:endParaRPr lang="en-US" sz="1200" dirty="0"/>
          </a:p>
        </p:txBody>
      </p:sp>
      <p:sp>
        <p:nvSpPr>
          <p:cNvPr id="28" name="Text 25"/>
          <p:cNvSpPr/>
          <p:nvPr/>
        </p:nvSpPr>
        <p:spPr>
          <a:xfrm>
            <a:off x="10820400" y="6238280"/>
            <a:ext cx="558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F6B7A"/>
                </a:solidFill>
                <a:latin typeface="Public Sans" pitchFamily="34" charset="0"/>
                <a:ea typeface="Public Sans" pitchFamily="34" charset="-122"/>
                <a:cs typeface="Public Sans"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3F4F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5248"/>
          </a:xfrm>
          <a:prstGeom prst="rect">
            <a:avLst/>
          </a:prstGeom>
          <a:noFill/>
          <a:ln/>
        </p:spPr>
        <p:txBody>
          <a:bodyPr wrap="square" lIns="0" tIns="0" rIns="0" bIns="0" rtlCol="0" anchor="t">
            <a:normAutofit/>
          </a:bodyPr>
          <a:lstStyle/>
          <a:p>
            <a:pPr marL="0" indent="0" algn="l">
              <a:lnSpc>
                <a:spcPts val="1675"/>
              </a:lnSpc>
              <a:buNone/>
            </a:pPr>
            <a:r>
              <a:rPr lang="en-US" sz="1196" b="1" kern="0" spc="150" dirty="0">
                <a:solidFill>
                  <a:srgbClr val="2A2FB0"/>
                </a:solidFill>
                <a:latin typeface="Public Sans" pitchFamily="34" charset="0"/>
                <a:ea typeface="Public Sans" pitchFamily="34" charset="-122"/>
                <a:cs typeface="Public Sans" pitchFamily="34" charset="-120"/>
              </a:rPr>
              <a:t>DAY 2 OF 5 · FRIDAY 13 AUGUST 2027</a:t>
            </a:r>
            <a:endParaRPr lang="en-US" sz="1196" dirty="0"/>
          </a:p>
        </p:txBody>
      </p:sp>
      <p:sp>
        <p:nvSpPr>
          <p:cNvPr id="3" name="Text 1"/>
          <p:cNvSpPr>
            <a:spLocks noGrp="1"/>
          </p:cNvSpPr>
          <p:nvPr>
            <p:ph type="title"/>
          </p:nvPr>
        </p:nvSpPr>
        <p:spPr>
          <a:xfrm>
            <a:off x="812800" y="1098848"/>
            <a:ext cx="10883392" cy="497632"/>
          </a:xfrm>
          <a:prstGeom prst="rect">
            <a:avLst/>
          </a:prstGeom>
          <a:noFill/>
          <a:ln/>
        </p:spPr>
        <p:txBody>
          <a:bodyPr wrap="square" lIns="0" tIns="0" rIns="0" bIns="0" rtlCol="0" anchor="t">
            <a:normAutofit/>
          </a:bodyPr>
          <a:lstStyle/>
          <a:p>
            <a:pPr marL="0" indent="0" algn="l">
              <a:lnSpc>
                <a:spcPts val="3721"/>
              </a:lnSpc>
              <a:buNone/>
            </a:pPr>
            <a:r>
              <a:rPr lang="en-US" sz="3544" b="0" i="0" dirty="0">
                <a:solidFill>
                  <a:srgbClr val="000084"/>
                </a:solidFill>
                <a:latin typeface="Oswald" pitchFamily="34" charset="0"/>
                <a:ea typeface="Oswald" pitchFamily="34" charset="-122"/>
                <a:cs typeface="Oswald" pitchFamily="34" charset="-120"/>
              </a:rPr>
              <a:t>Day 2: The Goldfields of Bonanza Creek</a:t>
            </a:r>
            <a:endParaRPr lang="en-US" sz="3544" dirty="0"/>
          </a:p>
        </p:txBody>
      </p:sp>
      <p:sp>
        <p:nvSpPr>
          <p:cNvPr id="4" name="Shape 2"/>
          <p:cNvSpPr/>
          <p:nvPr/>
        </p:nvSpPr>
        <p:spPr>
          <a:xfrm>
            <a:off x="815975" y="1828254"/>
            <a:ext cx="6953250" cy="1103610"/>
          </a:xfrm>
          <a:prstGeom prst="roundRect">
            <a:avLst>
              <a:gd name="adj" fmla="val 8918"/>
            </a:avLst>
          </a:prstGeom>
          <a:solidFill>
            <a:srgbClr val="FBFCFE"/>
          </a:solidFill>
          <a:ln w="6350">
            <a:solidFill>
              <a:srgbClr val="D9DBEE"/>
            </a:solidFill>
            <a:prstDash val="solid"/>
          </a:ln>
        </p:spPr>
        <p:txBody>
          <a:bodyPr/>
          <a:lstStyle/>
          <a:p>
            <a:endParaRPr lang="tr-TR"/>
          </a:p>
        </p:txBody>
      </p:sp>
      <p:sp>
        <p:nvSpPr>
          <p:cNvPr id="5" name="Text 3"/>
          <p:cNvSpPr/>
          <p:nvPr/>
        </p:nvSpPr>
        <p:spPr>
          <a:xfrm>
            <a:off x="1022350" y="2009229"/>
            <a:ext cx="1003300"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A2FB0"/>
                </a:solidFill>
                <a:latin typeface="Public Sans" pitchFamily="34" charset="0"/>
                <a:ea typeface="Public Sans" pitchFamily="34" charset="-122"/>
                <a:cs typeface="Public Sans" pitchFamily="34" charset="-120"/>
              </a:rPr>
              <a:t>MORNING</a:t>
            </a:r>
            <a:endParaRPr lang="en-US" sz="1200" dirty="0"/>
          </a:p>
        </p:txBody>
      </p:sp>
      <p:sp>
        <p:nvSpPr>
          <p:cNvPr id="6" name="Text 4"/>
          <p:cNvSpPr/>
          <p:nvPr/>
        </p:nvSpPr>
        <p:spPr>
          <a:xfrm>
            <a:off x="1022350" y="2247950"/>
            <a:ext cx="10033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B7A"/>
                </a:solidFill>
                <a:latin typeface="Public Sans" pitchFamily="34" charset="0"/>
                <a:ea typeface="Public Sans" pitchFamily="34" charset="-122"/>
                <a:cs typeface="Public Sans" pitchFamily="34" charset="-120"/>
              </a:rPr>
              <a:t>09:00</a:t>
            </a:r>
            <a:endParaRPr lang="en-US" sz="1200" dirty="0"/>
          </a:p>
        </p:txBody>
      </p:sp>
      <p:sp>
        <p:nvSpPr>
          <p:cNvPr id="7" name="Text 5"/>
          <p:cNvSpPr/>
          <p:nvPr/>
        </p:nvSpPr>
        <p:spPr>
          <a:xfrm>
            <a:off x="2127250" y="2009229"/>
            <a:ext cx="5598668"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00084"/>
                </a:solidFill>
                <a:latin typeface="Public Sans" pitchFamily="34" charset="0"/>
                <a:ea typeface="Public Sans" pitchFamily="34" charset="-122"/>
                <a:cs typeface="Public Sans" pitchFamily="34" charset="-120"/>
              </a:rPr>
              <a:t>Discovery Claim and Dredge No. 4</a:t>
            </a:r>
            <a:endParaRPr lang="en-US" sz="1500" dirty="0"/>
          </a:p>
        </p:txBody>
      </p:sp>
      <p:sp>
        <p:nvSpPr>
          <p:cNvPr id="8" name="Text 6"/>
          <p:cNvSpPr/>
          <p:nvPr/>
        </p:nvSpPr>
        <p:spPr>
          <a:xfrm>
            <a:off x="2127250" y="2288629"/>
            <a:ext cx="5598668" cy="4876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75569"/>
                </a:solidFill>
                <a:latin typeface="Public Sans" pitchFamily="34" charset="0"/>
                <a:ea typeface="Public Sans" pitchFamily="34" charset="-122"/>
                <a:cs typeface="Public Sans" pitchFamily="34" charset="-120"/>
              </a:rPr>
              <a:t>Shuttle along Bonanza Creek Road to the spot where gold was found in 1896, then a guided tour inside the giant dredge.</a:t>
            </a:r>
            <a:endParaRPr lang="en-US" sz="1300" dirty="0"/>
          </a:p>
        </p:txBody>
      </p:sp>
      <p:sp>
        <p:nvSpPr>
          <p:cNvPr id="9" name="Shape 7"/>
          <p:cNvSpPr/>
          <p:nvPr/>
        </p:nvSpPr>
        <p:spPr>
          <a:xfrm>
            <a:off x="815975" y="3065214"/>
            <a:ext cx="6953250" cy="1103610"/>
          </a:xfrm>
          <a:prstGeom prst="roundRect">
            <a:avLst>
              <a:gd name="adj" fmla="val 8918"/>
            </a:avLst>
          </a:prstGeom>
          <a:solidFill>
            <a:srgbClr val="FBFCFE"/>
          </a:solidFill>
          <a:ln w="6350">
            <a:solidFill>
              <a:srgbClr val="D9DBEE"/>
            </a:solidFill>
            <a:prstDash val="solid"/>
          </a:ln>
        </p:spPr>
        <p:txBody>
          <a:bodyPr/>
          <a:lstStyle/>
          <a:p>
            <a:endParaRPr lang="tr-TR"/>
          </a:p>
        </p:txBody>
      </p:sp>
      <p:sp>
        <p:nvSpPr>
          <p:cNvPr id="10" name="Text 8"/>
          <p:cNvSpPr/>
          <p:nvPr/>
        </p:nvSpPr>
        <p:spPr>
          <a:xfrm>
            <a:off x="1022350" y="3246189"/>
            <a:ext cx="1003300" cy="45204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A2FB0"/>
                </a:solidFill>
                <a:latin typeface="Public Sans" pitchFamily="34" charset="0"/>
                <a:ea typeface="Public Sans" pitchFamily="34" charset="-122"/>
                <a:cs typeface="Public Sans" pitchFamily="34" charset="-120"/>
              </a:rPr>
              <a:t>AFTERNOON</a:t>
            </a:r>
            <a:endParaRPr lang="en-US" sz="1200" dirty="0"/>
          </a:p>
        </p:txBody>
      </p:sp>
      <p:sp>
        <p:nvSpPr>
          <p:cNvPr id="11" name="Text 9"/>
          <p:cNvSpPr/>
          <p:nvPr/>
        </p:nvSpPr>
        <p:spPr>
          <a:xfrm>
            <a:off x="1022350" y="3698230"/>
            <a:ext cx="10033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B7A"/>
                </a:solidFill>
                <a:latin typeface="Public Sans" pitchFamily="34" charset="0"/>
                <a:ea typeface="Public Sans" pitchFamily="34" charset="-122"/>
                <a:cs typeface="Public Sans" pitchFamily="34" charset="-120"/>
              </a:rPr>
              <a:t>14:00</a:t>
            </a:r>
            <a:endParaRPr lang="en-US" sz="1200" dirty="0"/>
          </a:p>
        </p:txBody>
      </p:sp>
      <p:sp>
        <p:nvSpPr>
          <p:cNvPr id="12" name="Text 10"/>
          <p:cNvSpPr/>
          <p:nvPr/>
        </p:nvSpPr>
        <p:spPr>
          <a:xfrm>
            <a:off x="2127250" y="3246189"/>
            <a:ext cx="5598668"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00084"/>
                </a:solidFill>
                <a:latin typeface="Public Sans" pitchFamily="34" charset="0"/>
                <a:ea typeface="Public Sans" pitchFamily="34" charset="-122"/>
                <a:cs typeface="Public Sans" pitchFamily="34" charset="-120"/>
              </a:rPr>
              <a:t>Gold panning at Claim 33</a:t>
            </a:r>
            <a:endParaRPr lang="en-US" sz="1500" dirty="0"/>
          </a:p>
        </p:txBody>
      </p:sp>
      <p:sp>
        <p:nvSpPr>
          <p:cNvPr id="13" name="Text 11"/>
          <p:cNvSpPr/>
          <p:nvPr/>
        </p:nvSpPr>
        <p:spPr>
          <a:xfrm>
            <a:off x="2127250" y="3525589"/>
            <a:ext cx="5598668" cy="4876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75569"/>
                </a:solidFill>
                <a:latin typeface="Public Sans" pitchFamily="34" charset="0"/>
                <a:ea typeface="Public Sans" pitchFamily="34" charset="-122"/>
                <a:cs typeface="Public Sans" pitchFamily="34" charset="-120"/>
              </a:rPr>
              <a:t>We learn to pan for gold in Bonanza Creek. Gold is guaranteed, and we keep every flake we find.</a:t>
            </a:r>
            <a:endParaRPr lang="en-US" sz="1300" dirty="0"/>
          </a:p>
        </p:txBody>
      </p:sp>
      <p:sp>
        <p:nvSpPr>
          <p:cNvPr id="14" name="Shape 12"/>
          <p:cNvSpPr/>
          <p:nvPr/>
        </p:nvSpPr>
        <p:spPr>
          <a:xfrm>
            <a:off x="815975" y="4302175"/>
            <a:ext cx="6953250" cy="1103610"/>
          </a:xfrm>
          <a:prstGeom prst="roundRect">
            <a:avLst>
              <a:gd name="adj" fmla="val 8918"/>
            </a:avLst>
          </a:prstGeom>
          <a:solidFill>
            <a:srgbClr val="FBFCFE"/>
          </a:solidFill>
          <a:ln w="6350">
            <a:solidFill>
              <a:srgbClr val="D9DBEE"/>
            </a:solidFill>
            <a:prstDash val="solid"/>
          </a:ln>
        </p:spPr>
        <p:txBody>
          <a:bodyPr/>
          <a:lstStyle/>
          <a:p>
            <a:endParaRPr lang="tr-TR"/>
          </a:p>
        </p:txBody>
      </p:sp>
      <p:sp>
        <p:nvSpPr>
          <p:cNvPr id="15" name="Text 13"/>
          <p:cNvSpPr/>
          <p:nvPr/>
        </p:nvSpPr>
        <p:spPr>
          <a:xfrm>
            <a:off x="1022350" y="4483150"/>
            <a:ext cx="1003300"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A2FB0"/>
                </a:solidFill>
                <a:latin typeface="Public Sans" pitchFamily="34" charset="0"/>
                <a:ea typeface="Public Sans" pitchFamily="34" charset="-122"/>
                <a:cs typeface="Public Sans" pitchFamily="34" charset="-120"/>
              </a:rPr>
              <a:t>EVENING</a:t>
            </a:r>
            <a:endParaRPr lang="en-US" sz="1200" dirty="0"/>
          </a:p>
        </p:txBody>
      </p:sp>
      <p:sp>
        <p:nvSpPr>
          <p:cNvPr id="16" name="Text 14"/>
          <p:cNvSpPr/>
          <p:nvPr/>
        </p:nvSpPr>
        <p:spPr>
          <a:xfrm>
            <a:off x="1022350" y="4721870"/>
            <a:ext cx="10033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B7A"/>
                </a:solidFill>
                <a:latin typeface="Public Sans" pitchFamily="34" charset="0"/>
                <a:ea typeface="Public Sans" pitchFamily="34" charset="-122"/>
                <a:cs typeface="Public Sans" pitchFamily="34" charset="-120"/>
              </a:rPr>
              <a:t>18:00</a:t>
            </a:r>
            <a:endParaRPr lang="en-US" sz="1200" dirty="0"/>
          </a:p>
        </p:txBody>
      </p:sp>
      <p:sp>
        <p:nvSpPr>
          <p:cNvPr id="17" name="Text 15"/>
          <p:cNvSpPr/>
          <p:nvPr/>
        </p:nvSpPr>
        <p:spPr>
          <a:xfrm>
            <a:off x="2127250" y="4483150"/>
            <a:ext cx="5598668"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00084"/>
                </a:solidFill>
                <a:latin typeface="Public Sans" pitchFamily="34" charset="0"/>
                <a:ea typeface="Public Sans" pitchFamily="34" charset="-122"/>
                <a:cs typeface="Public Sans" pitchFamily="34" charset="-120"/>
              </a:rPr>
              <a:t>Klondike Spirit river cruise</a:t>
            </a:r>
            <a:endParaRPr lang="en-US" sz="1500" dirty="0"/>
          </a:p>
        </p:txBody>
      </p:sp>
      <p:sp>
        <p:nvSpPr>
          <p:cNvPr id="18" name="Text 16"/>
          <p:cNvSpPr/>
          <p:nvPr/>
        </p:nvSpPr>
        <p:spPr>
          <a:xfrm>
            <a:off x="2127250" y="4762550"/>
            <a:ext cx="5598668" cy="4876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75569"/>
                </a:solidFill>
                <a:latin typeface="Public Sans" pitchFamily="34" charset="0"/>
                <a:ea typeface="Public Sans" pitchFamily="34" charset="-122"/>
                <a:cs typeface="Public Sans" pitchFamily="34" charset="-120"/>
              </a:rPr>
              <a:t>Paddlewheeler trip on the Yukon River past the old Moosehide village, about 1.5 hours with stories from the crew.</a:t>
            </a:r>
            <a:endParaRPr lang="en-US" sz="1300" dirty="0"/>
          </a:p>
        </p:txBody>
      </p:sp>
      <p:sp>
        <p:nvSpPr>
          <p:cNvPr id="19" name="Shape 17"/>
          <p:cNvSpPr/>
          <p:nvPr/>
        </p:nvSpPr>
        <p:spPr>
          <a:xfrm>
            <a:off x="8077200" y="1825079"/>
            <a:ext cx="3302000" cy="4016921"/>
          </a:xfrm>
          <a:prstGeom prst="roundRect">
            <a:avLst>
              <a:gd name="adj" fmla="val 3077"/>
            </a:avLst>
          </a:prstGeom>
          <a:solidFill>
            <a:srgbClr val="000084"/>
          </a:solidFill>
          <a:ln/>
        </p:spPr>
        <p:txBody>
          <a:bodyPr/>
          <a:lstStyle/>
          <a:p>
            <a:endParaRPr lang="tr-TR"/>
          </a:p>
        </p:txBody>
      </p:sp>
      <p:pic>
        <p:nvPicPr>
          <p:cNvPr id="20" name="Image 0" descr="preencoded.png"/>
          <p:cNvPicPr>
            <a:picLocks noChangeAspect="1"/>
          </p:cNvPicPr>
          <p:nvPr/>
        </p:nvPicPr>
        <p:blipFill>
          <a:blip r:embed="rId3"/>
          <a:srcRect l="-877" r="-877"/>
          <a:stretch/>
        </p:blipFill>
        <p:spPr>
          <a:xfrm>
            <a:off x="8305800" y="2053679"/>
            <a:ext cx="2844800" cy="936079"/>
          </a:xfrm>
          <a:prstGeom prst="rect">
            <a:avLst/>
          </a:prstGeom>
        </p:spPr>
      </p:pic>
      <p:sp>
        <p:nvSpPr>
          <p:cNvPr id="21" name="Text 18"/>
          <p:cNvSpPr/>
          <p:nvPr/>
        </p:nvSpPr>
        <p:spPr>
          <a:xfrm>
            <a:off x="8305800" y="3142159"/>
            <a:ext cx="876300" cy="932607"/>
          </a:xfrm>
          <a:prstGeom prst="rect">
            <a:avLst/>
          </a:prstGeom>
          <a:noFill/>
          <a:ln/>
        </p:spPr>
        <p:txBody>
          <a:bodyPr wrap="square" lIns="0" tIns="0" rIns="0" bIns="0" rtlCol="0" anchor="t">
            <a:normAutofit/>
          </a:bodyPr>
          <a:lstStyle/>
          <a:p>
            <a:pPr marL="0" indent="0" algn="l">
              <a:lnSpc>
                <a:spcPts val="1800"/>
              </a:lnSpc>
              <a:buNone/>
            </a:pPr>
            <a:r>
              <a:rPr lang="en-US" sz="1200" b="1" kern="0" spc="100" dirty="0">
                <a:solidFill>
                  <a:srgbClr val="E2B050"/>
                </a:solidFill>
                <a:latin typeface="Public Sans" pitchFamily="34" charset="0"/>
                <a:ea typeface="Public Sans" pitchFamily="34" charset="-122"/>
                <a:cs typeface="Public Sans" pitchFamily="34" charset="-120"/>
              </a:rPr>
              <a:t>PLACES</a:t>
            </a:r>
            <a:endParaRPr lang="en-US" sz="1200" dirty="0"/>
          </a:p>
        </p:txBody>
      </p:sp>
      <p:sp>
        <p:nvSpPr>
          <p:cNvPr id="22" name="Text 19"/>
          <p:cNvSpPr/>
          <p:nvPr/>
        </p:nvSpPr>
        <p:spPr>
          <a:xfrm>
            <a:off x="9232900" y="3142159"/>
            <a:ext cx="1975231" cy="932607"/>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4F7FB"/>
                </a:solidFill>
                <a:latin typeface="Public Sans" pitchFamily="34" charset="0"/>
                <a:ea typeface="Public Sans" pitchFamily="34" charset="-122"/>
                <a:cs typeface="Public Sans" pitchFamily="34" charset="-120"/>
              </a:rPr>
              <a:t>Discovery Claim National Historic Site · Dredge No. 4 · Claim 33 on Bonanza Creek</a:t>
            </a:r>
            <a:endParaRPr lang="en-US" sz="1300" dirty="0"/>
          </a:p>
        </p:txBody>
      </p:sp>
      <p:sp>
        <p:nvSpPr>
          <p:cNvPr id="23" name="Text 20"/>
          <p:cNvSpPr/>
          <p:nvPr/>
        </p:nvSpPr>
        <p:spPr>
          <a:xfrm>
            <a:off x="8305800" y="4150965"/>
            <a:ext cx="876300" cy="705842"/>
          </a:xfrm>
          <a:prstGeom prst="rect">
            <a:avLst/>
          </a:prstGeom>
          <a:noFill/>
          <a:ln/>
        </p:spPr>
        <p:txBody>
          <a:bodyPr wrap="square" lIns="0" tIns="0" rIns="0" bIns="0" rtlCol="0" anchor="t">
            <a:normAutofit/>
          </a:bodyPr>
          <a:lstStyle/>
          <a:p>
            <a:pPr marL="0" indent="0" algn="l">
              <a:lnSpc>
                <a:spcPts val="1800"/>
              </a:lnSpc>
              <a:buNone/>
            </a:pPr>
            <a:r>
              <a:rPr lang="en-US" sz="1200" b="1" kern="0" spc="100" dirty="0">
                <a:solidFill>
                  <a:srgbClr val="E2B050"/>
                </a:solidFill>
                <a:latin typeface="Public Sans" pitchFamily="34" charset="0"/>
                <a:ea typeface="Public Sans" pitchFamily="34" charset="-122"/>
                <a:cs typeface="Public Sans" pitchFamily="34" charset="-120"/>
              </a:rPr>
              <a:t>ACTIVITIES</a:t>
            </a:r>
            <a:endParaRPr lang="en-US" sz="1200" dirty="0"/>
          </a:p>
        </p:txBody>
      </p:sp>
      <p:sp>
        <p:nvSpPr>
          <p:cNvPr id="24" name="Text 21"/>
          <p:cNvSpPr/>
          <p:nvPr/>
        </p:nvSpPr>
        <p:spPr>
          <a:xfrm>
            <a:off x="9232900" y="4150965"/>
            <a:ext cx="1975231" cy="705842"/>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4F7FB"/>
                </a:solidFill>
                <a:latin typeface="Public Sans" pitchFamily="34" charset="0"/>
                <a:ea typeface="Public Sans" pitchFamily="34" charset="-122"/>
                <a:cs typeface="Public Sans" pitchFamily="34" charset="-120"/>
              </a:rPr>
              <a:t>Gold panning · Paddlewheeler cruise on the Yukon River</a:t>
            </a:r>
            <a:endParaRPr lang="en-US" sz="1300" dirty="0"/>
          </a:p>
        </p:txBody>
      </p:sp>
      <p:sp>
        <p:nvSpPr>
          <p:cNvPr id="25" name="Text 22"/>
          <p:cNvSpPr/>
          <p:nvPr/>
        </p:nvSpPr>
        <p:spPr>
          <a:xfrm>
            <a:off x="8305800" y="4933007"/>
            <a:ext cx="876300" cy="705793"/>
          </a:xfrm>
          <a:prstGeom prst="rect">
            <a:avLst/>
          </a:prstGeom>
          <a:noFill/>
          <a:ln/>
        </p:spPr>
        <p:txBody>
          <a:bodyPr wrap="square" lIns="0" tIns="0" rIns="0" bIns="0" rtlCol="0" anchor="t">
            <a:normAutofit/>
          </a:bodyPr>
          <a:lstStyle/>
          <a:p>
            <a:pPr marL="0" indent="0" algn="l">
              <a:lnSpc>
                <a:spcPts val="1800"/>
              </a:lnSpc>
              <a:buNone/>
            </a:pPr>
            <a:r>
              <a:rPr lang="en-US" sz="1200" b="1" kern="0" spc="100" dirty="0">
                <a:solidFill>
                  <a:srgbClr val="E2B050"/>
                </a:solidFill>
                <a:latin typeface="Public Sans" pitchFamily="34" charset="0"/>
                <a:ea typeface="Public Sans" pitchFamily="34" charset="-122"/>
                <a:cs typeface="Public Sans" pitchFamily="34" charset="-120"/>
              </a:rPr>
              <a:t>COST</a:t>
            </a:r>
            <a:endParaRPr lang="en-US" sz="1200" dirty="0"/>
          </a:p>
        </p:txBody>
      </p:sp>
      <p:sp>
        <p:nvSpPr>
          <p:cNvPr id="26" name="Text 23"/>
          <p:cNvSpPr/>
          <p:nvPr/>
        </p:nvSpPr>
        <p:spPr>
          <a:xfrm>
            <a:off x="9232900" y="4933007"/>
            <a:ext cx="1975231" cy="705793"/>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4F7FB"/>
                </a:solidFill>
                <a:latin typeface="Public Sans" pitchFamily="34" charset="0"/>
                <a:ea typeface="Public Sans" pitchFamily="34" charset="-122"/>
                <a:cs typeface="Public Sans" pitchFamily="34" charset="-120"/>
              </a:rPr>
              <a:t>About CA$125 per person plus the goldfields shuttle</a:t>
            </a:r>
            <a:endParaRPr lang="en-US" sz="1300" dirty="0"/>
          </a:p>
        </p:txBody>
      </p:sp>
      <p:sp>
        <p:nvSpPr>
          <p:cNvPr id="27" name="Text 24"/>
          <p:cNvSpPr/>
          <p:nvPr/>
        </p:nvSpPr>
        <p:spPr>
          <a:xfrm>
            <a:off x="812800" y="6238280"/>
            <a:ext cx="470701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B7A"/>
                </a:solidFill>
                <a:latin typeface="Public Sans" pitchFamily="34" charset="0"/>
                <a:ea typeface="Public Sans" pitchFamily="34" charset="-122"/>
                <a:cs typeface="Public Sans" pitchFamily="34" charset="-120"/>
              </a:rPr>
              <a:t>The Klondike Gold Rush · Pertevniyal High School 159/E</a:t>
            </a:r>
            <a:endParaRPr lang="en-US" sz="1200" dirty="0"/>
          </a:p>
        </p:txBody>
      </p:sp>
      <p:sp>
        <p:nvSpPr>
          <p:cNvPr id="28" name="Text 25"/>
          <p:cNvSpPr/>
          <p:nvPr/>
        </p:nvSpPr>
        <p:spPr>
          <a:xfrm>
            <a:off x="10820400" y="6238280"/>
            <a:ext cx="558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F6B7A"/>
                </a:solidFill>
                <a:latin typeface="Public Sans" pitchFamily="34" charset="0"/>
                <a:ea typeface="Public Sans" pitchFamily="34" charset="-122"/>
                <a:cs typeface="Public Sans"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3F4F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A2FB0"/>
                </a:solidFill>
                <a:latin typeface="Public Sans" pitchFamily="34" charset="0"/>
                <a:ea typeface="Public Sans" pitchFamily="34" charset="-122"/>
                <a:cs typeface="Public Sans" pitchFamily="34" charset="-120"/>
              </a:rPr>
              <a:t>DAY 3 OF 5 · SATURDAY 14 AUGUST 2027</a:t>
            </a:r>
            <a:endParaRPr lang="en-US" sz="1200" dirty="0"/>
          </a:p>
        </p:txBody>
      </p:sp>
      <p:sp>
        <p:nvSpPr>
          <p:cNvPr id="3" name="Text 1"/>
          <p:cNvSpPr>
            <a:spLocks noGrp="1"/>
          </p:cNvSpPr>
          <p:nvPr>
            <p:ph type="title"/>
          </p:nvPr>
        </p:nvSpPr>
        <p:spPr>
          <a:xfrm>
            <a:off x="812800" y="1102320"/>
            <a:ext cx="10883392" cy="505420"/>
          </a:xfrm>
          <a:prstGeom prst="rect">
            <a:avLst/>
          </a:prstGeom>
          <a:noFill/>
          <a:ln/>
        </p:spPr>
        <p:txBody>
          <a:bodyPr wrap="square" lIns="0" tIns="0" rIns="0" bIns="0" rtlCol="0" anchor="t">
            <a:normAutofit/>
          </a:bodyPr>
          <a:lstStyle/>
          <a:p>
            <a:pPr marL="0" indent="0" algn="l">
              <a:lnSpc>
                <a:spcPts val="3780"/>
              </a:lnSpc>
              <a:buNone/>
            </a:pPr>
            <a:r>
              <a:rPr lang="en-US" sz="3600" b="0" i="0" dirty="0">
                <a:solidFill>
                  <a:srgbClr val="000084"/>
                </a:solidFill>
                <a:latin typeface="Oswald" pitchFamily="34" charset="0"/>
                <a:ea typeface="Oswald" pitchFamily="34" charset="-122"/>
                <a:cs typeface="Oswald" pitchFamily="34" charset="-120"/>
              </a:rPr>
              <a:t>Day 3: Discovery Days Weekend</a:t>
            </a:r>
            <a:endParaRPr lang="en-US" sz="3600" dirty="0"/>
          </a:p>
        </p:txBody>
      </p:sp>
      <p:sp>
        <p:nvSpPr>
          <p:cNvPr id="4" name="Shape 2"/>
          <p:cNvSpPr/>
          <p:nvPr/>
        </p:nvSpPr>
        <p:spPr>
          <a:xfrm>
            <a:off x="815975" y="1839516"/>
            <a:ext cx="6953250" cy="1103610"/>
          </a:xfrm>
          <a:prstGeom prst="roundRect">
            <a:avLst>
              <a:gd name="adj" fmla="val 8918"/>
            </a:avLst>
          </a:prstGeom>
          <a:solidFill>
            <a:srgbClr val="FBFCFE"/>
          </a:solidFill>
          <a:ln w="6350">
            <a:solidFill>
              <a:srgbClr val="D9DBEE"/>
            </a:solidFill>
            <a:prstDash val="solid"/>
          </a:ln>
        </p:spPr>
        <p:txBody>
          <a:bodyPr/>
          <a:lstStyle/>
          <a:p>
            <a:endParaRPr lang="tr-TR"/>
          </a:p>
        </p:txBody>
      </p:sp>
      <p:sp>
        <p:nvSpPr>
          <p:cNvPr id="5" name="Text 3"/>
          <p:cNvSpPr/>
          <p:nvPr/>
        </p:nvSpPr>
        <p:spPr>
          <a:xfrm>
            <a:off x="1022350" y="2020491"/>
            <a:ext cx="1003300"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A2FB0"/>
                </a:solidFill>
                <a:latin typeface="Public Sans" pitchFamily="34" charset="0"/>
                <a:ea typeface="Public Sans" pitchFamily="34" charset="-122"/>
                <a:cs typeface="Public Sans" pitchFamily="34" charset="-120"/>
              </a:rPr>
              <a:t>MORNING</a:t>
            </a:r>
            <a:endParaRPr lang="en-US" sz="1200" dirty="0"/>
          </a:p>
        </p:txBody>
      </p:sp>
      <p:sp>
        <p:nvSpPr>
          <p:cNvPr id="6" name="Text 4"/>
          <p:cNvSpPr/>
          <p:nvPr/>
        </p:nvSpPr>
        <p:spPr>
          <a:xfrm>
            <a:off x="1022350" y="2259211"/>
            <a:ext cx="10033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B7A"/>
                </a:solidFill>
                <a:latin typeface="Public Sans" pitchFamily="34" charset="0"/>
                <a:ea typeface="Public Sans" pitchFamily="34" charset="-122"/>
                <a:cs typeface="Public Sans" pitchFamily="34" charset="-120"/>
              </a:rPr>
              <a:t>09:30</a:t>
            </a:r>
            <a:endParaRPr lang="en-US" sz="1200" dirty="0"/>
          </a:p>
        </p:txBody>
      </p:sp>
      <p:sp>
        <p:nvSpPr>
          <p:cNvPr id="7" name="Text 5"/>
          <p:cNvSpPr/>
          <p:nvPr/>
        </p:nvSpPr>
        <p:spPr>
          <a:xfrm>
            <a:off x="2127250" y="2020491"/>
            <a:ext cx="5598668"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00084"/>
                </a:solidFill>
                <a:latin typeface="Public Sans" pitchFamily="34" charset="0"/>
                <a:ea typeface="Public Sans" pitchFamily="34" charset="-122"/>
                <a:cs typeface="Public Sans" pitchFamily="34" charset="-120"/>
              </a:rPr>
              <a:t>Dawson City Museum and the writers’ cabins</a:t>
            </a:r>
            <a:endParaRPr lang="en-US" sz="1500" dirty="0"/>
          </a:p>
        </p:txBody>
      </p:sp>
      <p:sp>
        <p:nvSpPr>
          <p:cNvPr id="8" name="Text 6"/>
          <p:cNvSpPr/>
          <p:nvPr/>
        </p:nvSpPr>
        <p:spPr>
          <a:xfrm>
            <a:off x="2127250" y="2299891"/>
            <a:ext cx="5598668" cy="4876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75569"/>
                </a:solidFill>
                <a:latin typeface="Public Sans" pitchFamily="34" charset="0"/>
                <a:ea typeface="Public Sans" pitchFamily="34" charset="-122"/>
                <a:cs typeface="Public Sans" pitchFamily="34" charset="-120"/>
              </a:rPr>
              <a:t>Gold rush objects and old locomotives at the museum, then the cabins of the writers Jack London and Robert Service.</a:t>
            </a:r>
            <a:endParaRPr lang="en-US" sz="1300" dirty="0"/>
          </a:p>
        </p:txBody>
      </p:sp>
      <p:sp>
        <p:nvSpPr>
          <p:cNvPr id="9" name="Shape 7"/>
          <p:cNvSpPr/>
          <p:nvPr/>
        </p:nvSpPr>
        <p:spPr>
          <a:xfrm>
            <a:off x="815975" y="3076476"/>
            <a:ext cx="6953250" cy="1103610"/>
          </a:xfrm>
          <a:prstGeom prst="roundRect">
            <a:avLst>
              <a:gd name="adj" fmla="val 8918"/>
            </a:avLst>
          </a:prstGeom>
          <a:solidFill>
            <a:srgbClr val="FBFCFE"/>
          </a:solidFill>
          <a:ln w="6350">
            <a:solidFill>
              <a:srgbClr val="D9DBEE"/>
            </a:solidFill>
            <a:prstDash val="solid"/>
          </a:ln>
        </p:spPr>
        <p:txBody>
          <a:bodyPr/>
          <a:lstStyle/>
          <a:p>
            <a:endParaRPr lang="tr-TR"/>
          </a:p>
        </p:txBody>
      </p:sp>
      <p:sp>
        <p:nvSpPr>
          <p:cNvPr id="10" name="Text 8"/>
          <p:cNvSpPr/>
          <p:nvPr/>
        </p:nvSpPr>
        <p:spPr>
          <a:xfrm>
            <a:off x="1022350" y="3257451"/>
            <a:ext cx="1003300"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A2FB0"/>
                </a:solidFill>
                <a:latin typeface="Public Sans" pitchFamily="34" charset="0"/>
                <a:ea typeface="Public Sans" pitchFamily="34" charset="-122"/>
                <a:cs typeface="Public Sans" pitchFamily="34" charset="-120"/>
              </a:rPr>
              <a:t>NOON</a:t>
            </a:r>
            <a:endParaRPr lang="en-US" sz="1200" dirty="0"/>
          </a:p>
        </p:txBody>
      </p:sp>
      <p:sp>
        <p:nvSpPr>
          <p:cNvPr id="11" name="Text 9"/>
          <p:cNvSpPr/>
          <p:nvPr/>
        </p:nvSpPr>
        <p:spPr>
          <a:xfrm>
            <a:off x="1022350" y="3496171"/>
            <a:ext cx="10033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B7A"/>
                </a:solidFill>
                <a:latin typeface="Public Sans" pitchFamily="34" charset="0"/>
                <a:ea typeface="Public Sans" pitchFamily="34" charset="-122"/>
                <a:cs typeface="Public Sans" pitchFamily="34" charset="-120"/>
              </a:rPr>
              <a:t>12:00</a:t>
            </a:r>
            <a:endParaRPr lang="en-US" sz="1200" dirty="0"/>
          </a:p>
        </p:txBody>
      </p:sp>
      <p:sp>
        <p:nvSpPr>
          <p:cNvPr id="12" name="Text 10"/>
          <p:cNvSpPr/>
          <p:nvPr/>
        </p:nvSpPr>
        <p:spPr>
          <a:xfrm>
            <a:off x="2127250" y="3257451"/>
            <a:ext cx="5598668"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00084"/>
                </a:solidFill>
                <a:latin typeface="Public Sans" pitchFamily="34" charset="0"/>
                <a:ea typeface="Public Sans" pitchFamily="34" charset="-122"/>
                <a:cs typeface="Public Sans" pitchFamily="34" charset="-120"/>
              </a:rPr>
              <a:t>Discovery Days parade</a:t>
            </a:r>
            <a:endParaRPr lang="en-US" sz="1500" dirty="0"/>
          </a:p>
        </p:txBody>
      </p:sp>
      <p:sp>
        <p:nvSpPr>
          <p:cNvPr id="13" name="Text 11"/>
          <p:cNvSpPr/>
          <p:nvPr/>
        </p:nvSpPr>
        <p:spPr>
          <a:xfrm>
            <a:off x="2127250" y="3536851"/>
            <a:ext cx="5598668" cy="4876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75569"/>
                </a:solidFill>
                <a:latin typeface="Public Sans" pitchFamily="34" charset="0"/>
                <a:ea typeface="Public Sans" pitchFamily="34" charset="-122"/>
                <a:cs typeface="Public Sans" pitchFamily="34" charset="-120"/>
              </a:rPr>
              <a:t>Front Street fills with floats, music and Mounties in red uniforms. Afterwards: street festival, games and live music.</a:t>
            </a:r>
            <a:endParaRPr lang="en-US" sz="1300" dirty="0"/>
          </a:p>
        </p:txBody>
      </p:sp>
      <p:sp>
        <p:nvSpPr>
          <p:cNvPr id="14" name="Shape 12"/>
          <p:cNvSpPr/>
          <p:nvPr/>
        </p:nvSpPr>
        <p:spPr>
          <a:xfrm>
            <a:off x="815975" y="4313436"/>
            <a:ext cx="6953250" cy="1103610"/>
          </a:xfrm>
          <a:prstGeom prst="roundRect">
            <a:avLst>
              <a:gd name="adj" fmla="val 8918"/>
            </a:avLst>
          </a:prstGeom>
          <a:solidFill>
            <a:srgbClr val="FBFCFE"/>
          </a:solidFill>
          <a:ln w="6350">
            <a:solidFill>
              <a:srgbClr val="D9DBEE"/>
            </a:solidFill>
            <a:prstDash val="solid"/>
          </a:ln>
        </p:spPr>
        <p:txBody>
          <a:bodyPr/>
          <a:lstStyle/>
          <a:p>
            <a:endParaRPr lang="tr-TR"/>
          </a:p>
        </p:txBody>
      </p:sp>
      <p:sp>
        <p:nvSpPr>
          <p:cNvPr id="15" name="Text 13"/>
          <p:cNvSpPr/>
          <p:nvPr/>
        </p:nvSpPr>
        <p:spPr>
          <a:xfrm>
            <a:off x="1022350" y="4494411"/>
            <a:ext cx="1003300"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A2FB0"/>
                </a:solidFill>
                <a:latin typeface="Public Sans" pitchFamily="34" charset="0"/>
                <a:ea typeface="Public Sans" pitchFamily="34" charset="-122"/>
                <a:cs typeface="Public Sans" pitchFamily="34" charset="-120"/>
              </a:rPr>
              <a:t>EVENING</a:t>
            </a:r>
            <a:endParaRPr lang="en-US" sz="1200" dirty="0"/>
          </a:p>
        </p:txBody>
      </p:sp>
      <p:sp>
        <p:nvSpPr>
          <p:cNvPr id="16" name="Text 14"/>
          <p:cNvSpPr/>
          <p:nvPr/>
        </p:nvSpPr>
        <p:spPr>
          <a:xfrm>
            <a:off x="1022350" y="4733131"/>
            <a:ext cx="10033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B7A"/>
                </a:solidFill>
                <a:latin typeface="Public Sans" pitchFamily="34" charset="0"/>
                <a:ea typeface="Public Sans" pitchFamily="34" charset="-122"/>
                <a:cs typeface="Public Sans" pitchFamily="34" charset="-120"/>
              </a:rPr>
              <a:t>19:30</a:t>
            </a:r>
            <a:endParaRPr lang="en-US" sz="1200" dirty="0"/>
          </a:p>
        </p:txBody>
      </p:sp>
      <p:sp>
        <p:nvSpPr>
          <p:cNvPr id="17" name="Text 15"/>
          <p:cNvSpPr/>
          <p:nvPr/>
        </p:nvSpPr>
        <p:spPr>
          <a:xfrm>
            <a:off x="2127250" y="4494411"/>
            <a:ext cx="5598668"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00084"/>
                </a:solidFill>
                <a:latin typeface="Public Sans" pitchFamily="34" charset="0"/>
                <a:ea typeface="Public Sans" pitchFamily="34" charset="-122"/>
                <a:cs typeface="Public Sans" pitchFamily="34" charset="-120"/>
              </a:rPr>
              <a:t>Sunset on the Midnight Dome</a:t>
            </a:r>
            <a:endParaRPr lang="en-US" sz="1500" dirty="0"/>
          </a:p>
        </p:txBody>
      </p:sp>
      <p:sp>
        <p:nvSpPr>
          <p:cNvPr id="18" name="Text 16"/>
          <p:cNvSpPr/>
          <p:nvPr/>
        </p:nvSpPr>
        <p:spPr>
          <a:xfrm>
            <a:off x="2127250" y="4773811"/>
            <a:ext cx="5598668" cy="4876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75569"/>
                </a:solidFill>
                <a:latin typeface="Public Sans" pitchFamily="34" charset="0"/>
                <a:ea typeface="Public Sans" pitchFamily="34" charset="-122"/>
                <a:cs typeface="Public Sans" pitchFamily="34" charset="-120"/>
              </a:rPr>
              <a:t>Hike (about 2 hours) or taxi to the 880 m viewpoint over the town, the Yukon River and the goldfields.</a:t>
            </a:r>
            <a:endParaRPr lang="en-US" sz="1300" dirty="0"/>
          </a:p>
        </p:txBody>
      </p:sp>
      <p:sp>
        <p:nvSpPr>
          <p:cNvPr id="19" name="Shape 17"/>
          <p:cNvSpPr/>
          <p:nvPr/>
        </p:nvSpPr>
        <p:spPr>
          <a:xfrm>
            <a:off x="8077200" y="1836341"/>
            <a:ext cx="3302000" cy="3845471"/>
          </a:xfrm>
          <a:prstGeom prst="roundRect">
            <a:avLst>
              <a:gd name="adj" fmla="val 3077"/>
            </a:avLst>
          </a:prstGeom>
          <a:solidFill>
            <a:srgbClr val="000084"/>
          </a:solidFill>
          <a:ln/>
        </p:spPr>
        <p:txBody>
          <a:bodyPr/>
          <a:lstStyle/>
          <a:p>
            <a:endParaRPr lang="tr-TR"/>
          </a:p>
        </p:txBody>
      </p:sp>
      <p:pic>
        <p:nvPicPr>
          <p:cNvPr id="20" name="Image 0" descr="preencoded.png"/>
          <p:cNvPicPr>
            <a:picLocks noChangeAspect="1"/>
          </p:cNvPicPr>
          <p:nvPr/>
        </p:nvPicPr>
        <p:blipFill>
          <a:blip r:embed="rId3"/>
          <a:srcRect/>
          <a:stretch/>
        </p:blipFill>
        <p:spPr>
          <a:xfrm>
            <a:off x="8305800" y="2064941"/>
            <a:ext cx="2844800" cy="952500"/>
          </a:xfrm>
          <a:prstGeom prst="rect">
            <a:avLst/>
          </a:prstGeom>
        </p:spPr>
      </p:pic>
      <p:sp>
        <p:nvSpPr>
          <p:cNvPr id="21" name="Text 18"/>
          <p:cNvSpPr/>
          <p:nvPr/>
        </p:nvSpPr>
        <p:spPr>
          <a:xfrm>
            <a:off x="8305800" y="3169841"/>
            <a:ext cx="876300" cy="949920"/>
          </a:xfrm>
          <a:prstGeom prst="rect">
            <a:avLst/>
          </a:prstGeom>
          <a:noFill/>
          <a:ln/>
        </p:spPr>
        <p:txBody>
          <a:bodyPr wrap="square" lIns="0" tIns="0" rIns="0" bIns="0" rtlCol="0" anchor="t">
            <a:normAutofit/>
          </a:bodyPr>
          <a:lstStyle/>
          <a:p>
            <a:pPr marL="0" indent="0" algn="l">
              <a:lnSpc>
                <a:spcPts val="1800"/>
              </a:lnSpc>
              <a:buNone/>
            </a:pPr>
            <a:r>
              <a:rPr lang="en-US" sz="1200" b="1" kern="0" spc="100" dirty="0">
                <a:solidFill>
                  <a:srgbClr val="E2B050"/>
                </a:solidFill>
                <a:latin typeface="Public Sans" pitchFamily="34" charset="0"/>
                <a:ea typeface="Public Sans" pitchFamily="34" charset="-122"/>
                <a:cs typeface="Public Sans" pitchFamily="34" charset="-120"/>
              </a:rPr>
              <a:t>PLACES</a:t>
            </a:r>
            <a:endParaRPr lang="en-US" sz="1200" dirty="0"/>
          </a:p>
        </p:txBody>
      </p:sp>
      <p:sp>
        <p:nvSpPr>
          <p:cNvPr id="22" name="Text 19"/>
          <p:cNvSpPr/>
          <p:nvPr/>
        </p:nvSpPr>
        <p:spPr>
          <a:xfrm>
            <a:off x="9232900" y="3169841"/>
            <a:ext cx="1975231" cy="94992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4F7FB"/>
                </a:solidFill>
                <a:latin typeface="Public Sans" pitchFamily="34" charset="0"/>
                <a:ea typeface="Public Sans" pitchFamily="34" charset="-122"/>
                <a:cs typeface="Public Sans" pitchFamily="34" charset="-120"/>
              </a:rPr>
              <a:t>Dawson City Museum · Jack London Museum · Robert Service Cabin · Midnight Dome</a:t>
            </a:r>
            <a:endParaRPr lang="en-US" sz="1300" dirty="0"/>
          </a:p>
        </p:txBody>
      </p:sp>
      <p:sp>
        <p:nvSpPr>
          <p:cNvPr id="23" name="Text 20"/>
          <p:cNvSpPr/>
          <p:nvPr/>
        </p:nvSpPr>
        <p:spPr>
          <a:xfrm>
            <a:off x="8305800" y="4195961"/>
            <a:ext cx="876300" cy="718790"/>
          </a:xfrm>
          <a:prstGeom prst="rect">
            <a:avLst/>
          </a:prstGeom>
          <a:noFill/>
          <a:ln/>
        </p:spPr>
        <p:txBody>
          <a:bodyPr wrap="square" lIns="0" tIns="0" rIns="0" bIns="0" rtlCol="0" anchor="t">
            <a:normAutofit/>
          </a:bodyPr>
          <a:lstStyle/>
          <a:p>
            <a:pPr marL="0" indent="0" algn="l">
              <a:lnSpc>
                <a:spcPts val="1800"/>
              </a:lnSpc>
              <a:buNone/>
            </a:pPr>
            <a:r>
              <a:rPr lang="en-US" sz="1200" b="1" kern="0" spc="100" dirty="0">
                <a:solidFill>
                  <a:srgbClr val="E2B050"/>
                </a:solidFill>
                <a:latin typeface="Public Sans" pitchFamily="34" charset="0"/>
                <a:ea typeface="Public Sans" pitchFamily="34" charset="-122"/>
                <a:cs typeface="Public Sans" pitchFamily="34" charset="-120"/>
              </a:rPr>
              <a:t>ACTIVITIES</a:t>
            </a:r>
            <a:endParaRPr lang="en-US" sz="1200" dirty="0"/>
          </a:p>
        </p:txBody>
      </p:sp>
      <p:sp>
        <p:nvSpPr>
          <p:cNvPr id="24" name="Text 21"/>
          <p:cNvSpPr/>
          <p:nvPr/>
        </p:nvSpPr>
        <p:spPr>
          <a:xfrm>
            <a:off x="9232900" y="4195961"/>
            <a:ext cx="1975231" cy="71879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4F7FB"/>
                </a:solidFill>
                <a:latin typeface="Public Sans" pitchFamily="34" charset="0"/>
                <a:ea typeface="Public Sans" pitchFamily="34" charset="-122"/>
                <a:cs typeface="Public Sans" pitchFamily="34" charset="-120"/>
              </a:rPr>
              <a:t>Discovery Days parade and festival (free) · Hike up the Dome</a:t>
            </a:r>
            <a:endParaRPr lang="en-US" sz="1300" dirty="0"/>
          </a:p>
        </p:txBody>
      </p:sp>
      <p:sp>
        <p:nvSpPr>
          <p:cNvPr id="25" name="Text 22"/>
          <p:cNvSpPr/>
          <p:nvPr/>
        </p:nvSpPr>
        <p:spPr>
          <a:xfrm>
            <a:off x="8305800" y="4990951"/>
            <a:ext cx="876300" cy="487660"/>
          </a:xfrm>
          <a:prstGeom prst="rect">
            <a:avLst/>
          </a:prstGeom>
          <a:noFill/>
          <a:ln/>
        </p:spPr>
        <p:txBody>
          <a:bodyPr wrap="square" lIns="0" tIns="0" rIns="0" bIns="0" rtlCol="0" anchor="t">
            <a:normAutofit/>
          </a:bodyPr>
          <a:lstStyle/>
          <a:p>
            <a:pPr marL="0" indent="0" algn="l">
              <a:lnSpc>
                <a:spcPts val="1800"/>
              </a:lnSpc>
              <a:buNone/>
            </a:pPr>
            <a:r>
              <a:rPr lang="en-US" sz="1200" b="1" kern="0" spc="100" dirty="0">
                <a:solidFill>
                  <a:srgbClr val="E2B050"/>
                </a:solidFill>
                <a:latin typeface="Public Sans" pitchFamily="34" charset="0"/>
                <a:ea typeface="Public Sans" pitchFamily="34" charset="-122"/>
                <a:cs typeface="Public Sans" pitchFamily="34" charset="-120"/>
              </a:rPr>
              <a:t>COST</a:t>
            </a:r>
            <a:endParaRPr lang="en-US" sz="1200" dirty="0"/>
          </a:p>
        </p:txBody>
      </p:sp>
      <p:sp>
        <p:nvSpPr>
          <p:cNvPr id="26" name="Text 23"/>
          <p:cNvSpPr/>
          <p:nvPr/>
        </p:nvSpPr>
        <p:spPr>
          <a:xfrm>
            <a:off x="9232900" y="4990951"/>
            <a:ext cx="1975231" cy="4876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4F7FB"/>
                </a:solidFill>
                <a:latin typeface="Public Sans" pitchFamily="34" charset="0"/>
                <a:ea typeface="Public Sans" pitchFamily="34" charset="-122"/>
                <a:cs typeface="Public Sans" pitchFamily="34" charset="-120"/>
              </a:rPr>
              <a:t>About CA$25 per person for the museums</a:t>
            </a:r>
            <a:endParaRPr lang="en-US" sz="1300" dirty="0"/>
          </a:p>
        </p:txBody>
      </p:sp>
      <p:sp>
        <p:nvSpPr>
          <p:cNvPr id="27" name="Text 24"/>
          <p:cNvSpPr/>
          <p:nvPr/>
        </p:nvSpPr>
        <p:spPr>
          <a:xfrm>
            <a:off x="812800" y="6238280"/>
            <a:ext cx="470701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B7A"/>
                </a:solidFill>
                <a:latin typeface="Public Sans" pitchFamily="34" charset="0"/>
                <a:ea typeface="Public Sans" pitchFamily="34" charset="-122"/>
                <a:cs typeface="Public Sans" pitchFamily="34" charset="-120"/>
              </a:rPr>
              <a:t>The Klondike Gold Rush · Pertevniyal High School 159/E</a:t>
            </a:r>
            <a:endParaRPr lang="en-US" sz="1200" dirty="0"/>
          </a:p>
        </p:txBody>
      </p:sp>
      <p:sp>
        <p:nvSpPr>
          <p:cNvPr id="28" name="Text 25"/>
          <p:cNvSpPr/>
          <p:nvPr/>
        </p:nvSpPr>
        <p:spPr>
          <a:xfrm>
            <a:off x="10820400" y="6238280"/>
            <a:ext cx="558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F6B7A"/>
                </a:solidFill>
                <a:latin typeface="Public Sans" pitchFamily="34" charset="0"/>
                <a:ea typeface="Public Sans" pitchFamily="34" charset="-122"/>
                <a:cs typeface="Public Sans"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3F4F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14957"/>
          </a:xfrm>
          <a:prstGeom prst="rect">
            <a:avLst/>
          </a:prstGeom>
          <a:noFill/>
          <a:ln/>
        </p:spPr>
        <p:txBody>
          <a:bodyPr wrap="square" lIns="0" tIns="0" rIns="0" bIns="0" rtlCol="0" anchor="t">
            <a:normAutofit/>
          </a:bodyPr>
          <a:lstStyle/>
          <a:p>
            <a:pPr marL="0" indent="0" algn="l">
              <a:lnSpc>
                <a:spcPts val="1523"/>
              </a:lnSpc>
              <a:buNone/>
            </a:pPr>
            <a:r>
              <a:rPr lang="en-US" sz="1088" b="1" kern="0" spc="150" dirty="0">
                <a:solidFill>
                  <a:srgbClr val="2A2FB0"/>
                </a:solidFill>
                <a:latin typeface="Public Sans" pitchFamily="34" charset="0"/>
                <a:ea typeface="Public Sans" pitchFamily="34" charset="-122"/>
                <a:cs typeface="Public Sans" pitchFamily="34" charset="-120"/>
              </a:rPr>
              <a:t>DAY 4 OF 5 · SUNDAY 15 AUGUST 2027</a:t>
            </a:r>
            <a:endParaRPr lang="en-US" sz="1088" dirty="0"/>
          </a:p>
        </p:txBody>
      </p:sp>
      <p:sp>
        <p:nvSpPr>
          <p:cNvPr id="3" name="Text 1"/>
          <p:cNvSpPr>
            <a:spLocks noGrp="1"/>
          </p:cNvSpPr>
          <p:nvPr>
            <p:ph type="title"/>
          </p:nvPr>
        </p:nvSpPr>
        <p:spPr>
          <a:xfrm>
            <a:off x="812800" y="1078557"/>
            <a:ext cx="10883392" cy="451892"/>
          </a:xfrm>
          <a:prstGeom prst="rect">
            <a:avLst/>
          </a:prstGeom>
          <a:noFill/>
          <a:ln/>
        </p:spPr>
        <p:txBody>
          <a:bodyPr wrap="square" lIns="0" tIns="0" rIns="0" bIns="0" rtlCol="0" anchor="t">
            <a:normAutofit/>
          </a:bodyPr>
          <a:lstStyle/>
          <a:p>
            <a:pPr marL="0" indent="0" algn="l">
              <a:lnSpc>
                <a:spcPts val="3367"/>
              </a:lnSpc>
              <a:buNone/>
            </a:pPr>
            <a:r>
              <a:rPr lang="en-US" sz="3206" b="0" i="0" dirty="0">
                <a:solidFill>
                  <a:srgbClr val="000084"/>
                </a:solidFill>
                <a:latin typeface="Oswald" pitchFamily="34" charset="0"/>
                <a:ea typeface="Oswald" pitchFamily="34" charset="-122"/>
                <a:cs typeface="Oswald" pitchFamily="34" charset="-120"/>
              </a:rPr>
              <a:t>Day 4: Tombstone Territorial Park</a:t>
            </a:r>
            <a:endParaRPr lang="en-US" sz="3206" dirty="0"/>
          </a:p>
        </p:txBody>
      </p:sp>
      <p:sp>
        <p:nvSpPr>
          <p:cNvPr id="4" name="Shape 2"/>
          <p:cNvSpPr/>
          <p:nvPr/>
        </p:nvSpPr>
        <p:spPr>
          <a:xfrm>
            <a:off x="815975" y="1762224"/>
            <a:ext cx="6953250" cy="1103610"/>
          </a:xfrm>
          <a:prstGeom prst="roundRect">
            <a:avLst>
              <a:gd name="adj" fmla="val 8918"/>
            </a:avLst>
          </a:prstGeom>
          <a:solidFill>
            <a:srgbClr val="FBFCFE"/>
          </a:solidFill>
          <a:ln w="6350">
            <a:solidFill>
              <a:srgbClr val="D9DBEE"/>
            </a:solidFill>
            <a:prstDash val="solid"/>
          </a:ln>
        </p:spPr>
        <p:txBody>
          <a:bodyPr/>
          <a:lstStyle/>
          <a:p>
            <a:endParaRPr lang="tr-TR"/>
          </a:p>
        </p:txBody>
      </p:sp>
      <p:sp>
        <p:nvSpPr>
          <p:cNvPr id="5" name="Text 3"/>
          <p:cNvSpPr/>
          <p:nvPr/>
        </p:nvSpPr>
        <p:spPr>
          <a:xfrm>
            <a:off x="1022350" y="1943199"/>
            <a:ext cx="1003300"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A2FB0"/>
                </a:solidFill>
                <a:latin typeface="Public Sans" pitchFamily="34" charset="0"/>
                <a:ea typeface="Public Sans" pitchFamily="34" charset="-122"/>
                <a:cs typeface="Public Sans" pitchFamily="34" charset="-120"/>
              </a:rPr>
              <a:t>MORNING</a:t>
            </a:r>
            <a:endParaRPr lang="en-US" sz="1200" dirty="0"/>
          </a:p>
        </p:txBody>
      </p:sp>
      <p:sp>
        <p:nvSpPr>
          <p:cNvPr id="6" name="Text 4"/>
          <p:cNvSpPr/>
          <p:nvPr/>
        </p:nvSpPr>
        <p:spPr>
          <a:xfrm>
            <a:off x="1022350" y="2181920"/>
            <a:ext cx="10033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B7A"/>
                </a:solidFill>
                <a:latin typeface="Public Sans" pitchFamily="34" charset="0"/>
                <a:ea typeface="Public Sans" pitchFamily="34" charset="-122"/>
                <a:cs typeface="Public Sans" pitchFamily="34" charset="-120"/>
              </a:rPr>
              <a:t>08:30</a:t>
            </a:r>
            <a:endParaRPr lang="en-US" sz="1200" dirty="0"/>
          </a:p>
        </p:txBody>
      </p:sp>
      <p:sp>
        <p:nvSpPr>
          <p:cNvPr id="7" name="Text 5"/>
          <p:cNvSpPr/>
          <p:nvPr/>
        </p:nvSpPr>
        <p:spPr>
          <a:xfrm>
            <a:off x="2127250" y="1943199"/>
            <a:ext cx="5598668"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00084"/>
                </a:solidFill>
                <a:latin typeface="Public Sans" pitchFamily="34" charset="0"/>
                <a:ea typeface="Public Sans" pitchFamily="34" charset="-122"/>
                <a:cs typeface="Public Sans" pitchFamily="34" charset="-120"/>
              </a:rPr>
              <a:t>Up the Dempster Highway</a:t>
            </a:r>
            <a:endParaRPr lang="en-US" sz="1500" dirty="0"/>
          </a:p>
        </p:txBody>
      </p:sp>
      <p:sp>
        <p:nvSpPr>
          <p:cNvPr id="8" name="Text 6"/>
          <p:cNvSpPr/>
          <p:nvPr/>
        </p:nvSpPr>
        <p:spPr>
          <a:xfrm>
            <a:off x="2127250" y="2222599"/>
            <a:ext cx="5598668" cy="4876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75569"/>
                </a:solidFill>
                <a:latin typeface="Public Sans" pitchFamily="34" charset="0"/>
                <a:ea typeface="Public Sans" pitchFamily="34" charset="-122"/>
                <a:cs typeface="Public Sans" pitchFamily="34" charset="-120"/>
              </a:rPr>
              <a:t>Guided van tour north on Canada’s only road to the Arctic, 1.5 hours each way. Photo stops and wildlife watching.</a:t>
            </a:r>
            <a:endParaRPr lang="en-US" sz="1300" dirty="0"/>
          </a:p>
        </p:txBody>
      </p:sp>
      <p:sp>
        <p:nvSpPr>
          <p:cNvPr id="9" name="Shape 7"/>
          <p:cNvSpPr/>
          <p:nvPr/>
        </p:nvSpPr>
        <p:spPr>
          <a:xfrm>
            <a:off x="815975" y="2999184"/>
            <a:ext cx="6953250" cy="1103610"/>
          </a:xfrm>
          <a:prstGeom prst="roundRect">
            <a:avLst>
              <a:gd name="adj" fmla="val 8918"/>
            </a:avLst>
          </a:prstGeom>
          <a:solidFill>
            <a:srgbClr val="FBFCFE"/>
          </a:solidFill>
          <a:ln w="6350">
            <a:solidFill>
              <a:srgbClr val="D9DBEE"/>
            </a:solidFill>
            <a:prstDash val="solid"/>
          </a:ln>
        </p:spPr>
        <p:txBody>
          <a:bodyPr/>
          <a:lstStyle/>
          <a:p>
            <a:endParaRPr lang="tr-TR"/>
          </a:p>
        </p:txBody>
      </p:sp>
      <p:sp>
        <p:nvSpPr>
          <p:cNvPr id="10" name="Text 8"/>
          <p:cNvSpPr/>
          <p:nvPr/>
        </p:nvSpPr>
        <p:spPr>
          <a:xfrm>
            <a:off x="1022350" y="3180159"/>
            <a:ext cx="1003300"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A2FB0"/>
                </a:solidFill>
                <a:latin typeface="Public Sans" pitchFamily="34" charset="0"/>
                <a:ea typeface="Public Sans" pitchFamily="34" charset="-122"/>
                <a:cs typeface="Public Sans" pitchFamily="34" charset="-120"/>
              </a:rPr>
              <a:t>MIDDAY</a:t>
            </a:r>
            <a:endParaRPr lang="en-US" sz="1200" dirty="0"/>
          </a:p>
        </p:txBody>
      </p:sp>
      <p:sp>
        <p:nvSpPr>
          <p:cNvPr id="11" name="Text 9"/>
          <p:cNvSpPr/>
          <p:nvPr/>
        </p:nvSpPr>
        <p:spPr>
          <a:xfrm>
            <a:off x="1022350" y="3418880"/>
            <a:ext cx="10033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B7A"/>
                </a:solidFill>
                <a:latin typeface="Public Sans" pitchFamily="34" charset="0"/>
                <a:ea typeface="Public Sans" pitchFamily="34" charset="-122"/>
                <a:cs typeface="Public Sans" pitchFamily="34" charset="-120"/>
              </a:rPr>
              <a:t>11:00</a:t>
            </a:r>
            <a:endParaRPr lang="en-US" sz="1200" dirty="0"/>
          </a:p>
        </p:txBody>
      </p:sp>
      <p:sp>
        <p:nvSpPr>
          <p:cNvPr id="12" name="Text 10"/>
          <p:cNvSpPr/>
          <p:nvPr/>
        </p:nvSpPr>
        <p:spPr>
          <a:xfrm>
            <a:off x="2127250" y="3180159"/>
            <a:ext cx="5598668"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00084"/>
                </a:solidFill>
                <a:latin typeface="Public Sans" pitchFamily="34" charset="0"/>
                <a:ea typeface="Public Sans" pitchFamily="34" charset="-122"/>
                <a:cs typeface="Public Sans" pitchFamily="34" charset="-120"/>
              </a:rPr>
              <a:t>Tombstone Interpretive Centre</a:t>
            </a:r>
            <a:endParaRPr lang="en-US" sz="1500" dirty="0"/>
          </a:p>
        </p:txBody>
      </p:sp>
      <p:sp>
        <p:nvSpPr>
          <p:cNvPr id="13" name="Text 11"/>
          <p:cNvSpPr/>
          <p:nvPr/>
        </p:nvSpPr>
        <p:spPr>
          <a:xfrm>
            <a:off x="2127250" y="3459559"/>
            <a:ext cx="5598668" cy="4876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75569"/>
                </a:solidFill>
                <a:latin typeface="Public Sans" pitchFamily="34" charset="0"/>
                <a:ea typeface="Public Sans" pitchFamily="34" charset="-122"/>
                <a:cs typeface="Public Sans" pitchFamily="34" charset="-120"/>
              </a:rPr>
              <a:t>Exhibits about the “Patagonia of the North”, a cup of wild mountain tea with the rangers, and a picnic lunch.</a:t>
            </a:r>
            <a:endParaRPr lang="en-US" sz="1300" dirty="0"/>
          </a:p>
        </p:txBody>
      </p:sp>
      <p:sp>
        <p:nvSpPr>
          <p:cNvPr id="14" name="Shape 12"/>
          <p:cNvSpPr/>
          <p:nvPr/>
        </p:nvSpPr>
        <p:spPr>
          <a:xfrm>
            <a:off x="815975" y="4236145"/>
            <a:ext cx="6953250" cy="1103610"/>
          </a:xfrm>
          <a:prstGeom prst="roundRect">
            <a:avLst>
              <a:gd name="adj" fmla="val 8918"/>
            </a:avLst>
          </a:prstGeom>
          <a:solidFill>
            <a:srgbClr val="FBFCFE"/>
          </a:solidFill>
          <a:ln w="6350">
            <a:solidFill>
              <a:srgbClr val="D9DBEE"/>
            </a:solidFill>
            <a:prstDash val="solid"/>
          </a:ln>
        </p:spPr>
        <p:txBody>
          <a:bodyPr/>
          <a:lstStyle/>
          <a:p>
            <a:endParaRPr lang="tr-TR"/>
          </a:p>
        </p:txBody>
      </p:sp>
      <p:sp>
        <p:nvSpPr>
          <p:cNvPr id="15" name="Text 13"/>
          <p:cNvSpPr/>
          <p:nvPr/>
        </p:nvSpPr>
        <p:spPr>
          <a:xfrm>
            <a:off x="1022350" y="4417120"/>
            <a:ext cx="1003300" cy="45204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A2FB0"/>
                </a:solidFill>
                <a:latin typeface="Public Sans" pitchFamily="34" charset="0"/>
                <a:ea typeface="Public Sans" pitchFamily="34" charset="-122"/>
                <a:cs typeface="Public Sans" pitchFamily="34" charset="-120"/>
              </a:rPr>
              <a:t>AFTERNOON</a:t>
            </a:r>
            <a:endParaRPr lang="en-US" sz="1200" dirty="0"/>
          </a:p>
        </p:txBody>
      </p:sp>
      <p:sp>
        <p:nvSpPr>
          <p:cNvPr id="16" name="Text 14"/>
          <p:cNvSpPr/>
          <p:nvPr/>
        </p:nvSpPr>
        <p:spPr>
          <a:xfrm>
            <a:off x="1022350" y="4869160"/>
            <a:ext cx="10033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B7A"/>
                </a:solidFill>
                <a:latin typeface="Public Sans" pitchFamily="34" charset="0"/>
                <a:ea typeface="Public Sans" pitchFamily="34" charset="-122"/>
                <a:cs typeface="Public Sans" pitchFamily="34" charset="-120"/>
              </a:rPr>
              <a:t>13:00</a:t>
            </a:r>
            <a:endParaRPr lang="en-US" sz="1200" dirty="0"/>
          </a:p>
        </p:txBody>
      </p:sp>
      <p:sp>
        <p:nvSpPr>
          <p:cNvPr id="17" name="Text 15"/>
          <p:cNvSpPr/>
          <p:nvPr/>
        </p:nvSpPr>
        <p:spPr>
          <a:xfrm>
            <a:off x="2127250" y="4417120"/>
            <a:ext cx="5598668"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00084"/>
                </a:solidFill>
                <a:latin typeface="Public Sans" pitchFamily="34" charset="0"/>
                <a:ea typeface="Public Sans" pitchFamily="34" charset="-122"/>
                <a:cs typeface="Public Sans" pitchFamily="34" charset="-120"/>
              </a:rPr>
              <a:t>Guided hike in the mountains</a:t>
            </a:r>
            <a:endParaRPr lang="en-US" sz="1500" dirty="0"/>
          </a:p>
        </p:txBody>
      </p:sp>
      <p:sp>
        <p:nvSpPr>
          <p:cNvPr id="18" name="Text 16"/>
          <p:cNvSpPr/>
          <p:nvPr/>
        </p:nvSpPr>
        <p:spPr>
          <a:xfrm>
            <a:off x="2127250" y="4696520"/>
            <a:ext cx="5598668" cy="4876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75569"/>
                </a:solidFill>
                <a:latin typeface="Public Sans" pitchFamily="34" charset="0"/>
                <a:ea typeface="Public Sans" pitchFamily="34" charset="-122"/>
                <a:cs typeface="Public Sans" pitchFamily="34" charset="-120"/>
              </a:rPr>
              <a:t>Easy North Klondike River trail (1 hour) or the Goldensides viewpoint trail (2 hours). Back in Dawson around 6 pm.</a:t>
            </a:r>
            <a:endParaRPr lang="en-US" sz="1300" dirty="0"/>
          </a:p>
        </p:txBody>
      </p:sp>
      <p:sp>
        <p:nvSpPr>
          <p:cNvPr id="19" name="Shape 17"/>
          <p:cNvSpPr/>
          <p:nvPr/>
        </p:nvSpPr>
        <p:spPr>
          <a:xfrm>
            <a:off x="8077200" y="1759049"/>
            <a:ext cx="3302000" cy="4082951"/>
          </a:xfrm>
          <a:prstGeom prst="roundRect">
            <a:avLst>
              <a:gd name="adj" fmla="val 3077"/>
            </a:avLst>
          </a:prstGeom>
          <a:solidFill>
            <a:srgbClr val="000084"/>
          </a:solidFill>
          <a:ln/>
        </p:spPr>
        <p:txBody>
          <a:bodyPr/>
          <a:lstStyle/>
          <a:p>
            <a:endParaRPr lang="tr-TR"/>
          </a:p>
        </p:txBody>
      </p:sp>
      <p:pic>
        <p:nvPicPr>
          <p:cNvPr id="20" name="Image 0" descr="preencoded.png"/>
          <p:cNvPicPr>
            <a:picLocks noChangeAspect="1"/>
          </p:cNvPicPr>
          <p:nvPr/>
        </p:nvPicPr>
        <p:blipFill>
          <a:blip r:embed="rId3"/>
          <a:srcRect l="-6564" r="-6564"/>
          <a:stretch/>
        </p:blipFill>
        <p:spPr>
          <a:xfrm>
            <a:off x="8305800" y="1987649"/>
            <a:ext cx="2844800" cy="841970"/>
          </a:xfrm>
          <a:prstGeom prst="rect">
            <a:avLst/>
          </a:prstGeom>
        </p:spPr>
      </p:pic>
      <p:sp>
        <p:nvSpPr>
          <p:cNvPr id="21" name="Text 18"/>
          <p:cNvSpPr/>
          <p:nvPr/>
        </p:nvSpPr>
        <p:spPr>
          <a:xfrm>
            <a:off x="8305800" y="2982020"/>
            <a:ext cx="876300" cy="1037134"/>
          </a:xfrm>
          <a:prstGeom prst="rect">
            <a:avLst/>
          </a:prstGeom>
          <a:noFill/>
          <a:ln/>
        </p:spPr>
        <p:txBody>
          <a:bodyPr wrap="square" lIns="0" tIns="0" rIns="0" bIns="0" rtlCol="0" anchor="t">
            <a:normAutofit/>
          </a:bodyPr>
          <a:lstStyle/>
          <a:p>
            <a:pPr marL="0" indent="0" algn="l">
              <a:lnSpc>
                <a:spcPts val="1800"/>
              </a:lnSpc>
              <a:buNone/>
            </a:pPr>
            <a:r>
              <a:rPr lang="en-US" sz="1200" b="1" kern="0" spc="100" dirty="0">
                <a:solidFill>
                  <a:srgbClr val="E2B050"/>
                </a:solidFill>
                <a:latin typeface="Public Sans" pitchFamily="34" charset="0"/>
                <a:ea typeface="Public Sans" pitchFamily="34" charset="-122"/>
                <a:cs typeface="Public Sans" pitchFamily="34" charset="-120"/>
              </a:rPr>
              <a:t>PLACES</a:t>
            </a:r>
            <a:endParaRPr lang="en-US" sz="1200" dirty="0"/>
          </a:p>
        </p:txBody>
      </p:sp>
      <p:sp>
        <p:nvSpPr>
          <p:cNvPr id="22" name="Text 19"/>
          <p:cNvSpPr/>
          <p:nvPr/>
        </p:nvSpPr>
        <p:spPr>
          <a:xfrm>
            <a:off x="9232900" y="2982020"/>
            <a:ext cx="1975231" cy="103713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4F7FB"/>
                </a:solidFill>
                <a:latin typeface="Public Sans" pitchFamily="34" charset="0"/>
                <a:ea typeface="Public Sans" pitchFamily="34" charset="-122"/>
                <a:cs typeface="Public Sans" pitchFamily="34" charset="-120"/>
              </a:rPr>
              <a:t>Dempster Highway · Tombstone Interpretive Centre · North Klondike River or Goldensides trail</a:t>
            </a:r>
            <a:endParaRPr lang="en-US" sz="1300" dirty="0"/>
          </a:p>
        </p:txBody>
      </p:sp>
      <p:sp>
        <p:nvSpPr>
          <p:cNvPr id="23" name="Text 20"/>
          <p:cNvSpPr/>
          <p:nvPr/>
        </p:nvSpPr>
        <p:spPr>
          <a:xfrm>
            <a:off x="8305800" y="4095353"/>
            <a:ext cx="876300" cy="1037134"/>
          </a:xfrm>
          <a:prstGeom prst="rect">
            <a:avLst/>
          </a:prstGeom>
          <a:noFill/>
          <a:ln/>
        </p:spPr>
        <p:txBody>
          <a:bodyPr wrap="square" lIns="0" tIns="0" rIns="0" bIns="0" rtlCol="0" anchor="t">
            <a:normAutofit/>
          </a:bodyPr>
          <a:lstStyle/>
          <a:p>
            <a:pPr marL="0" indent="0" algn="l">
              <a:lnSpc>
                <a:spcPts val="1800"/>
              </a:lnSpc>
              <a:buNone/>
            </a:pPr>
            <a:r>
              <a:rPr lang="en-US" sz="1200" b="1" kern="0" spc="100" dirty="0">
                <a:solidFill>
                  <a:srgbClr val="E2B050"/>
                </a:solidFill>
                <a:latin typeface="Public Sans" pitchFamily="34" charset="0"/>
                <a:ea typeface="Public Sans" pitchFamily="34" charset="-122"/>
                <a:cs typeface="Public Sans" pitchFamily="34" charset="-120"/>
              </a:rPr>
              <a:t>ACTIVITIES</a:t>
            </a:r>
            <a:endParaRPr lang="en-US" sz="1200" dirty="0"/>
          </a:p>
        </p:txBody>
      </p:sp>
      <p:sp>
        <p:nvSpPr>
          <p:cNvPr id="24" name="Text 21"/>
          <p:cNvSpPr/>
          <p:nvPr/>
        </p:nvSpPr>
        <p:spPr>
          <a:xfrm>
            <a:off x="9232900" y="4095353"/>
            <a:ext cx="1975231" cy="103713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4F7FB"/>
                </a:solidFill>
                <a:latin typeface="Public Sans" pitchFamily="34" charset="0"/>
                <a:ea typeface="Public Sans" pitchFamily="34" charset="-122"/>
                <a:cs typeface="Public Sans" pitchFamily="34" charset="-120"/>
              </a:rPr>
              <a:t>Full-day guided tour · Hiking · Wildlife watching (moose, caribou, bears from a safe distance)</a:t>
            </a:r>
            <a:endParaRPr lang="en-US" sz="1300" dirty="0"/>
          </a:p>
        </p:txBody>
      </p:sp>
      <p:sp>
        <p:nvSpPr>
          <p:cNvPr id="25" name="Text 22"/>
          <p:cNvSpPr/>
          <p:nvPr/>
        </p:nvSpPr>
        <p:spPr>
          <a:xfrm>
            <a:off x="8305800" y="5208687"/>
            <a:ext cx="876300" cy="430113"/>
          </a:xfrm>
          <a:prstGeom prst="rect">
            <a:avLst/>
          </a:prstGeom>
          <a:noFill/>
          <a:ln/>
        </p:spPr>
        <p:txBody>
          <a:bodyPr wrap="square" lIns="0" tIns="0" rIns="0" bIns="0" rtlCol="0" anchor="t">
            <a:normAutofit/>
          </a:bodyPr>
          <a:lstStyle/>
          <a:p>
            <a:pPr marL="0" indent="0" algn="l">
              <a:lnSpc>
                <a:spcPts val="1800"/>
              </a:lnSpc>
              <a:buNone/>
            </a:pPr>
            <a:r>
              <a:rPr lang="en-US" sz="1200" b="1" kern="0" spc="100" dirty="0">
                <a:solidFill>
                  <a:srgbClr val="E2B050"/>
                </a:solidFill>
                <a:latin typeface="Public Sans" pitchFamily="34" charset="0"/>
                <a:ea typeface="Public Sans" pitchFamily="34" charset="-122"/>
                <a:cs typeface="Public Sans" pitchFamily="34" charset="-120"/>
              </a:rPr>
              <a:t>COST</a:t>
            </a:r>
            <a:endParaRPr lang="en-US" sz="1200" dirty="0"/>
          </a:p>
        </p:txBody>
      </p:sp>
      <p:sp>
        <p:nvSpPr>
          <p:cNvPr id="26" name="Text 23"/>
          <p:cNvSpPr/>
          <p:nvPr/>
        </p:nvSpPr>
        <p:spPr>
          <a:xfrm>
            <a:off x="9232900" y="5208687"/>
            <a:ext cx="1975231" cy="430113"/>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4F7FB"/>
                </a:solidFill>
                <a:latin typeface="Public Sans" pitchFamily="34" charset="0"/>
                <a:ea typeface="Public Sans" pitchFamily="34" charset="-122"/>
                <a:cs typeface="Public Sans" pitchFamily="34" charset="-120"/>
              </a:rPr>
              <a:t>About CA$230 per person, lunch included</a:t>
            </a:r>
            <a:endParaRPr lang="en-US" sz="1300" dirty="0"/>
          </a:p>
        </p:txBody>
      </p:sp>
      <p:sp>
        <p:nvSpPr>
          <p:cNvPr id="27" name="Text 24"/>
          <p:cNvSpPr/>
          <p:nvPr/>
        </p:nvSpPr>
        <p:spPr>
          <a:xfrm>
            <a:off x="812800" y="6238280"/>
            <a:ext cx="470701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B7A"/>
                </a:solidFill>
                <a:latin typeface="Public Sans" pitchFamily="34" charset="0"/>
                <a:ea typeface="Public Sans" pitchFamily="34" charset="-122"/>
                <a:cs typeface="Public Sans" pitchFamily="34" charset="-120"/>
              </a:rPr>
              <a:t>The Klondike Gold Rush · Pertevniyal High School 159/E</a:t>
            </a:r>
            <a:endParaRPr lang="en-US" sz="1200" dirty="0"/>
          </a:p>
        </p:txBody>
      </p:sp>
      <p:sp>
        <p:nvSpPr>
          <p:cNvPr id="28" name="Text 25"/>
          <p:cNvSpPr/>
          <p:nvPr/>
        </p:nvSpPr>
        <p:spPr>
          <a:xfrm>
            <a:off x="10820400" y="6238280"/>
            <a:ext cx="558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F6B7A"/>
                </a:solidFill>
                <a:latin typeface="Public Sans" pitchFamily="34" charset="0"/>
                <a:ea typeface="Public Sans" pitchFamily="34" charset="-122"/>
                <a:cs typeface="Public Sans"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3F4F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5248"/>
          </a:xfrm>
          <a:prstGeom prst="rect">
            <a:avLst/>
          </a:prstGeom>
          <a:noFill/>
          <a:ln/>
        </p:spPr>
        <p:txBody>
          <a:bodyPr wrap="square" lIns="0" tIns="0" rIns="0" bIns="0" rtlCol="0" anchor="t">
            <a:normAutofit/>
          </a:bodyPr>
          <a:lstStyle/>
          <a:p>
            <a:pPr marL="0" indent="0" algn="l">
              <a:lnSpc>
                <a:spcPts val="1675"/>
              </a:lnSpc>
              <a:buNone/>
            </a:pPr>
            <a:r>
              <a:rPr lang="en-US" sz="1196" b="1" kern="0" spc="150" dirty="0">
                <a:solidFill>
                  <a:srgbClr val="2A2FB0"/>
                </a:solidFill>
                <a:latin typeface="Public Sans" pitchFamily="34" charset="0"/>
                <a:ea typeface="Public Sans" pitchFamily="34" charset="-122"/>
                <a:cs typeface="Public Sans" pitchFamily="34" charset="-120"/>
              </a:rPr>
              <a:t>DAY 5 OF 5 · MONDAY 16 AUGUST 2027 · DISCOVERY DAY</a:t>
            </a:r>
            <a:endParaRPr lang="en-US" sz="1196" dirty="0"/>
          </a:p>
        </p:txBody>
      </p:sp>
      <p:sp>
        <p:nvSpPr>
          <p:cNvPr id="3" name="Text 1"/>
          <p:cNvSpPr>
            <a:spLocks noGrp="1"/>
          </p:cNvSpPr>
          <p:nvPr>
            <p:ph type="title"/>
          </p:nvPr>
        </p:nvSpPr>
        <p:spPr>
          <a:xfrm>
            <a:off x="812800" y="1098848"/>
            <a:ext cx="10883392" cy="497632"/>
          </a:xfrm>
          <a:prstGeom prst="rect">
            <a:avLst/>
          </a:prstGeom>
          <a:noFill/>
          <a:ln/>
        </p:spPr>
        <p:txBody>
          <a:bodyPr wrap="square" lIns="0" tIns="0" rIns="0" bIns="0" rtlCol="0" anchor="t">
            <a:normAutofit/>
          </a:bodyPr>
          <a:lstStyle/>
          <a:p>
            <a:pPr marL="0" indent="0" algn="l">
              <a:lnSpc>
                <a:spcPts val="3721"/>
              </a:lnSpc>
              <a:buNone/>
            </a:pPr>
            <a:r>
              <a:rPr lang="en-US" sz="3544" b="0" i="0" dirty="0">
                <a:solidFill>
                  <a:srgbClr val="000084"/>
                </a:solidFill>
                <a:latin typeface="Oswald" pitchFamily="34" charset="0"/>
                <a:ea typeface="Oswald" pitchFamily="34" charset="-122"/>
                <a:cs typeface="Oswald" pitchFamily="34" charset="-120"/>
              </a:rPr>
              <a:t>Day 5: River Stories and Departure</a:t>
            </a:r>
            <a:endParaRPr lang="en-US" sz="3544" dirty="0"/>
          </a:p>
        </p:txBody>
      </p:sp>
      <p:sp>
        <p:nvSpPr>
          <p:cNvPr id="4" name="Shape 2"/>
          <p:cNvSpPr/>
          <p:nvPr/>
        </p:nvSpPr>
        <p:spPr>
          <a:xfrm>
            <a:off x="815975" y="1828254"/>
            <a:ext cx="6953250" cy="1103610"/>
          </a:xfrm>
          <a:prstGeom prst="roundRect">
            <a:avLst>
              <a:gd name="adj" fmla="val 8918"/>
            </a:avLst>
          </a:prstGeom>
          <a:solidFill>
            <a:srgbClr val="FBFCFE"/>
          </a:solidFill>
          <a:ln w="6350">
            <a:solidFill>
              <a:srgbClr val="D9DBEE"/>
            </a:solidFill>
            <a:prstDash val="solid"/>
          </a:ln>
        </p:spPr>
        <p:txBody>
          <a:bodyPr/>
          <a:lstStyle/>
          <a:p>
            <a:endParaRPr lang="tr-TR"/>
          </a:p>
        </p:txBody>
      </p:sp>
      <p:sp>
        <p:nvSpPr>
          <p:cNvPr id="5" name="Text 3"/>
          <p:cNvSpPr/>
          <p:nvPr/>
        </p:nvSpPr>
        <p:spPr>
          <a:xfrm>
            <a:off x="1022350" y="2009229"/>
            <a:ext cx="1003300"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A2FB0"/>
                </a:solidFill>
                <a:latin typeface="Public Sans" pitchFamily="34" charset="0"/>
                <a:ea typeface="Public Sans" pitchFamily="34" charset="-122"/>
                <a:cs typeface="Public Sans" pitchFamily="34" charset="-120"/>
              </a:rPr>
              <a:t>MORNING</a:t>
            </a:r>
            <a:endParaRPr lang="en-US" sz="1200" dirty="0"/>
          </a:p>
        </p:txBody>
      </p:sp>
      <p:sp>
        <p:nvSpPr>
          <p:cNvPr id="6" name="Text 4"/>
          <p:cNvSpPr/>
          <p:nvPr/>
        </p:nvSpPr>
        <p:spPr>
          <a:xfrm>
            <a:off x="1022350" y="2247950"/>
            <a:ext cx="10033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B7A"/>
                </a:solidFill>
                <a:latin typeface="Public Sans" pitchFamily="34" charset="0"/>
                <a:ea typeface="Public Sans" pitchFamily="34" charset="-122"/>
                <a:cs typeface="Public Sans" pitchFamily="34" charset="-120"/>
              </a:rPr>
              <a:t>09:00</a:t>
            </a:r>
            <a:endParaRPr lang="en-US" sz="1200" dirty="0"/>
          </a:p>
        </p:txBody>
      </p:sp>
      <p:sp>
        <p:nvSpPr>
          <p:cNvPr id="7" name="Text 5"/>
          <p:cNvSpPr/>
          <p:nvPr/>
        </p:nvSpPr>
        <p:spPr>
          <a:xfrm>
            <a:off x="2127250" y="2009229"/>
            <a:ext cx="5598668"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00084"/>
                </a:solidFill>
                <a:latin typeface="Public Sans" pitchFamily="34" charset="0"/>
                <a:ea typeface="Public Sans" pitchFamily="34" charset="-122"/>
                <a:cs typeface="Public Sans" pitchFamily="34" charset="-120"/>
              </a:rPr>
              <a:t>S.S. Keno sternwheeler</a:t>
            </a:r>
            <a:endParaRPr lang="en-US" sz="1500" dirty="0"/>
          </a:p>
        </p:txBody>
      </p:sp>
      <p:sp>
        <p:nvSpPr>
          <p:cNvPr id="8" name="Text 6"/>
          <p:cNvSpPr/>
          <p:nvPr/>
        </p:nvSpPr>
        <p:spPr>
          <a:xfrm>
            <a:off x="2127250" y="2288629"/>
            <a:ext cx="5598668" cy="4876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75569"/>
                </a:solidFill>
                <a:latin typeface="Public Sans" pitchFamily="34" charset="0"/>
                <a:ea typeface="Public Sans" pitchFamily="34" charset="-122"/>
                <a:cs typeface="Public Sans" pitchFamily="34" charset="-120"/>
              </a:rPr>
              <a:t>Tour of the historic river boat on Front Street: how the sternwheelers connected the Klondike to the world.</a:t>
            </a:r>
            <a:endParaRPr lang="en-US" sz="1300" dirty="0"/>
          </a:p>
        </p:txBody>
      </p:sp>
      <p:sp>
        <p:nvSpPr>
          <p:cNvPr id="9" name="Shape 7"/>
          <p:cNvSpPr/>
          <p:nvPr/>
        </p:nvSpPr>
        <p:spPr>
          <a:xfrm>
            <a:off x="815975" y="3065214"/>
            <a:ext cx="6953250" cy="1103610"/>
          </a:xfrm>
          <a:prstGeom prst="roundRect">
            <a:avLst>
              <a:gd name="adj" fmla="val 8918"/>
            </a:avLst>
          </a:prstGeom>
          <a:solidFill>
            <a:srgbClr val="FBFCFE"/>
          </a:solidFill>
          <a:ln w="6350">
            <a:solidFill>
              <a:srgbClr val="D9DBEE"/>
            </a:solidFill>
            <a:prstDash val="solid"/>
          </a:ln>
        </p:spPr>
        <p:txBody>
          <a:bodyPr/>
          <a:lstStyle/>
          <a:p>
            <a:endParaRPr lang="tr-TR"/>
          </a:p>
        </p:txBody>
      </p:sp>
      <p:sp>
        <p:nvSpPr>
          <p:cNvPr id="10" name="Text 8"/>
          <p:cNvSpPr/>
          <p:nvPr/>
        </p:nvSpPr>
        <p:spPr>
          <a:xfrm>
            <a:off x="1022350" y="3246189"/>
            <a:ext cx="1003300"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A2FB0"/>
                </a:solidFill>
                <a:latin typeface="Public Sans" pitchFamily="34" charset="0"/>
                <a:ea typeface="Public Sans" pitchFamily="34" charset="-122"/>
                <a:cs typeface="Public Sans" pitchFamily="34" charset="-120"/>
              </a:rPr>
              <a:t>MIDDAY</a:t>
            </a:r>
            <a:endParaRPr lang="en-US" sz="1200" dirty="0"/>
          </a:p>
        </p:txBody>
      </p:sp>
      <p:sp>
        <p:nvSpPr>
          <p:cNvPr id="11" name="Text 9"/>
          <p:cNvSpPr/>
          <p:nvPr/>
        </p:nvSpPr>
        <p:spPr>
          <a:xfrm>
            <a:off x="1022350" y="3484910"/>
            <a:ext cx="10033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B7A"/>
                </a:solidFill>
                <a:latin typeface="Public Sans" pitchFamily="34" charset="0"/>
                <a:ea typeface="Public Sans" pitchFamily="34" charset="-122"/>
                <a:cs typeface="Public Sans" pitchFamily="34" charset="-120"/>
              </a:rPr>
              <a:t>11:00</a:t>
            </a:r>
            <a:endParaRPr lang="en-US" sz="1200" dirty="0"/>
          </a:p>
        </p:txBody>
      </p:sp>
      <p:sp>
        <p:nvSpPr>
          <p:cNvPr id="12" name="Text 10"/>
          <p:cNvSpPr/>
          <p:nvPr/>
        </p:nvSpPr>
        <p:spPr>
          <a:xfrm>
            <a:off x="2127250" y="3246189"/>
            <a:ext cx="5598668"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00084"/>
                </a:solidFill>
                <a:latin typeface="Public Sans" pitchFamily="34" charset="0"/>
                <a:ea typeface="Public Sans" pitchFamily="34" charset="-122"/>
                <a:cs typeface="Public Sans" pitchFamily="34" charset="-120"/>
              </a:rPr>
              <a:t>Across the river by ferry</a:t>
            </a:r>
            <a:endParaRPr lang="en-US" sz="1500" dirty="0"/>
          </a:p>
        </p:txBody>
      </p:sp>
      <p:sp>
        <p:nvSpPr>
          <p:cNvPr id="13" name="Text 11"/>
          <p:cNvSpPr/>
          <p:nvPr/>
        </p:nvSpPr>
        <p:spPr>
          <a:xfrm>
            <a:off x="2127250" y="3525589"/>
            <a:ext cx="5598668" cy="4876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75569"/>
                </a:solidFill>
                <a:latin typeface="Public Sans" pitchFamily="34" charset="0"/>
                <a:ea typeface="Public Sans" pitchFamily="34" charset="-122"/>
                <a:cs typeface="Public Sans" pitchFamily="34" charset="-120"/>
              </a:rPr>
              <a:t>Free George Black ferry to West Dawson and a short walk to the Sternwheeler Graveyard. Last souvenirs on Front Street.</a:t>
            </a:r>
            <a:endParaRPr lang="en-US" sz="1300" dirty="0"/>
          </a:p>
        </p:txBody>
      </p:sp>
      <p:sp>
        <p:nvSpPr>
          <p:cNvPr id="14" name="Shape 12"/>
          <p:cNvSpPr/>
          <p:nvPr/>
        </p:nvSpPr>
        <p:spPr>
          <a:xfrm>
            <a:off x="815975" y="4302175"/>
            <a:ext cx="6953250" cy="1103610"/>
          </a:xfrm>
          <a:prstGeom prst="roundRect">
            <a:avLst>
              <a:gd name="adj" fmla="val 8918"/>
            </a:avLst>
          </a:prstGeom>
          <a:solidFill>
            <a:srgbClr val="FBFCFE"/>
          </a:solidFill>
          <a:ln w="6350">
            <a:solidFill>
              <a:srgbClr val="D9DBEE"/>
            </a:solidFill>
            <a:prstDash val="solid"/>
          </a:ln>
        </p:spPr>
        <p:txBody>
          <a:bodyPr/>
          <a:lstStyle/>
          <a:p>
            <a:endParaRPr lang="tr-TR"/>
          </a:p>
        </p:txBody>
      </p:sp>
      <p:sp>
        <p:nvSpPr>
          <p:cNvPr id="15" name="Text 13"/>
          <p:cNvSpPr/>
          <p:nvPr/>
        </p:nvSpPr>
        <p:spPr>
          <a:xfrm>
            <a:off x="1022350" y="4483150"/>
            <a:ext cx="1003300" cy="45204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A2FB0"/>
                </a:solidFill>
                <a:latin typeface="Public Sans" pitchFamily="34" charset="0"/>
                <a:ea typeface="Public Sans" pitchFamily="34" charset="-122"/>
                <a:cs typeface="Public Sans" pitchFamily="34" charset="-120"/>
              </a:rPr>
              <a:t>AFTERNOON</a:t>
            </a:r>
            <a:endParaRPr lang="en-US" sz="1200" dirty="0"/>
          </a:p>
        </p:txBody>
      </p:sp>
      <p:sp>
        <p:nvSpPr>
          <p:cNvPr id="16" name="Text 14"/>
          <p:cNvSpPr/>
          <p:nvPr/>
        </p:nvSpPr>
        <p:spPr>
          <a:xfrm>
            <a:off x="1022350" y="4935190"/>
            <a:ext cx="10033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B7A"/>
                </a:solidFill>
                <a:latin typeface="Public Sans" pitchFamily="34" charset="0"/>
                <a:ea typeface="Public Sans" pitchFamily="34" charset="-122"/>
                <a:cs typeface="Public Sans" pitchFamily="34" charset="-120"/>
              </a:rPr>
              <a:t>15:00</a:t>
            </a:r>
            <a:endParaRPr lang="en-US" sz="1200" dirty="0"/>
          </a:p>
        </p:txBody>
      </p:sp>
      <p:sp>
        <p:nvSpPr>
          <p:cNvPr id="17" name="Text 15"/>
          <p:cNvSpPr/>
          <p:nvPr/>
        </p:nvSpPr>
        <p:spPr>
          <a:xfrm>
            <a:off x="2127250" y="4483150"/>
            <a:ext cx="5598668"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00084"/>
                </a:solidFill>
                <a:latin typeface="Public Sans" pitchFamily="34" charset="0"/>
                <a:ea typeface="Public Sans" pitchFamily="34" charset="-122"/>
                <a:cs typeface="Public Sans" pitchFamily="34" charset="-120"/>
              </a:rPr>
              <a:t>Fly home</a:t>
            </a:r>
            <a:endParaRPr lang="en-US" sz="1500" dirty="0"/>
          </a:p>
        </p:txBody>
      </p:sp>
      <p:sp>
        <p:nvSpPr>
          <p:cNvPr id="18" name="Text 16"/>
          <p:cNvSpPr/>
          <p:nvPr/>
        </p:nvSpPr>
        <p:spPr>
          <a:xfrm>
            <a:off x="2127250" y="4762550"/>
            <a:ext cx="5598668" cy="4876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75569"/>
                </a:solidFill>
                <a:latin typeface="Public Sans" pitchFamily="34" charset="0"/>
                <a:ea typeface="Public Sans" pitchFamily="34" charset="-122"/>
                <a:cs typeface="Public Sans" pitchFamily="34" charset="-120"/>
              </a:rPr>
              <a:t>Shuttle to the airport, Air North to Whitehorse (1 hour), then the flights to Vancouver and on to Istanbul.</a:t>
            </a:r>
            <a:endParaRPr lang="en-US" sz="1300" dirty="0"/>
          </a:p>
        </p:txBody>
      </p:sp>
      <p:sp>
        <p:nvSpPr>
          <p:cNvPr id="19" name="Shape 17"/>
          <p:cNvSpPr/>
          <p:nvPr/>
        </p:nvSpPr>
        <p:spPr>
          <a:xfrm>
            <a:off x="8077200" y="1825079"/>
            <a:ext cx="3302000" cy="4016921"/>
          </a:xfrm>
          <a:prstGeom prst="roundRect">
            <a:avLst>
              <a:gd name="adj" fmla="val 3077"/>
            </a:avLst>
          </a:prstGeom>
          <a:solidFill>
            <a:srgbClr val="000084"/>
          </a:solidFill>
          <a:ln/>
        </p:spPr>
        <p:txBody>
          <a:bodyPr/>
          <a:lstStyle/>
          <a:p>
            <a:endParaRPr lang="tr-TR"/>
          </a:p>
        </p:txBody>
      </p:sp>
      <p:pic>
        <p:nvPicPr>
          <p:cNvPr id="20" name="Image 0" descr="preencoded.png"/>
          <p:cNvPicPr>
            <a:picLocks noChangeAspect="1"/>
          </p:cNvPicPr>
          <p:nvPr/>
        </p:nvPicPr>
        <p:blipFill>
          <a:blip r:embed="rId3"/>
          <a:srcRect l="-877" r="-877"/>
          <a:stretch/>
        </p:blipFill>
        <p:spPr>
          <a:xfrm>
            <a:off x="8305800" y="2053679"/>
            <a:ext cx="2844800" cy="936079"/>
          </a:xfrm>
          <a:prstGeom prst="rect">
            <a:avLst/>
          </a:prstGeom>
        </p:spPr>
      </p:pic>
      <p:sp>
        <p:nvSpPr>
          <p:cNvPr id="21" name="Text 18"/>
          <p:cNvSpPr/>
          <p:nvPr/>
        </p:nvSpPr>
        <p:spPr>
          <a:xfrm>
            <a:off x="8305800" y="3142159"/>
            <a:ext cx="876300" cy="1159421"/>
          </a:xfrm>
          <a:prstGeom prst="rect">
            <a:avLst/>
          </a:prstGeom>
          <a:noFill/>
          <a:ln/>
        </p:spPr>
        <p:txBody>
          <a:bodyPr wrap="square" lIns="0" tIns="0" rIns="0" bIns="0" rtlCol="0" anchor="t">
            <a:normAutofit/>
          </a:bodyPr>
          <a:lstStyle/>
          <a:p>
            <a:pPr marL="0" indent="0" algn="l">
              <a:lnSpc>
                <a:spcPts val="1800"/>
              </a:lnSpc>
              <a:buNone/>
            </a:pPr>
            <a:r>
              <a:rPr lang="en-US" sz="1200" b="1" kern="0" spc="100" dirty="0">
                <a:solidFill>
                  <a:srgbClr val="E2B050"/>
                </a:solidFill>
                <a:latin typeface="Public Sans" pitchFamily="34" charset="0"/>
                <a:ea typeface="Public Sans" pitchFamily="34" charset="-122"/>
                <a:cs typeface="Public Sans" pitchFamily="34" charset="-120"/>
              </a:rPr>
              <a:t>PLACES</a:t>
            </a:r>
            <a:endParaRPr lang="en-US" sz="1200" dirty="0"/>
          </a:p>
        </p:txBody>
      </p:sp>
      <p:sp>
        <p:nvSpPr>
          <p:cNvPr id="22" name="Text 19"/>
          <p:cNvSpPr/>
          <p:nvPr/>
        </p:nvSpPr>
        <p:spPr>
          <a:xfrm>
            <a:off x="9232900" y="3142159"/>
            <a:ext cx="1975231" cy="115942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4F7FB"/>
                </a:solidFill>
                <a:latin typeface="Public Sans" pitchFamily="34" charset="0"/>
                <a:ea typeface="Public Sans" pitchFamily="34" charset="-122"/>
                <a:cs typeface="Public Sans" pitchFamily="34" charset="-120"/>
              </a:rPr>
              <a:t>S.S. Keno National Historic Site · George Black ferry · Sternwheeler Graveyard in West Dawson</a:t>
            </a:r>
            <a:endParaRPr lang="en-US" sz="1300" dirty="0"/>
          </a:p>
        </p:txBody>
      </p:sp>
      <p:sp>
        <p:nvSpPr>
          <p:cNvPr id="23" name="Text 20"/>
          <p:cNvSpPr/>
          <p:nvPr/>
        </p:nvSpPr>
        <p:spPr>
          <a:xfrm>
            <a:off x="8305800" y="4377779"/>
            <a:ext cx="876300" cy="705793"/>
          </a:xfrm>
          <a:prstGeom prst="rect">
            <a:avLst/>
          </a:prstGeom>
          <a:noFill/>
          <a:ln/>
        </p:spPr>
        <p:txBody>
          <a:bodyPr wrap="square" lIns="0" tIns="0" rIns="0" bIns="0" rtlCol="0" anchor="t">
            <a:normAutofit/>
          </a:bodyPr>
          <a:lstStyle/>
          <a:p>
            <a:pPr marL="0" indent="0" algn="l">
              <a:lnSpc>
                <a:spcPts val="1800"/>
              </a:lnSpc>
              <a:buNone/>
            </a:pPr>
            <a:r>
              <a:rPr lang="en-US" sz="1200" b="1" kern="0" spc="100" dirty="0">
                <a:solidFill>
                  <a:srgbClr val="E2B050"/>
                </a:solidFill>
                <a:latin typeface="Public Sans" pitchFamily="34" charset="0"/>
                <a:ea typeface="Public Sans" pitchFamily="34" charset="-122"/>
                <a:cs typeface="Public Sans" pitchFamily="34" charset="-120"/>
              </a:rPr>
              <a:t>ACTIVITIES</a:t>
            </a:r>
            <a:endParaRPr lang="en-US" sz="1200" dirty="0"/>
          </a:p>
        </p:txBody>
      </p:sp>
      <p:sp>
        <p:nvSpPr>
          <p:cNvPr id="24" name="Text 21"/>
          <p:cNvSpPr/>
          <p:nvPr/>
        </p:nvSpPr>
        <p:spPr>
          <a:xfrm>
            <a:off x="9232900" y="4377779"/>
            <a:ext cx="1975231" cy="705793"/>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4F7FB"/>
                </a:solidFill>
                <a:latin typeface="Public Sans" pitchFamily="34" charset="0"/>
                <a:ea typeface="Public Sans" pitchFamily="34" charset="-122"/>
                <a:cs typeface="Public Sans" pitchFamily="34" charset="-120"/>
              </a:rPr>
              <a:t>Ferry ride across the Yukon River (free) · Souvenir shopping</a:t>
            </a:r>
            <a:endParaRPr lang="en-US" sz="1300" dirty="0"/>
          </a:p>
        </p:txBody>
      </p:sp>
      <p:sp>
        <p:nvSpPr>
          <p:cNvPr id="25" name="Text 22"/>
          <p:cNvSpPr/>
          <p:nvPr/>
        </p:nvSpPr>
        <p:spPr>
          <a:xfrm>
            <a:off x="8305800" y="5159772"/>
            <a:ext cx="876300" cy="479028"/>
          </a:xfrm>
          <a:prstGeom prst="rect">
            <a:avLst/>
          </a:prstGeom>
          <a:noFill/>
          <a:ln/>
        </p:spPr>
        <p:txBody>
          <a:bodyPr wrap="square" lIns="0" tIns="0" rIns="0" bIns="0" rtlCol="0" anchor="t">
            <a:normAutofit/>
          </a:bodyPr>
          <a:lstStyle/>
          <a:p>
            <a:pPr marL="0" indent="0" algn="l">
              <a:lnSpc>
                <a:spcPts val="1800"/>
              </a:lnSpc>
              <a:buNone/>
            </a:pPr>
            <a:r>
              <a:rPr lang="en-US" sz="1200" b="1" kern="0" spc="100" dirty="0">
                <a:solidFill>
                  <a:srgbClr val="E2B050"/>
                </a:solidFill>
                <a:latin typeface="Public Sans" pitchFamily="34" charset="0"/>
                <a:ea typeface="Public Sans" pitchFamily="34" charset="-122"/>
                <a:cs typeface="Public Sans" pitchFamily="34" charset="-120"/>
              </a:rPr>
              <a:t>COST</a:t>
            </a:r>
            <a:endParaRPr lang="en-US" sz="1200" dirty="0"/>
          </a:p>
        </p:txBody>
      </p:sp>
      <p:sp>
        <p:nvSpPr>
          <p:cNvPr id="26" name="Text 23"/>
          <p:cNvSpPr/>
          <p:nvPr/>
        </p:nvSpPr>
        <p:spPr>
          <a:xfrm>
            <a:off x="9232900" y="5159772"/>
            <a:ext cx="1975231" cy="479028"/>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4F7FB"/>
                </a:solidFill>
                <a:latin typeface="Public Sans" pitchFamily="34" charset="0"/>
                <a:ea typeface="Public Sans" pitchFamily="34" charset="-122"/>
                <a:cs typeface="Public Sans" pitchFamily="34" charset="-120"/>
              </a:rPr>
              <a:t>About CA$18 per person for the S.S. Keno tour</a:t>
            </a:r>
            <a:endParaRPr lang="en-US" sz="1300" dirty="0"/>
          </a:p>
        </p:txBody>
      </p:sp>
      <p:sp>
        <p:nvSpPr>
          <p:cNvPr id="27" name="Text 24"/>
          <p:cNvSpPr/>
          <p:nvPr/>
        </p:nvSpPr>
        <p:spPr>
          <a:xfrm>
            <a:off x="812800" y="6238280"/>
            <a:ext cx="470701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B7A"/>
                </a:solidFill>
                <a:latin typeface="Public Sans" pitchFamily="34" charset="0"/>
                <a:ea typeface="Public Sans" pitchFamily="34" charset="-122"/>
                <a:cs typeface="Public Sans" pitchFamily="34" charset="-120"/>
              </a:rPr>
              <a:t>The Klondike Gold Rush · Pertevniyal High School 159/E</a:t>
            </a:r>
            <a:endParaRPr lang="en-US" sz="1200" dirty="0"/>
          </a:p>
        </p:txBody>
      </p:sp>
      <p:sp>
        <p:nvSpPr>
          <p:cNvPr id="28" name="Text 25"/>
          <p:cNvSpPr/>
          <p:nvPr/>
        </p:nvSpPr>
        <p:spPr>
          <a:xfrm>
            <a:off x="10820400" y="6238280"/>
            <a:ext cx="558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F6B7A"/>
                </a:solidFill>
                <a:latin typeface="Public Sans" pitchFamily="34" charset="0"/>
                <a:ea typeface="Public Sans" pitchFamily="34" charset="-122"/>
                <a:cs typeface="Public Sans"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3F4F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A2FB0"/>
                </a:solidFill>
                <a:latin typeface="Public Sans" pitchFamily="34" charset="0"/>
                <a:ea typeface="Public Sans" pitchFamily="34" charset="-122"/>
                <a:cs typeface="Public Sans" pitchFamily="34" charset="-120"/>
              </a:rPr>
              <a:t>PRACTICAL INFORMATION · WEATHER</a:t>
            </a:r>
            <a:endParaRPr lang="en-US" sz="1200" dirty="0"/>
          </a:p>
        </p:txBody>
      </p:sp>
      <p:sp>
        <p:nvSpPr>
          <p:cNvPr id="3" name="Text 1"/>
          <p:cNvSpPr>
            <a:spLocks noGrp="1"/>
          </p:cNvSpPr>
          <p:nvPr>
            <p:ph type="title"/>
          </p:nvPr>
        </p:nvSpPr>
        <p:spPr>
          <a:xfrm>
            <a:off x="812800" y="1102320"/>
            <a:ext cx="10883392" cy="505420"/>
          </a:xfrm>
          <a:prstGeom prst="rect">
            <a:avLst/>
          </a:prstGeom>
          <a:noFill/>
          <a:ln/>
        </p:spPr>
        <p:txBody>
          <a:bodyPr wrap="square" lIns="0" tIns="0" rIns="0" bIns="0" rtlCol="0" anchor="t">
            <a:normAutofit/>
          </a:bodyPr>
          <a:lstStyle/>
          <a:p>
            <a:pPr marL="0" indent="0" algn="l">
              <a:lnSpc>
                <a:spcPts val="3780"/>
              </a:lnSpc>
              <a:buNone/>
            </a:pPr>
            <a:r>
              <a:rPr lang="en-US" sz="3600" b="0" i="0" dirty="0">
                <a:solidFill>
                  <a:srgbClr val="000084"/>
                </a:solidFill>
                <a:latin typeface="Oswald" pitchFamily="34" charset="0"/>
                <a:ea typeface="Oswald" pitchFamily="34" charset="-122"/>
                <a:cs typeface="Oswald" pitchFamily="34" charset="-120"/>
              </a:rPr>
              <a:t>August Weather in Dawson City</a:t>
            </a:r>
            <a:endParaRPr lang="en-US" sz="3600" dirty="0"/>
          </a:p>
        </p:txBody>
      </p:sp>
      <p:sp>
        <p:nvSpPr>
          <p:cNvPr id="4" name="Shape 2"/>
          <p:cNvSpPr/>
          <p:nvPr/>
        </p:nvSpPr>
        <p:spPr>
          <a:xfrm>
            <a:off x="812800" y="1836341"/>
            <a:ext cx="3149600" cy="1777305"/>
          </a:xfrm>
          <a:prstGeom prst="roundRect">
            <a:avLst>
              <a:gd name="adj" fmla="val 5717"/>
            </a:avLst>
          </a:prstGeom>
          <a:solidFill>
            <a:srgbClr val="000084"/>
          </a:solidFill>
          <a:ln/>
        </p:spPr>
        <p:txBody>
          <a:bodyPr/>
          <a:lstStyle/>
          <a:p>
            <a:endParaRPr lang="tr-TR"/>
          </a:p>
        </p:txBody>
      </p:sp>
      <p:sp>
        <p:nvSpPr>
          <p:cNvPr id="5" name="Text 3"/>
          <p:cNvSpPr/>
          <p:nvPr/>
        </p:nvSpPr>
        <p:spPr>
          <a:xfrm>
            <a:off x="1041400" y="2039541"/>
            <a:ext cx="2773172" cy="635000"/>
          </a:xfrm>
          <a:prstGeom prst="rect">
            <a:avLst/>
          </a:prstGeom>
          <a:noFill/>
          <a:ln/>
        </p:spPr>
        <p:txBody>
          <a:bodyPr wrap="square" lIns="0" tIns="0" rIns="0" bIns="0" rtlCol="0" anchor="t">
            <a:normAutofit/>
          </a:bodyPr>
          <a:lstStyle/>
          <a:p>
            <a:pPr marL="0" indent="0" algn="l">
              <a:lnSpc>
                <a:spcPts val="4800"/>
              </a:lnSpc>
              <a:buNone/>
            </a:pPr>
            <a:r>
              <a:rPr lang="en-US" sz="4800" b="1" dirty="0">
                <a:solidFill>
                  <a:srgbClr val="E2B050"/>
                </a:solidFill>
                <a:latin typeface="Oswald" pitchFamily="34" charset="0"/>
                <a:ea typeface="Oswald" pitchFamily="34" charset="-122"/>
                <a:cs typeface="Oswald" pitchFamily="34" charset="-120"/>
              </a:rPr>
              <a:t>19 °C</a:t>
            </a:r>
            <a:endParaRPr lang="en-US" sz="4800" dirty="0"/>
          </a:p>
        </p:txBody>
      </p:sp>
      <p:sp>
        <p:nvSpPr>
          <p:cNvPr id="6" name="Text 4"/>
          <p:cNvSpPr/>
          <p:nvPr/>
        </p:nvSpPr>
        <p:spPr>
          <a:xfrm>
            <a:off x="1041400" y="2712641"/>
            <a:ext cx="2773172" cy="24824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F4F7FB"/>
                </a:solidFill>
                <a:latin typeface="Public Sans" pitchFamily="34" charset="0"/>
                <a:ea typeface="Public Sans" pitchFamily="34" charset="-122"/>
                <a:cs typeface="Public Sans" pitchFamily="34" charset="-120"/>
              </a:rPr>
              <a:t>average daytime high</a:t>
            </a:r>
            <a:endParaRPr lang="en-US" sz="1300" dirty="0"/>
          </a:p>
        </p:txBody>
      </p:sp>
      <p:sp>
        <p:nvSpPr>
          <p:cNvPr id="7" name="Text 5"/>
          <p:cNvSpPr/>
          <p:nvPr/>
        </p:nvSpPr>
        <p:spPr>
          <a:xfrm>
            <a:off x="1041400" y="2998986"/>
            <a:ext cx="2773172" cy="43686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C7D4E8"/>
                </a:solidFill>
                <a:latin typeface="Public Sans" pitchFamily="34" charset="0"/>
                <a:ea typeface="Public Sans" pitchFamily="34" charset="-122"/>
                <a:cs typeface="Public Sans" pitchFamily="34" charset="-120"/>
              </a:rPr>
              <a:t>Warm sun at noon, like a spring day in Istanbul</a:t>
            </a:r>
            <a:endParaRPr lang="en-US" sz="1200" dirty="0"/>
          </a:p>
        </p:txBody>
      </p:sp>
      <p:sp>
        <p:nvSpPr>
          <p:cNvPr id="8" name="Shape 6"/>
          <p:cNvSpPr/>
          <p:nvPr/>
        </p:nvSpPr>
        <p:spPr>
          <a:xfrm>
            <a:off x="4114800" y="1836341"/>
            <a:ext cx="3149600" cy="1777305"/>
          </a:xfrm>
          <a:prstGeom prst="roundRect">
            <a:avLst>
              <a:gd name="adj" fmla="val 5717"/>
            </a:avLst>
          </a:prstGeom>
          <a:solidFill>
            <a:srgbClr val="000084"/>
          </a:solidFill>
          <a:ln/>
        </p:spPr>
        <p:txBody>
          <a:bodyPr/>
          <a:lstStyle/>
          <a:p>
            <a:endParaRPr lang="tr-TR"/>
          </a:p>
        </p:txBody>
      </p:sp>
      <p:sp>
        <p:nvSpPr>
          <p:cNvPr id="9" name="Text 7"/>
          <p:cNvSpPr/>
          <p:nvPr/>
        </p:nvSpPr>
        <p:spPr>
          <a:xfrm>
            <a:off x="4343400" y="2039541"/>
            <a:ext cx="2773172" cy="635000"/>
          </a:xfrm>
          <a:prstGeom prst="rect">
            <a:avLst/>
          </a:prstGeom>
          <a:noFill/>
          <a:ln/>
        </p:spPr>
        <p:txBody>
          <a:bodyPr wrap="square" lIns="0" tIns="0" rIns="0" bIns="0" rtlCol="0" anchor="t">
            <a:normAutofit/>
          </a:bodyPr>
          <a:lstStyle/>
          <a:p>
            <a:pPr marL="0" indent="0" algn="l">
              <a:lnSpc>
                <a:spcPts val="4800"/>
              </a:lnSpc>
              <a:buNone/>
            </a:pPr>
            <a:r>
              <a:rPr lang="en-US" sz="4800" b="1" dirty="0">
                <a:solidFill>
                  <a:srgbClr val="E2B050"/>
                </a:solidFill>
                <a:latin typeface="Oswald" pitchFamily="34" charset="0"/>
                <a:ea typeface="Oswald" pitchFamily="34" charset="-122"/>
                <a:cs typeface="Oswald" pitchFamily="34" charset="-120"/>
              </a:rPr>
              <a:t>6 °C</a:t>
            </a:r>
            <a:endParaRPr lang="en-US" sz="4800" dirty="0"/>
          </a:p>
        </p:txBody>
      </p:sp>
      <p:sp>
        <p:nvSpPr>
          <p:cNvPr id="10" name="Text 8"/>
          <p:cNvSpPr/>
          <p:nvPr/>
        </p:nvSpPr>
        <p:spPr>
          <a:xfrm>
            <a:off x="4343400" y="2712641"/>
            <a:ext cx="2773172" cy="24824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F4F7FB"/>
                </a:solidFill>
                <a:latin typeface="Public Sans" pitchFamily="34" charset="0"/>
                <a:ea typeface="Public Sans" pitchFamily="34" charset="-122"/>
                <a:cs typeface="Public Sans" pitchFamily="34" charset="-120"/>
              </a:rPr>
              <a:t>average night low</a:t>
            </a:r>
            <a:endParaRPr lang="en-US" sz="1300" dirty="0"/>
          </a:p>
        </p:txBody>
      </p:sp>
      <p:sp>
        <p:nvSpPr>
          <p:cNvPr id="11" name="Text 9"/>
          <p:cNvSpPr/>
          <p:nvPr/>
        </p:nvSpPr>
        <p:spPr>
          <a:xfrm>
            <a:off x="4343400" y="2998986"/>
            <a:ext cx="2773172" cy="43686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C7D4E8"/>
                </a:solidFill>
                <a:latin typeface="Public Sans" pitchFamily="34" charset="0"/>
                <a:ea typeface="Public Sans" pitchFamily="34" charset="-122"/>
                <a:cs typeface="Public Sans" pitchFamily="34" charset="-120"/>
              </a:rPr>
              <a:t>Late August nights can get close to 0 °C</a:t>
            </a:r>
            <a:endParaRPr lang="en-US" sz="1200" dirty="0"/>
          </a:p>
        </p:txBody>
      </p:sp>
      <p:sp>
        <p:nvSpPr>
          <p:cNvPr id="12" name="Shape 10"/>
          <p:cNvSpPr/>
          <p:nvPr/>
        </p:nvSpPr>
        <p:spPr>
          <a:xfrm>
            <a:off x="812800" y="3766046"/>
            <a:ext cx="3149600" cy="1777305"/>
          </a:xfrm>
          <a:prstGeom prst="roundRect">
            <a:avLst>
              <a:gd name="adj" fmla="val 5717"/>
            </a:avLst>
          </a:prstGeom>
          <a:solidFill>
            <a:srgbClr val="000084"/>
          </a:solidFill>
          <a:ln/>
        </p:spPr>
        <p:txBody>
          <a:bodyPr/>
          <a:lstStyle/>
          <a:p>
            <a:endParaRPr lang="tr-TR"/>
          </a:p>
        </p:txBody>
      </p:sp>
      <p:sp>
        <p:nvSpPr>
          <p:cNvPr id="13" name="Text 11"/>
          <p:cNvSpPr/>
          <p:nvPr/>
        </p:nvSpPr>
        <p:spPr>
          <a:xfrm>
            <a:off x="1041400" y="3969246"/>
            <a:ext cx="2773172" cy="635000"/>
          </a:xfrm>
          <a:prstGeom prst="rect">
            <a:avLst/>
          </a:prstGeom>
          <a:noFill/>
          <a:ln/>
        </p:spPr>
        <p:txBody>
          <a:bodyPr wrap="square" lIns="0" tIns="0" rIns="0" bIns="0" rtlCol="0" anchor="t">
            <a:normAutofit/>
          </a:bodyPr>
          <a:lstStyle/>
          <a:p>
            <a:pPr marL="0" indent="0" algn="l">
              <a:lnSpc>
                <a:spcPts val="4800"/>
              </a:lnSpc>
              <a:buNone/>
            </a:pPr>
            <a:r>
              <a:rPr lang="en-US" sz="4800" b="1" dirty="0">
                <a:solidFill>
                  <a:srgbClr val="E2B050"/>
                </a:solidFill>
                <a:latin typeface="Oswald" pitchFamily="34" charset="0"/>
                <a:ea typeface="Oswald" pitchFamily="34" charset="-122"/>
                <a:cs typeface="Oswald" pitchFamily="34" charset="-120"/>
              </a:rPr>
              <a:t>43 mm</a:t>
            </a:r>
            <a:endParaRPr lang="en-US" sz="4800" dirty="0"/>
          </a:p>
        </p:txBody>
      </p:sp>
      <p:sp>
        <p:nvSpPr>
          <p:cNvPr id="14" name="Text 12"/>
          <p:cNvSpPr/>
          <p:nvPr/>
        </p:nvSpPr>
        <p:spPr>
          <a:xfrm>
            <a:off x="1041400" y="4642346"/>
            <a:ext cx="2773172" cy="24824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F4F7FB"/>
                </a:solidFill>
                <a:latin typeface="Public Sans" pitchFamily="34" charset="0"/>
                <a:ea typeface="Public Sans" pitchFamily="34" charset="-122"/>
                <a:cs typeface="Public Sans" pitchFamily="34" charset="-120"/>
              </a:rPr>
              <a:t>rain, on about 13 days</a:t>
            </a:r>
            <a:endParaRPr lang="en-US" sz="1300" dirty="0"/>
          </a:p>
        </p:txBody>
      </p:sp>
      <p:sp>
        <p:nvSpPr>
          <p:cNvPr id="15" name="Text 13"/>
          <p:cNvSpPr/>
          <p:nvPr/>
        </p:nvSpPr>
        <p:spPr>
          <a:xfrm>
            <a:off x="1041400" y="4928691"/>
            <a:ext cx="2773172" cy="43686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C7D4E8"/>
                </a:solidFill>
                <a:latin typeface="Public Sans" pitchFamily="34" charset="0"/>
                <a:ea typeface="Public Sans" pitchFamily="34" charset="-122"/>
                <a:cs typeface="Public Sans" pitchFamily="34" charset="-120"/>
              </a:rPr>
              <a:t>Usually short showers, rarely a whole wet day</a:t>
            </a:r>
            <a:endParaRPr lang="en-US" sz="1200" dirty="0"/>
          </a:p>
        </p:txBody>
      </p:sp>
      <p:sp>
        <p:nvSpPr>
          <p:cNvPr id="16" name="Shape 14"/>
          <p:cNvSpPr/>
          <p:nvPr/>
        </p:nvSpPr>
        <p:spPr>
          <a:xfrm>
            <a:off x="4114800" y="3766046"/>
            <a:ext cx="3149600" cy="1777305"/>
          </a:xfrm>
          <a:prstGeom prst="roundRect">
            <a:avLst>
              <a:gd name="adj" fmla="val 5717"/>
            </a:avLst>
          </a:prstGeom>
          <a:solidFill>
            <a:srgbClr val="000084"/>
          </a:solidFill>
          <a:ln/>
        </p:spPr>
        <p:txBody>
          <a:bodyPr/>
          <a:lstStyle/>
          <a:p>
            <a:endParaRPr lang="tr-TR"/>
          </a:p>
        </p:txBody>
      </p:sp>
      <p:sp>
        <p:nvSpPr>
          <p:cNvPr id="17" name="Text 15"/>
          <p:cNvSpPr/>
          <p:nvPr/>
        </p:nvSpPr>
        <p:spPr>
          <a:xfrm>
            <a:off x="4343400" y="3969246"/>
            <a:ext cx="2773172" cy="635000"/>
          </a:xfrm>
          <a:prstGeom prst="rect">
            <a:avLst/>
          </a:prstGeom>
          <a:noFill/>
          <a:ln/>
        </p:spPr>
        <p:txBody>
          <a:bodyPr wrap="square" lIns="0" tIns="0" rIns="0" bIns="0" rtlCol="0" anchor="t">
            <a:normAutofit/>
          </a:bodyPr>
          <a:lstStyle/>
          <a:p>
            <a:pPr marL="0" indent="0" algn="l">
              <a:lnSpc>
                <a:spcPts val="4800"/>
              </a:lnSpc>
              <a:buNone/>
            </a:pPr>
            <a:r>
              <a:rPr lang="en-US" sz="4800" b="1" dirty="0">
                <a:solidFill>
                  <a:srgbClr val="E2B050"/>
                </a:solidFill>
                <a:latin typeface="Oswald" pitchFamily="34" charset="0"/>
                <a:ea typeface="Oswald" pitchFamily="34" charset="-122"/>
                <a:cs typeface="Oswald" pitchFamily="34" charset="-120"/>
              </a:rPr>
              <a:t>16 h</a:t>
            </a:r>
            <a:endParaRPr lang="en-US" sz="4800" dirty="0"/>
          </a:p>
        </p:txBody>
      </p:sp>
      <p:sp>
        <p:nvSpPr>
          <p:cNvPr id="18" name="Text 16"/>
          <p:cNvSpPr/>
          <p:nvPr/>
        </p:nvSpPr>
        <p:spPr>
          <a:xfrm>
            <a:off x="4343400" y="4642346"/>
            <a:ext cx="2773172" cy="24824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F4F7FB"/>
                </a:solidFill>
                <a:latin typeface="Public Sans" pitchFamily="34" charset="0"/>
                <a:ea typeface="Public Sans" pitchFamily="34" charset="-122"/>
                <a:cs typeface="Public Sans" pitchFamily="34" charset="-120"/>
              </a:rPr>
              <a:t>of daylight, sunset about 10 pm</a:t>
            </a:r>
            <a:endParaRPr lang="en-US" sz="1300" dirty="0"/>
          </a:p>
        </p:txBody>
      </p:sp>
      <p:sp>
        <p:nvSpPr>
          <p:cNvPr id="19" name="Text 17"/>
          <p:cNvSpPr/>
          <p:nvPr/>
        </p:nvSpPr>
        <p:spPr>
          <a:xfrm>
            <a:off x="4343400" y="4928691"/>
            <a:ext cx="2773172" cy="23113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C7D4E8"/>
                </a:solidFill>
                <a:latin typeface="Public Sans" pitchFamily="34" charset="0"/>
                <a:ea typeface="Public Sans" pitchFamily="34" charset="-122"/>
                <a:cs typeface="Public Sans" pitchFamily="34" charset="-120"/>
              </a:rPr>
              <a:t>In June the sun hardly sets at all</a:t>
            </a:r>
            <a:endParaRPr lang="en-US" sz="1200" dirty="0"/>
          </a:p>
        </p:txBody>
      </p:sp>
      <p:sp>
        <p:nvSpPr>
          <p:cNvPr id="20" name="Shape 18"/>
          <p:cNvSpPr/>
          <p:nvPr/>
        </p:nvSpPr>
        <p:spPr>
          <a:xfrm>
            <a:off x="7572375" y="1839516"/>
            <a:ext cx="3803650" cy="3700661"/>
          </a:xfrm>
          <a:prstGeom prst="roundRect">
            <a:avLst>
              <a:gd name="adj" fmla="val 2660"/>
            </a:avLst>
          </a:prstGeom>
          <a:solidFill>
            <a:srgbClr val="FBFCFE"/>
          </a:solidFill>
          <a:ln w="6350">
            <a:solidFill>
              <a:srgbClr val="D9DBEE"/>
            </a:solidFill>
            <a:prstDash val="solid"/>
          </a:ln>
        </p:spPr>
        <p:txBody>
          <a:bodyPr/>
          <a:lstStyle/>
          <a:p>
            <a:endParaRPr lang="tr-TR"/>
          </a:p>
        </p:txBody>
      </p:sp>
      <p:sp>
        <p:nvSpPr>
          <p:cNvPr id="21" name="Text 19"/>
          <p:cNvSpPr/>
          <p:nvPr/>
        </p:nvSpPr>
        <p:spPr>
          <a:xfrm>
            <a:off x="7804150" y="2071291"/>
            <a:ext cx="3440303"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A2FB0"/>
                </a:solidFill>
                <a:latin typeface="Public Sans" pitchFamily="34" charset="0"/>
                <a:ea typeface="Public Sans" pitchFamily="34" charset="-122"/>
                <a:cs typeface="Public Sans" pitchFamily="34" charset="-120"/>
              </a:rPr>
              <a:t>WHAT THIS MEANS FOR US</a:t>
            </a:r>
            <a:endParaRPr lang="en-US" sz="1200" dirty="0"/>
          </a:p>
        </p:txBody>
      </p:sp>
      <p:pic>
        <p:nvPicPr>
          <p:cNvPr id="22" name="Image 0" descr="Check"/>
          <p:cNvPicPr>
            <a:picLocks noChangeAspect="1"/>
          </p:cNvPicPr>
          <p:nvPr/>
        </p:nvPicPr>
        <p:blipFill>
          <a:blip r:embed="rId3"/>
          <a:srcRect l="-1213" r="-1213"/>
          <a:stretch/>
        </p:blipFill>
        <p:spPr>
          <a:xfrm>
            <a:off x="7804150" y="2547491"/>
            <a:ext cx="123577" cy="190500"/>
          </a:xfrm>
          <a:prstGeom prst="rect">
            <a:avLst/>
          </a:prstGeom>
        </p:spPr>
      </p:pic>
      <p:sp>
        <p:nvSpPr>
          <p:cNvPr id="23" name="Text 20"/>
          <p:cNvSpPr/>
          <p:nvPr/>
        </p:nvSpPr>
        <p:spPr>
          <a:xfrm>
            <a:off x="8029327" y="2411611"/>
            <a:ext cx="3208371" cy="4876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B2432"/>
                </a:solidFill>
                <a:latin typeface="Public Sans" pitchFamily="34" charset="0"/>
                <a:ea typeface="Public Sans" pitchFamily="34" charset="-122"/>
                <a:cs typeface="Public Sans" pitchFamily="34" charset="-120"/>
              </a:rPr>
              <a:t>Dress in layers: T-shirt at noon, fleece and jacket in the evening</a:t>
            </a:r>
            <a:endParaRPr lang="en-US" sz="1300" dirty="0"/>
          </a:p>
        </p:txBody>
      </p:sp>
      <p:pic>
        <p:nvPicPr>
          <p:cNvPr id="24" name="Image 1" descr="Check"/>
          <p:cNvPicPr>
            <a:picLocks noChangeAspect="1"/>
          </p:cNvPicPr>
          <p:nvPr/>
        </p:nvPicPr>
        <p:blipFill>
          <a:blip r:embed="rId4"/>
          <a:srcRect l="-1016" r="-1016"/>
          <a:stretch/>
        </p:blipFill>
        <p:spPr>
          <a:xfrm>
            <a:off x="7804150" y="3136751"/>
            <a:ext cx="129580" cy="190500"/>
          </a:xfrm>
          <a:prstGeom prst="rect">
            <a:avLst/>
          </a:prstGeom>
        </p:spPr>
      </p:pic>
      <p:sp>
        <p:nvSpPr>
          <p:cNvPr id="25" name="Text 21"/>
          <p:cNvSpPr/>
          <p:nvPr/>
        </p:nvSpPr>
        <p:spPr>
          <a:xfrm>
            <a:off x="8035330" y="3000871"/>
            <a:ext cx="3202188" cy="4876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B2432"/>
                </a:solidFill>
                <a:latin typeface="Public Sans" pitchFamily="34" charset="0"/>
                <a:ea typeface="Public Sans" pitchFamily="34" charset="-122"/>
                <a:cs typeface="Public Sans" pitchFamily="34" charset="-120"/>
              </a:rPr>
              <a:t>A rain jacket is a must; umbrellas are useless on windy trails</a:t>
            </a:r>
            <a:endParaRPr lang="en-US" sz="1300" dirty="0"/>
          </a:p>
        </p:txBody>
      </p:sp>
      <p:pic>
        <p:nvPicPr>
          <p:cNvPr id="26" name="Image 2" descr="Check"/>
          <p:cNvPicPr>
            <a:picLocks noChangeAspect="1"/>
          </p:cNvPicPr>
          <p:nvPr/>
        </p:nvPicPr>
        <p:blipFill>
          <a:blip r:embed="rId5"/>
          <a:srcRect t="-666" b="-666"/>
          <a:stretch/>
        </p:blipFill>
        <p:spPr>
          <a:xfrm>
            <a:off x="7804150" y="3726011"/>
            <a:ext cx="137864" cy="190500"/>
          </a:xfrm>
          <a:prstGeom prst="rect">
            <a:avLst/>
          </a:prstGeom>
        </p:spPr>
      </p:pic>
      <p:sp>
        <p:nvSpPr>
          <p:cNvPr id="27" name="Text 22"/>
          <p:cNvSpPr/>
          <p:nvPr/>
        </p:nvSpPr>
        <p:spPr>
          <a:xfrm>
            <a:off x="8043614" y="3590131"/>
            <a:ext cx="3193655" cy="4876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B2432"/>
                </a:solidFill>
                <a:latin typeface="Public Sans" pitchFamily="34" charset="0"/>
                <a:ea typeface="Public Sans" pitchFamily="34" charset="-122"/>
                <a:cs typeface="Public Sans" pitchFamily="34" charset="-120"/>
              </a:rPr>
              <a:t>Long bright evenings: we can hike the Dome after dinner</a:t>
            </a:r>
            <a:endParaRPr lang="en-US" sz="1300" dirty="0"/>
          </a:p>
        </p:txBody>
      </p:sp>
      <p:pic>
        <p:nvPicPr>
          <p:cNvPr id="28" name="Image 3" descr="Check"/>
          <p:cNvPicPr>
            <a:picLocks noChangeAspect="1"/>
          </p:cNvPicPr>
          <p:nvPr/>
        </p:nvPicPr>
        <p:blipFill>
          <a:blip r:embed="rId6"/>
          <a:srcRect t="-1111" b="-1111"/>
          <a:stretch/>
        </p:blipFill>
        <p:spPr>
          <a:xfrm>
            <a:off x="7804150" y="4315271"/>
            <a:ext cx="142875" cy="190500"/>
          </a:xfrm>
          <a:prstGeom prst="rect">
            <a:avLst/>
          </a:prstGeom>
        </p:spPr>
      </p:pic>
      <p:sp>
        <p:nvSpPr>
          <p:cNvPr id="29" name="Text 23"/>
          <p:cNvSpPr/>
          <p:nvPr/>
        </p:nvSpPr>
        <p:spPr>
          <a:xfrm>
            <a:off x="8048625" y="4179391"/>
            <a:ext cx="3188494" cy="4876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B2432"/>
                </a:solidFill>
                <a:latin typeface="Public Sans" pitchFamily="34" charset="0"/>
                <a:ea typeface="Public Sans" pitchFamily="34" charset="-122"/>
                <a:cs typeface="Public Sans" pitchFamily="34" charset="-120"/>
              </a:rPr>
              <a:t>Fewer mosquitoes than in July, but still bring repellent</a:t>
            </a:r>
            <a:endParaRPr lang="en-US" sz="1300" dirty="0"/>
          </a:p>
        </p:txBody>
      </p:sp>
      <p:pic>
        <p:nvPicPr>
          <p:cNvPr id="30" name="Image 4" descr="Check"/>
          <p:cNvPicPr>
            <a:picLocks noChangeAspect="1"/>
          </p:cNvPicPr>
          <p:nvPr/>
        </p:nvPicPr>
        <p:blipFill>
          <a:blip r:embed="rId3"/>
          <a:srcRect t="-815" b="-815"/>
          <a:stretch/>
        </p:blipFill>
        <p:spPr>
          <a:xfrm>
            <a:off x="7804150" y="4904532"/>
            <a:ext cx="118715" cy="190500"/>
          </a:xfrm>
          <a:prstGeom prst="rect">
            <a:avLst/>
          </a:prstGeom>
        </p:spPr>
      </p:pic>
      <p:sp>
        <p:nvSpPr>
          <p:cNvPr id="31" name="Text 24"/>
          <p:cNvSpPr/>
          <p:nvPr/>
        </p:nvSpPr>
        <p:spPr>
          <a:xfrm>
            <a:off x="8024465" y="4768652"/>
            <a:ext cx="3213378" cy="4876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B2432"/>
                </a:solidFill>
                <a:latin typeface="Public Sans" pitchFamily="34" charset="0"/>
                <a:ea typeface="Public Sans" pitchFamily="34" charset="-122"/>
                <a:cs typeface="Public Sans" pitchFamily="34" charset="-120"/>
              </a:rPr>
              <a:t>The first autumn colours appear in Tombstone Park in late August</a:t>
            </a:r>
            <a:endParaRPr lang="en-US" sz="1300" dirty="0"/>
          </a:p>
        </p:txBody>
      </p:sp>
      <p:sp>
        <p:nvSpPr>
          <p:cNvPr id="32" name="Text 25"/>
          <p:cNvSpPr/>
          <p:nvPr/>
        </p:nvSpPr>
        <p:spPr>
          <a:xfrm>
            <a:off x="812800" y="6238280"/>
            <a:ext cx="10007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B7A"/>
                </a:solidFill>
                <a:latin typeface="Public Sans" pitchFamily="34" charset="0"/>
                <a:ea typeface="Public Sans" pitchFamily="34" charset="-122"/>
                <a:cs typeface="Public Sans" pitchFamily="34" charset="-120"/>
              </a:rPr>
              <a:t>Source: Environment Canada climate normals for Dawson (1981–2010) · Klondike Gold Rush · Pertevniyal High School 159/E</a:t>
            </a:r>
            <a:endParaRPr lang="en-US" sz="1200" dirty="0"/>
          </a:p>
        </p:txBody>
      </p:sp>
      <p:sp>
        <p:nvSpPr>
          <p:cNvPr id="33" name="Text 26"/>
          <p:cNvSpPr/>
          <p:nvPr/>
        </p:nvSpPr>
        <p:spPr>
          <a:xfrm>
            <a:off x="10820400" y="6238280"/>
            <a:ext cx="558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F6B7A"/>
                </a:solidFill>
                <a:latin typeface="Public Sans" pitchFamily="34" charset="0"/>
                <a:ea typeface="Public Sans" pitchFamily="34" charset="-122"/>
                <a:cs typeface="Public Sans" pitchFamily="34"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3F4F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A2FB0"/>
                </a:solidFill>
                <a:latin typeface="Public Sans" pitchFamily="34" charset="0"/>
                <a:ea typeface="Public Sans" pitchFamily="34" charset="-122"/>
                <a:cs typeface="Public Sans" pitchFamily="34" charset="-120"/>
              </a:rPr>
              <a:t>PRACTICAL INFORMATION · TRANSPORT</a:t>
            </a:r>
            <a:endParaRPr lang="en-US" sz="1200" dirty="0"/>
          </a:p>
        </p:txBody>
      </p:sp>
      <p:sp>
        <p:nvSpPr>
          <p:cNvPr id="3" name="Text 1"/>
          <p:cNvSpPr>
            <a:spLocks noGrp="1"/>
          </p:cNvSpPr>
          <p:nvPr>
            <p:ph type="title"/>
          </p:nvPr>
        </p:nvSpPr>
        <p:spPr>
          <a:xfrm>
            <a:off x="812800" y="1102320"/>
            <a:ext cx="10883392" cy="505420"/>
          </a:xfrm>
          <a:prstGeom prst="rect">
            <a:avLst/>
          </a:prstGeom>
          <a:noFill/>
          <a:ln/>
        </p:spPr>
        <p:txBody>
          <a:bodyPr wrap="square" lIns="0" tIns="0" rIns="0" bIns="0" rtlCol="0" anchor="t">
            <a:normAutofit/>
          </a:bodyPr>
          <a:lstStyle/>
          <a:p>
            <a:pPr marL="0" indent="0" algn="l">
              <a:lnSpc>
                <a:spcPts val="3780"/>
              </a:lnSpc>
              <a:buNone/>
            </a:pPr>
            <a:r>
              <a:rPr lang="en-US" sz="3600" b="0" i="0" dirty="0">
                <a:solidFill>
                  <a:srgbClr val="000084"/>
                </a:solidFill>
                <a:latin typeface="Oswald" pitchFamily="34" charset="0"/>
                <a:ea typeface="Oswald" pitchFamily="34" charset="-122"/>
                <a:cs typeface="Oswald" pitchFamily="34" charset="-120"/>
              </a:rPr>
              <a:t>Getting There and Getting Around</a:t>
            </a:r>
            <a:endParaRPr lang="en-US" sz="3600" dirty="0"/>
          </a:p>
        </p:txBody>
      </p:sp>
      <p:sp>
        <p:nvSpPr>
          <p:cNvPr id="4" name="Shape 2"/>
          <p:cNvSpPr/>
          <p:nvPr/>
        </p:nvSpPr>
        <p:spPr>
          <a:xfrm>
            <a:off x="812800" y="1817291"/>
            <a:ext cx="2212975" cy="1617811"/>
          </a:xfrm>
          <a:prstGeom prst="roundRect">
            <a:avLst>
              <a:gd name="adj" fmla="val 6280"/>
            </a:avLst>
          </a:prstGeom>
          <a:solidFill>
            <a:srgbClr val="000084"/>
          </a:solidFill>
          <a:ln/>
        </p:spPr>
        <p:txBody>
          <a:bodyPr/>
          <a:lstStyle/>
          <a:p>
            <a:endParaRPr lang="tr-TR"/>
          </a:p>
        </p:txBody>
      </p:sp>
      <p:sp>
        <p:nvSpPr>
          <p:cNvPr id="5" name="Text 3"/>
          <p:cNvSpPr/>
          <p:nvPr/>
        </p:nvSpPr>
        <p:spPr>
          <a:xfrm>
            <a:off x="1016000" y="1995091"/>
            <a:ext cx="186077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E2B050"/>
                </a:solidFill>
                <a:latin typeface="Public Sans" pitchFamily="34" charset="0"/>
                <a:ea typeface="Public Sans" pitchFamily="34" charset="-122"/>
                <a:cs typeface="Public Sans" pitchFamily="34" charset="-120"/>
              </a:rPr>
              <a:t>START</a:t>
            </a:r>
            <a:endParaRPr lang="en-US" sz="1200" dirty="0"/>
          </a:p>
        </p:txBody>
      </p:sp>
      <p:sp>
        <p:nvSpPr>
          <p:cNvPr id="6" name="Text 4"/>
          <p:cNvSpPr/>
          <p:nvPr/>
        </p:nvSpPr>
        <p:spPr>
          <a:xfrm>
            <a:off x="1016000" y="2259211"/>
            <a:ext cx="1860772" cy="332730"/>
          </a:xfrm>
          <a:prstGeom prst="rect">
            <a:avLst/>
          </a:prstGeom>
          <a:noFill/>
          <a:ln/>
        </p:spPr>
        <p:txBody>
          <a:bodyPr wrap="square" lIns="0" tIns="0" rIns="0" bIns="0" rtlCol="0" anchor="t">
            <a:normAutofit/>
          </a:bodyPr>
          <a:lstStyle/>
          <a:p>
            <a:pPr marL="0" indent="0" algn="l">
              <a:lnSpc>
                <a:spcPts val="2420"/>
              </a:lnSpc>
              <a:buNone/>
            </a:pPr>
            <a:r>
              <a:rPr lang="en-US" sz="2200" dirty="0">
                <a:solidFill>
                  <a:srgbClr val="F4F7FB"/>
                </a:solidFill>
                <a:latin typeface="Oswald" pitchFamily="34" charset="0"/>
                <a:ea typeface="Oswald" pitchFamily="34" charset="-122"/>
                <a:cs typeface="Oswald" pitchFamily="34" charset="-120"/>
              </a:rPr>
              <a:t>Istanbul</a:t>
            </a:r>
            <a:endParaRPr lang="en-US" sz="2200" dirty="0"/>
          </a:p>
        </p:txBody>
      </p:sp>
      <p:sp>
        <p:nvSpPr>
          <p:cNvPr id="7" name="Text 5"/>
          <p:cNvSpPr/>
          <p:nvPr/>
        </p:nvSpPr>
        <p:spPr>
          <a:xfrm>
            <a:off x="1016000" y="2617341"/>
            <a:ext cx="1860772"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7D4E8"/>
                </a:solidFill>
                <a:latin typeface="Public Sans" pitchFamily="34" charset="0"/>
                <a:ea typeface="Public Sans" pitchFamily="34" charset="-122"/>
                <a:cs typeface="Public Sans" pitchFamily="34" charset="-120"/>
              </a:rPr>
              <a:t>Direct flight to Vancouver with Turkish Airlines, about 12.5 hours</a:t>
            </a:r>
            <a:endParaRPr lang="en-US" sz="1200" dirty="0"/>
          </a:p>
        </p:txBody>
      </p:sp>
      <p:pic>
        <p:nvPicPr>
          <p:cNvPr id="8" name="Image 0" descr="connector"/>
          <p:cNvPicPr>
            <a:picLocks noChangeAspect="1"/>
          </p:cNvPicPr>
          <p:nvPr/>
        </p:nvPicPr>
        <p:blipFill>
          <a:blip r:embed="rId3"/>
          <a:srcRect/>
          <a:stretch/>
        </p:blipFill>
        <p:spPr>
          <a:xfrm>
            <a:off x="3114675" y="2588071"/>
            <a:ext cx="381000" cy="76200"/>
          </a:xfrm>
          <a:prstGeom prst="rect">
            <a:avLst/>
          </a:prstGeom>
        </p:spPr>
      </p:pic>
      <p:sp>
        <p:nvSpPr>
          <p:cNvPr id="9" name="Shape 6"/>
          <p:cNvSpPr/>
          <p:nvPr/>
        </p:nvSpPr>
        <p:spPr>
          <a:xfrm>
            <a:off x="3587750" y="1814116"/>
            <a:ext cx="2219325" cy="1624161"/>
          </a:xfrm>
          <a:prstGeom prst="roundRect">
            <a:avLst>
              <a:gd name="adj" fmla="val 6060"/>
            </a:avLst>
          </a:prstGeom>
          <a:solidFill>
            <a:srgbClr val="FBFCFE"/>
          </a:solidFill>
          <a:ln w="6350">
            <a:solidFill>
              <a:srgbClr val="D9DBEE"/>
            </a:solidFill>
            <a:prstDash val="solid"/>
          </a:ln>
        </p:spPr>
        <p:txBody>
          <a:bodyPr/>
          <a:lstStyle/>
          <a:p>
            <a:endParaRPr lang="tr-TR"/>
          </a:p>
        </p:txBody>
      </p:sp>
      <p:sp>
        <p:nvSpPr>
          <p:cNvPr id="10" name="Text 7"/>
          <p:cNvSpPr/>
          <p:nvPr/>
        </p:nvSpPr>
        <p:spPr>
          <a:xfrm>
            <a:off x="3794125" y="1995091"/>
            <a:ext cx="186077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A2FB0"/>
                </a:solidFill>
                <a:latin typeface="Public Sans" pitchFamily="34" charset="0"/>
                <a:ea typeface="Public Sans" pitchFamily="34" charset="-122"/>
                <a:cs typeface="Public Sans" pitchFamily="34" charset="-120"/>
              </a:rPr>
              <a:t>LEG 1 · 12.5 H</a:t>
            </a:r>
            <a:endParaRPr lang="en-US" sz="1200" dirty="0"/>
          </a:p>
        </p:txBody>
      </p:sp>
      <p:sp>
        <p:nvSpPr>
          <p:cNvPr id="11" name="Text 8"/>
          <p:cNvSpPr/>
          <p:nvPr/>
        </p:nvSpPr>
        <p:spPr>
          <a:xfrm>
            <a:off x="3794125" y="2259211"/>
            <a:ext cx="1860772" cy="332730"/>
          </a:xfrm>
          <a:prstGeom prst="rect">
            <a:avLst/>
          </a:prstGeom>
          <a:noFill/>
          <a:ln/>
        </p:spPr>
        <p:txBody>
          <a:bodyPr wrap="square" lIns="0" tIns="0" rIns="0" bIns="0" rtlCol="0" anchor="t">
            <a:normAutofit/>
          </a:bodyPr>
          <a:lstStyle/>
          <a:p>
            <a:pPr marL="0" indent="0" algn="l">
              <a:lnSpc>
                <a:spcPts val="2420"/>
              </a:lnSpc>
              <a:buNone/>
            </a:pPr>
            <a:r>
              <a:rPr lang="en-US" sz="2200" dirty="0">
                <a:solidFill>
                  <a:srgbClr val="000084"/>
                </a:solidFill>
                <a:latin typeface="Oswald" pitchFamily="34" charset="0"/>
                <a:ea typeface="Oswald" pitchFamily="34" charset="-122"/>
                <a:cs typeface="Oswald" pitchFamily="34" charset="-120"/>
              </a:rPr>
              <a:t>Vancouver</a:t>
            </a:r>
            <a:endParaRPr lang="en-US" sz="2200" dirty="0"/>
          </a:p>
        </p:txBody>
      </p:sp>
      <p:sp>
        <p:nvSpPr>
          <p:cNvPr id="12" name="Text 9"/>
          <p:cNvSpPr/>
          <p:nvPr/>
        </p:nvSpPr>
        <p:spPr>
          <a:xfrm>
            <a:off x="3794125" y="2617341"/>
            <a:ext cx="1860772"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75569"/>
                </a:solidFill>
                <a:latin typeface="Public Sans" pitchFamily="34" charset="0"/>
                <a:ea typeface="Public Sans" pitchFamily="34" charset="-122"/>
                <a:cs typeface="Public Sans" pitchFamily="34" charset="-120"/>
              </a:rPr>
              <a:t>Change planes; Air North or Air Canada fly north to Whitehorse</a:t>
            </a:r>
            <a:endParaRPr lang="en-US" sz="1200" dirty="0"/>
          </a:p>
        </p:txBody>
      </p:sp>
      <p:pic>
        <p:nvPicPr>
          <p:cNvPr id="13" name="Image 1" descr="connector"/>
          <p:cNvPicPr>
            <a:picLocks noChangeAspect="1"/>
          </p:cNvPicPr>
          <p:nvPr/>
        </p:nvPicPr>
        <p:blipFill>
          <a:blip r:embed="rId3"/>
          <a:srcRect/>
          <a:stretch/>
        </p:blipFill>
        <p:spPr>
          <a:xfrm>
            <a:off x="5899150" y="2588071"/>
            <a:ext cx="381000" cy="76200"/>
          </a:xfrm>
          <a:prstGeom prst="rect">
            <a:avLst/>
          </a:prstGeom>
        </p:spPr>
      </p:pic>
      <p:sp>
        <p:nvSpPr>
          <p:cNvPr id="14" name="Shape 10"/>
          <p:cNvSpPr/>
          <p:nvPr/>
        </p:nvSpPr>
        <p:spPr>
          <a:xfrm>
            <a:off x="6372225" y="1814116"/>
            <a:ext cx="2219325" cy="1624161"/>
          </a:xfrm>
          <a:prstGeom prst="roundRect">
            <a:avLst>
              <a:gd name="adj" fmla="val 6060"/>
            </a:avLst>
          </a:prstGeom>
          <a:solidFill>
            <a:srgbClr val="FBFCFE"/>
          </a:solidFill>
          <a:ln w="6350">
            <a:solidFill>
              <a:srgbClr val="D9DBEE"/>
            </a:solidFill>
            <a:prstDash val="solid"/>
          </a:ln>
        </p:spPr>
        <p:txBody>
          <a:bodyPr/>
          <a:lstStyle/>
          <a:p>
            <a:endParaRPr lang="tr-TR"/>
          </a:p>
        </p:txBody>
      </p:sp>
      <p:sp>
        <p:nvSpPr>
          <p:cNvPr id="15" name="Text 11"/>
          <p:cNvSpPr/>
          <p:nvPr/>
        </p:nvSpPr>
        <p:spPr>
          <a:xfrm>
            <a:off x="6578600" y="1995091"/>
            <a:ext cx="186077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A2FB0"/>
                </a:solidFill>
                <a:latin typeface="Public Sans" pitchFamily="34" charset="0"/>
                <a:ea typeface="Public Sans" pitchFamily="34" charset="-122"/>
                <a:cs typeface="Public Sans" pitchFamily="34" charset="-120"/>
              </a:rPr>
              <a:t>LEG 2 · 2.5 H</a:t>
            </a:r>
            <a:endParaRPr lang="en-US" sz="1200" dirty="0"/>
          </a:p>
        </p:txBody>
      </p:sp>
      <p:sp>
        <p:nvSpPr>
          <p:cNvPr id="16" name="Text 12"/>
          <p:cNvSpPr/>
          <p:nvPr/>
        </p:nvSpPr>
        <p:spPr>
          <a:xfrm>
            <a:off x="6578600" y="2259211"/>
            <a:ext cx="1860772" cy="332730"/>
          </a:xfrm>
          <a:prstGeom prst="rect">
            <a:avLst/>
          </a:prstGeom>
          <a:noFill/>
          <a:ln/>
        </p:spPr>
        <p:txBody>
          <a:bodyPr wrap="square" lIns="0" tIns="0" rIns="0" bIns="0" rtlCol="0" anchor="t">
            <a:normAutofit/>
          </a:bodyPr>
          <a:lstStyle/>
          <a:p>
            <a:pPr marL="0" indent="0" algn="l">
              <a:lnSpc>
                <a:spcPts val="2420"/>
              </a:lnSpc>
              <a:buNone/>
            </a:pPr>
            <a:r>
              <a:rPr lang="en-US" sz="2200" dirty="0">
                <a:solidFill>
                  <a:srgbClr val="000084"/>
                </a:solidFill>
                <a:latin typeface="Oswald" pitchFamily="34" charset="0"/>
                <a:ea typeface="Oswald" pitchFamily="34" charset="-122"/>
                <a:cs typeface="Oswald" pitchFamily="34" charset="-120"/>
              </a:rPr>
              <a:t>Whitehorse</a:t>
            </a:r>
            <a:endParaRPr lang="en-US" sz="2200" dirty="0"/>
          </a:p>
        </p:txBody>
      </p:sp>
      <p:sp>
        <p:nvSpPr>
          <p:cNvPr id="17" name="Text 13"/>
          <p:cNvSpPr/>
          <p:nvPr/>
        </p:nvSpPr>
        <p:spPr>
          <a:xfrm>
            <a:off x="6578600" y="2617341"/>
            <a:ext cx="1860772"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75569"/>
                </a:solidFill>
                <a:latin typeface="Public Sans" pitchFamily="34" charset="0"/>
                <a:ea typeface="Public Sans" pitchFamily="34" charset="-122"/>
                <a:cs typeface="Public Sans" pitchFamily="34" charset="-120"/>
              </a:rPr>
              <a:t>Capital of Yukon; Air North to Dawson (1 h) or 530 km by road (6 h)</a:t>
            </a:r>
            <a:endParaRPr lang="en-US" sz="1200" dirty="0"/>
          </a:p>
        </p:txBody>
      </p:sp>
      <p:pic>
        <p:nvPicPr>
          <p:cNvPr id="18" name="Image 2" descr="connector"/>
          <p:cNvPicPr>
            <a:picLocks noChangeAspect="1"/>
          </p:cNvPicPr>
          <p:nvPr/>
        </p:nvPicPr>
        <p:blipFill>
          <a:blip r:embed="rId3"/>
          <a:srcRect/>
          <a:stretch/>
        </p:blipFill>
        <p:spPr>
          <a:xfrm>
            <a:off x="8683625" y="2588071"/>
            <a:ext cx="381000" cy="76200"/>
          </a:xfrm>
          <a:prstGeom prst="rect">
            <a:avLst/>
          </a:prstGeom>
        </p:spPr>
      </p:pic>
      <p:sp>
        <p:nvSpPr>
          <p:cNvPr id="19" name="Shape 14"/>
          <p:cNvSpPr/>
          <p:nvPr/>
        </p:nvSpPr>
        <p:spPr>
          <a:xfrm>
            <a:off x="9156700" y="1814116"/>
            <a:ext cx="2219325" cy="1624161"/>
          </a:xfrm>
          <a:prstGeom prst="roundRect">
            <a:avLst>
              <a:gd name="adj" fmla="val 6060"/>
            </a:avLst>
          </a:prstGeom>
          <a:solidFill>
            <a:srgbClr val="FBFCFE"/>
          </a:solidFill>
          <a:ln w="6350">
            <a:solidFill>
              <a:srgbClr val="D9DBEE"/>
            </a:solidFill>
            <a:prstDash val="solid"/>
          </a:ln>
        </p:spPr>
        <p:txBody>
          <a:bodyPr/>
          <a:lstStyle/>
          <a:p>
            <a:endParaRPr lang="tr-TR"/>
          </a:p>
        </p:txBody>
      </p:sp>
      <p:sp>
        <p:nvSpPr>
          <p:cNvPr id="20" name="Text 15"/>
          <p:cNvSpPr/>
          <p:nvPr/>
        </p:nvSpPr>
        <p:spPr>
          <a:xfrm>
            <a:off x="9363075" y="1995091"/>
            <a:ext cx="186077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A2FB0"/>
                </a:solidFill>
                <a:latin typeface="Public Sans" pitchFamily="34" charset="0"/>
                <a:ea typeface="Public Sans" pitchFamily="34" charset="-122"/>
                <a:cs typeface="Public Sans" pitchFamily="34" charset="-120"/>
              </a:rPr>
              <a:t>LEG 3 · 1 H</a:t>
            </a:r>
            <a:endParaRPr lang="en-US" sz="1200" dirty="0"/>
          </a:p>
        </p:txBody>
      </p:sp>
      <p:sp>
        <p:nvSpPr>
          <p:cNvPr id="21" name="Text 16"/>
          <p:cNvSpPr/>
          <p:nvPr/>
        </p:nvSpPr>
        <p:spPr>
          <a:xfrm>
            <a:off x="9363075" y="2259211"/>
            <a:ext cx="1860772" cy="332730"/>
          </a:xfrm>
          <a:prstGeom prst="rect">
            <a:avLst/>
          </a:prstGeom>
          <a:noFill/>
          <a:ln/>
        </p:spPr>
        <p:txBody>
          <a:bodyPr wrap="square" lIns="0" tIns="0" rIns="0" bIns="0" rtlCol="0" anchor="t">
            <a:normAutofit/>
          </a:bodyPr>
          <a:lstStyle/>
          <a:p>
            <a:pPr marL="0" indent="0" algn="l">
              <a:lnSpc>
                <a:spcPts val="2420"/>
              </a:lnSpc>
              <a:buNone/>
            </a:pPr>
            <a:r>
              <a:rPr lang="en-US" sz="2200" dirty="0">
                <a:solidFill>
                  <a:srgbClr val="000084"/>
                </a:solidFill>
                <a:latin typeface="Oswald" pitchFamily="34" charset="0"/>
                <a:ea typeface="Oswald" pitchFamily="34" charset="-122"/>
                <a:cs typeface="Oswald" pitchFamily="34" charset="-120"/>
              </a:rPr>
              <a:t>Dawson City</a:t>
            </a:r>
            <a:endParaRPr lang="en-US" sz="2200" dirty="0"/>
          </a:p>
        </p:txBody>
      </p:sp>
      <p:sp>
        <p:nvSpPr>
          <p:cNvPr id="22" name="Text 17"/>
          <p:cNvSpPr/>
          <p:nvPr/>
        </p:nvSpPr>
        <p:spPr>
          <a:xfrm>
            <a:off x="9363075" y="2617341"/>
            <a:ext cx="1860772"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75569"/>
                </a:solidFill>
                <a:latin typeface="Public Sans" pitchFamily="34" charset="0"/>
                <a:ea typeface="Public Sans" pitchFamily="34" charset="-122"/>
                <a:cs typeface="Public Sans" pitchFamily="34" charset="-120"/>
              </a:rPr>
              <a:t>The airport is 15 km from town; a hotel or tour shuttle takes us in</a:t>
            </a:r>
            <a:endParaRPr lang="en-US" sz="1200" dirty="0"/>
          </a:p>
        </p:txBody>
      </p:sp>
      <p:sp>
        <p:nvSpPr>
          <p:cNvPr id="23" name="Text 18"/>
          <p:cNvSpPr/>
          <p:nvPr/>
        </p:nvSpPr>
        <p:spPr>
          <a:xfrm>
            <a:off x="812800" y="3670052"/>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A2FB0"/>
                </a:solidFill>
                <a:latin typeface="Public Sans" pitchFamily="34" charset="0"/>
                <a:ea typeface="Public Sans" pitchFamily="34" charset="-122"/>
                <a:cs typeface="Public Sans" pitchFamily="34" charset="-120"/>
              </a:rPr>
              <a:t>GETTING AROUND IN DAWSON CITY</a:t>
            </a:r>
            <a:endParaRPr lang="en-US" sz="1200" dirty="0"/>
          </a:p>
        </p:txBody>
      </p:sp>
      <p:sp>
        <p:nvSpPr>
          <p:cNvPr id="24" name="Shape 19"/>
          <p:cNvSpPr/>
          <p:nvPr/>
        </p:nvSpPr>
        <p:spPr>
          <a:xfrm>
            <a:off x="815975" y="3988147"/>
            <a:ext cx="2520950" cy="1281311"/>
          </a:xfrm>
          <a:prstGeom prst="roundRect">
            <a:avLst>
              <a:gd name="adj" fmla="val 7682"/>
            </a:avLst>
          </a:prstGeom>
          <a:solidFill>
            <a:srgbClr val="FBFCFE"/>
          </a:solidFill>
          <a:ln w="6350">
            <a:solidFill>
              <a:srgbClr val="D9DBEE"/>
            </a:solidFill>
            <a:prstDash val="solid"/>
          </a:ln>
        </p:spPr>
        <p:txBody>
          <a:bodyPr/>
          <a:lstStyle/>
          <a:p>
            <a:endParaRPr lang="tr-TR"/>
          </a:p>
        </p:txBody>
      </p:sp>
      <p:sp>
        <p:nvSpPr>
          <p:cNvPr id="25" name="Text 20"/>
          <p:cNvSpPr/>
          <p:nvPr/>
        </p:nvSpPr>
        <p:spPr>
          <a:xfrm>
            <a:off x="996950" y="4169122"/>
            <a:ext cx="222377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00084"/>
                </a:solidFill>
                <a:latin typeface="Public Sans" pitchFamily="34" charset="0"/>
                <a:ea typeface="Public Sans" pitchFamily="34" charset="-122"/>
                <a:cs typeface="Public Sans" pitchFamily="34" charset="-120"/>
              </a:rPr>
              <a:t>On foot</a:t>
            </a:r>
            <a:endParaRPr lang="en-US" sz="1500" dirty="0"/>
          </a:p>
        </p:txBody>
      </p:sp>
      <p:sp>
        <p:nvSpPr>
          <p:cNvPr id="26" name="Text 21"/>
          <p:cNvSpPr/>
          <p:nvPr/>
        </p:nvSpPr>
        <p:spPr>
          <a:xfrm>
            <a:off x="996950" y="4448522"/>
            <a:ext cx="2223770"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75569"/>
                </a:solidFill>
                <a:latin typeface="Public Sans" pitchFamily="34" charset="0"/>
                <a:ea typeface="Public Sans" pitchFamily="34" charset="-122"/>
                <a:cs typeface="Public Sans" pitchFamily="34" charset="-120"/>
              </a:rPr>
              <a:t>The town is only 1.5 km across: wooden boardwalks, dirt streets, no traffic lights.</a:t>
            </a:r>
            <a:endParaRPr lang="en-US" sz="1200" dirty="0"/>
          </a:p>
        </p:txBody>
      </p:sp>
      <p:sp>
        <p:nvSpPr>
          <p:cNvPr id="27" name="Shape 22"/>
          <p:cNvSpPr/>
          <p:nvPr/>
        </p:nvSpPr>
        <p:spPr>
          <a:xfrm>
            <a:off x="3495675" y="3988147"/>
            <a:ext cx="2520950" cy="1281311"/>
          </a:xfrm>
          <a:prstGeom prst="roundRect">
            <a:avLst>
              <a:gd name="adj" fmla="val 7682"/>
            </a:avLst>
          </a:prstGeom>
          <a:solidFill>
            <a:srgbClr val="FBFCFE"/>
          </a:solidFill>
          <a:ln w="6350">
            <a:solidFill>
              <a:srgbClr val="D9DBEE"/>
            </a:solidFill>
            <a:prstDash val="solid"/>
          </a:ln>
        </p:spPr>
        <p:txBody>
          <a:bodyPr/>
          <a:lstStyle/>
          <a:p>
            <a:endParaRPr lang="tr-TR"/>
          </a:p>
        </p:txBody>
      </p:sp>
      <p:sp>
        <p:nvSpPr>
          <p:cNvPr id="28" name="Text 23"/>
          <p:cNvSpPr/>
          <p:nvPr/>
        </p:nvSpPr>
        <p:spPr>
          <a:xfrm>
            <a:off x="3676650" y="4169122"/>
            <a:ext cx="222377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00084"/>
                </a:solidFill>
                <a:latin typeface="Public Sans" pitchFamily="34" charset="0"/>
                <a:ea typeface="Public Sans" pitchFamily="34" charset="-122"/>
                <a:cs typeface="Public Sans" pitchFamily="34" charset="-120"/>
              </a:rPr>
              <a:t>Shuttle or taxi</a:t>
            </a:r>
            <a:endParaRPr lang="en-US" sz="1500" dirty="0"/>
          </a:p>
        </p:txBody>
      </p:sp>
      <p:sp>
        <p:nvSpPr>
          <p:cNvPr id="29" name="Text 24"/>
          <p:cNvSpPr/>
          <p:nvPr/>
        </p:nvSpPr>
        <p:spPr>
          <a:xfrm>
            <a:off x="3676650" y="4448522"/>
            <a:ext cx="2223770"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75569"/>
                </a:solidFill>
                <a:latin typeface="Public Sans" pitchFamily="34" charset="0"/>
                <a:ea typeface="Public Sans" pitchFamily="34" charset="-122"/>
                <a:cs typeface="Public Sans" pitchFamily="34" charset="-120"/>
              </a:rPr>
              <a:t>No public bus. Tour vans or a taxi take us to the goldfields (13 km) and the airport.</a:t>
            </a:r>
            <a:endParaRPr lang="en-US" sz="1200" dirty="0"/>
          </a:p>
        </p:txBody>
      </p:sp>
      <p:sp>
        <p:nvSpPr>
          <p:cNvPr id="30" name="Shape 25"/>
          <p:cNvSpPr/>
          <p:nvPr/>
        </p:nvSpPr>
        <p:spPr>
          <a:xfrm>
            <a:off x="6175375" y="3988147"/>
            <a:ext cx="2520950" cy="1281311"/>
          </a:xfrm>
          <a:prstGeom prst="roundRect">
            <a:avLst>
              <a:gd name="adj" fmla="val 7682"/>
            </a:avLst>
          </a:prstGeom>
          <a:solidFill>
            <a:srgbClr val="FBFCFE"/>
          </a:solidFill>
          <a:ln w="6350">
            <a:solidFill>
              <a:srgbClr val="D9DBEE"/>
            </a:solidFill>
            <a:prstDash val="solid"/>
          </a:ln>
        </p:spPr>
        <p:txBody>
          <a:bodyPr/>
          <a:lstStyle/>
          <a:p>
            <a:endParaRPr lang="tr-TR"/>
          </a:p>
        </p:txBody>
      </p:sp>
      <p:sp>
        <p:nvSpPr>
          <p:cNvPr id="31" name="Text 26"/>
          <p:cNvSpPr/>
          <p:nvPr/>
        </p:nvSpPr>
        <p:spPr>
          <a:xfrm>
            <a:off x="6356350" y="4169122"/>
            <a:ext cx="222377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00084"/>
                </a:solidFill>
                <a:latin typeface="Public Sans" pitchFamily="34" charset="0"/>
                <a:ea typeface="Public Sans" pitchFamily="34" charset="-122"/>
                <a:cs typeface="Public Sans" pitchFamily="34" charset="-120"/>
              </a:rPr>
              <a:t>George Black ferry</a:t>
            </a:r>
            <a:endParaRPr lang="en-US" sz="1500" dirty="0"/>
          </a:p>
        </p:txBody>
      </p:sp>
      <p:sp>
        <p:nvSpPr>
          <p:cNvPr id="32" name="Text 27"/>
          <p:cNvSpPr/>
          <p:nvPr/>
        </p:nvSpPr>
        <p:spPr>
          <a:xfrm>
            <a:off x="6356350" y="4448522"/>
            <a:ext cx="2223770"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75569"/>
                </a:solidFill>
                <a:latin typeface="Public Sans" pitchFamily="34" charset="0"/>
                <a:ea typeface="Public Sans" pitchFamily="34" charset="-122"/>
                <a:cs typeface="Public Sans" pitchFamily="34" charset="-120"/>
              </a:rPr>
              <a:t>Free ferry across the Yukon River to West Dawson, running 24 hours a day in summer.</a:t>
            </a:r>
            <a:endParaRPr lang="en-US" sz="1200" dirty="0"/>
          </a:p>
        </p:txBody>
      </p:sp>
      <p:sp>
        <p:nvSpPr>
          <p:cNvPr id="33" name="Shape 28"/>
          <p:cNvSpPr/>
          <p:nvPr/>
        </p:nvSpPr>
        <p:spPr>
          <a:xfrm>
            <a:off x="8855075" y="3988147"/>
            <a:ext cx="2520950" cy="1281311"/>
          </a:xfrm>
          <a:prstGeom prst="roundRect">
            <a:avLst>
              <a:gd name="adj" fmla="val 7682"/>
            </a:avLst>
          </a:prstGeom>
          <a:solidFill>
            <a:srgbClr val="FBFCFE"/>
          </a:solidFill>
          <a:ln w="6350">
            <a:solidFill>
              <a:srgbClr val="D9DBEE"/>
            </a:solidFill>
            <a:prstDash val="solid"/>
          </a:ln>
        </p:spPr>
        <p:txBody>
          <a:bodyPr/>
          <a:lstStyle/>
          <a:p>
            <a:endParaRPr lang="tr-TR"/>
          </a:p>
        </p:txBody>
      </p:sp>
      <p:sp>
        <p:nvSpPr>
          <p:cNvPr id="34" name="Text 29"/>
          <p:cNvSpPr/>
          <p:nvPr/>
        </p:nvSpPr>
        <p:spPr>
          <a:xfrm>
            <a:off x="9036050" y="4169122"/>
            <a:ext cx="222377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00084"/>
                </a:solidFill>
                <a:latin typeface="Public Sans" pitchFamily="34" charset="0"/>
                <a:ea typeface="Public Sans" pitchFamily="34" charset="-122"/>
                <a:cs typeface="Public Sans" pitchFamily="34" charset="-120"/>
              </a:rPr>
              <a:t>Bicycle</a:t>
            </a:r>
            <a:endParaRPr lang="en-US" sz="1500" dirty="0"/>
          </a:p>
        </p:txBody>
      </p:sp>
      <p:sp>
        <p:nvSpPr>
          <p:cNvPr id="35" name="Text 30"/>
          <p:cNvSpPr/>
          <p:nvPr/>
        </p:nvSpPr>
        <p:spPr>
          <a:xfrm>
            <a:off x="9036050" y="4448522"/>
            <a:ext cx="2223770"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75569"/>
                </a:solidFill>
                <a:latin typeface="Public Sans" pitchFamily="34" charset="0"/>
                <a:ea typeface="Public Sans" pitchFamily="34" charset="-122"/>
                <a:cs typeface="Public Sans" pitchFamily="34" charset="-120"/>
              </a:rPr>
              <a:t>Rent a bike in town for the Dome Road and the riverside trails on a sunny day.</a:t>
            </a:r>
            <a:endParaRPr lang="en-US" sz="1200" dirty="0"/>
          </a:p>
        </p:txBody>
      </p:sp>
      <p:sp>
        <p:nvSpPr>
          <p:cNvPr id="36" name="Text 31"/>
          <p:cNvSpPr/>
          <p:nvPr/>
        </p:nvSpPr>
        <p:spPr>
          <a:xfrm>
            <a:off x="812800" y="6238280"/>
            <a:ext cx="470701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B7A"/>
                </a:solidFill>
                <a:latin typeface="Public Sans" pitchFamily="34" charset="0"/>
                <a:ea typeface="Public Sans" pitchFamily="34" charset="-122"/>
                <a:cs typeface="Public Sans" pitchFamily="34" charset="-120"/>
              </a:rPr>
              <a:t>The Klondike Gold Rush · Pertevniyal High School 159/E</a:t>
            </a:r>
            <a:endParaRPr lang="en-US" sz="1200" dirty="0"/>
          </a:p>
        </p:txBody>
      </p:sp>
      <p:sp>
        <p:nvSpPr>
          <p:cNvPr id="37" name="Text 32"/>
          <p:cNvSpPr/>
          <p:nvPr/>
        </p:nvSpPr>
        <p:spPr>
          <a:xfrm>
            <a:off x="10820400" y="6238280"/>
            <a:ext cx="558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F6B7A"/>
                </a:solidFill>
                <a:latin typeface="Public Sans" pitchFamily="34" charset="0"/>
                <a:ea typeface="Public Sans" pitchFamily="34" charset="-122"/>
                <a:cs typeface="Public Sans" pitchFamily="34" charset="-120"/>
              </a:rPr>
              <a:t>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3F4F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A2FB0"/>
                </a:solidFill>
                <a:latin typeface="Public Sans" pitchFamily="34" charset="0"/>
                <a:ea typeface="Public Sans" pitchFamily="34" charset="-122"/>
                <a:cs typeface="Public Sans" pitchFamily="34" charset="-120"/>
              </a:rPr>
              <a:t>PRACTICAL INFORMATION · ACCOMMODATION</a:t>
            </a:r>
            <a:endParaRPr lang="en-US" sz="1200" dirty="0"/>
          </a:p>
        </p:txBody>
      </p:sp>
      <p:sp>
        <p:nvSpPr>
          <p:cNvPr id="3" name="Text 1"/>
          <p:cNvSpPr>
            <a:spLocks noGrp="1"/>
          </p:cNvSpPr>
          <p:nvPr>
            <p:ph type="title"/>
          </p:nvPr>
        </p:nvSpPr>
        <p:spPr>
          <a:xfrm>
            <a:off x="812800" y="1102320"/>
            <a:ext cx="10883392" cy="505420"/>
          </a:xfrm>
          <a:prstGeom prst="rect">
            <a:avLst/>
          </a:prstGeom>
          <a:noFill/>
          <a:ln/>
        </p:spPr>
        <p:txBody>
          <a:bodyPr wrap="square" lIns="0" tIns="0" rIns="0" bIns="0" rtlCol="0" anchor="t">
            <a:normAutofit/>
          </a:bodyPr>
          <a:lstStyle/>
          <a:p>
            <a:pPr marL="0" indent="0" algn="l">
              <a:lnSpc>
                <a:spcPts val="3780"/>
              </a:lnSpc>
              <a:buNone/>
            </a:pPr>
            <a:r>
              <a:rPr lang="en-US" sz="3600" b="0" i="0" dirty="0">
                <a:solidFill>
                  <a:srgbClr val="000084"/>
                </a:solidFill>
                <a:latin typeface="Oswald" pitchFamily="34" charset="0"/>
                <a:ea typeface="Oswald" pitchFamily="34" charset="-122"/>
                <a:cs typeface="Oswald" pitchFamily="34" charset="-120"/>
              </a:rPr>
              <a:t>Where to Stay in Dawson City</a:t>
            </a:r>
            <a:endParaRPr lang="en-US" sz="3600" dirty="0"/>
          </a:p>
        </p:txBody>
      </p:sp>
      <p:sp>
        <p:nvSpPr>
          <p:cNvPr id="4" name="Shape 2"/>
          <p:cNvSpPr/>
          <p:nvPr/>
        </p:nvSpPr>
        <p:spPr>
          <a:xfrm>
            <a:off x="812800" y="1927969"/>
            <a:ext cx="3378200" cy="2788692"/>
          </a:xfrm>
          <a:prstGeom prst="roundRect">
            <a:avLst>
              <a:gd name="adj" fmla="val 3643"/>
            </a:avLst>
          </a:prstGeom>
          <a:solidFill>
            <a:srgbClr val="000084"/>
          </a:solidFill>
          <a:ln/>
        </p:spPr>
        <p:txBody>
          <a:bodyPr/>
          <a:lstStyle/>
          <a:p>
            <a:endParaRPr lang="tr-TR"/>
          </a:p>
        </p:txBody>
      </p:sp>
      <p:sp>
        <p:nvSpPr>
          <p:cNvPr id="5" name="Text 3"/>
          <p:cNvSpPr/>
          <p:nvPr/>
        </p:nvSpPr>
        <p:spPr>
          <a:xfrm>
            <a:off x="1016000" y="2131169"/>
            <a:ext cx="3060954"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E2B050"/>
                </a:solidFill>
                <a:latin typeface="Public Sans" pitchFamily="34" charset="0"/>
                <a:ea typeface="Public Sans" pitchFamily="34" charset="-122"/>
                <a:cs typeface="Public Sans" pitchFamily="34" charset="-120"/>
              </a:rPr>
              <a:t>OUR CHOICE · BUDGET</a:t>
            </a:r>
            <a:endParaRPr lang="en-US" sz="1200" dirty="0"/>
          </a:p>
        </p:txBody>
      </p:sp>
      <p:sp>
        <p:nvSpPr>
          <p:cNvPr id="6" name="Text 4"/>
          <p:cNvSpPr/>
          <p:nvPr/>
        </p:nvSpPr>
        <p:spPr>
          <a:xfrm>
            <a:off x="1016000" y="2433389"/>
            <a:ext cx="3060954"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4F7FB"/>
                </a:solidFill>
                <a:latin typeface="Public Sans" pitchFamily="34" charset="0"/>
                <a:ea typeface="Public Sans" pitchFamily="34" charset="-122"/>
                <a:cs typeface="Public Sans" pitchFamily="34" charset="-120"/>
              </a:rPr>
              <a:t>The Bunkhouse</a:t>
            </a:r>
            <a:endParaRPr lang="en-US" sz="1800" dirty="0"/>
          </a:p>
        </p:txBody>
      </p:sp>
      <p:sp>
        <p:nvSpPr>
          <p:cNvPr id="7" name="Text 5"/>
          <p:cNvSpPr/>
          <p:nvPr/>
        </p:nvSpPr>
        <p:spPr>
          <a:xfrm>
            <a:off x="1016000" y="2796580"/>
            <a:ext cx="3060954" cy="381000"/>
          </a:xfrm>
          <a:prstGeom prst="rect">
            <a:avLst/>
          </a:prstGeom>
          <a:noFill/>
          <a:ln/>
        </p:spPr>
        <p:txBody>
          <a:bodyPr wrap="square" lIns="0" tIns="0" rIns="0" bIns="0" rtlCol="0" anchor="t">
            <a:normAutofit/>
          </a:bodyPr>
          <a:lstStyle/>
          <a:p>
            <a:pPr marL="0" indent="0" algn="l">
              <a:lnSpc>
                <a:spcPts val="2800"/>
              </a:lnSpc>
              <a:buNone/>
            </a:pPr>
            <a:r>
              <a:rPr lang="en-US" sz="2800" b="1" dirty="0">
                <a:solidFill>
                  <a:srgbClr val="E2B050"/>
                </a:solidFill>
                <a:latin typeface="Oswald" pitchFamily="34" charset="0"/>
                <a:ea typeface="Oswald" pitchFamily="34" charset="-122"/>
                <a:cs typeface="Oswald" pitchFamily="34" charset="-120"/>
              </a:rPr>
              <a:t>from CA$130</a:t>
            </a:r>
            <a:endParaRPr lang="en-US" sz="2800" dirty="0"/>
          </a:p>
        </p:txBody>
      </p:sp>
      <p:sp>
        <p:nvSpPr>
          <p:cNvPr id="8" name="Text 6"/>
          <p:cNvSpPr/>
          <p:nvPr/>
        </p:nvSpPr>
        <p:spPr>
          <a:xfrm>
            <a:off x="1016000" y="3241080"/>
            <a:ext cx="306095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7D4E8"/>
                </a:solidFill>
                <a:latin typeface="Public Sans" pitchFamily="34" charset="0"/>
                <a:ea typeface="Public Sans" pitchFamily="34" charset="-122"/>
                <a:cs typeface="Public Sans" pitchFamily="34" charset="-120"/>
              </a:rPr>
              <a:t>per room per night, about US$95</a:t>
            </a:r>
            <a:endParaRPr lang="en-US" sz="1200" dirty="0"/>
          </a:p>
        </p:txBody>
      </p:sp>
      <p:sp>
        <p:nvSpPr>
          <p:cNvPr id="9" name="Text 7"/>
          <p:cNvSpPr/>
          <p:nvPr/>
        </p:nvSpPr>
        <p:spPr>
          <a:xfrm>
            <a:off x="1016000" y="3543300"/>
            <a:ext cx="3060954" cy="982861"/>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F4F7FB"/>
                </a:solidFill>
                <a:latin typeface="Public Sans" pitchFamily="34" charset="0"/>
                <a:ea typeface="Public Sans" pitchFamily="34" charset="-122"/>
                <a:cs typeface="Public Sans" pitchFamily="34" charset="-120"/>
              </a:rPr>
              <a:t>Hostel-style rooms with shared bathrooms, two minutes from Front Street. A family room for three keeps the price per person low.</a:t>
            </a:r>
            <a:endParaRPr lang="en-US" sz="1300" dirty="0"/>
          </a:p>
        </p:txBody>
      </p:sp>
      <p:sp>
        <p:nvSpPr>
          <p:cNvPr id="10" name="Shape 8"/>
          <p:cNvSpPr/>
          <p:nvPr/>
        </p:nvSpPr>
        <p:spPr>
          <a:xfrm>
            <a:off x="4397375" y="1931144"/>
            <a:ext cx="3384550" cy="2782342"/>
          </a:xfrm>
          <a:prstGeom prst="roundRect">
            <a:avLst>
              <a:gd name="adj" fmla="val 3537"/>
            </a:avLst>
          </a:prstGeom>
          <a:solidFill>
            <a:srgbClr val="FBFCFE"/>
          </a:solidFill>
          <a:ln w="6350">
            <a:solidFill>
              <a:srgbClr val="D9DBEE"/>
            </a:solidFill>
            <a:prstDash val="solid"/>
          </a:ln>
        </p:spPr>
        <p:txBody>
          <a:bodyPr/>
          <a:lstStyle/>
          <a:p>
            <a:endParaRPr lang="tr-TR"/>
          </a:p>
        </p:txBody>
      </p:sp>
      <p:sp>
        <p:nvSpPr>
          <p:cNvPr id="11" name="Text 9"/>
          <p:cNvSpPr/>
          <p:nvPr/>
        </p:nvSpPr>
        <p:spPr>
          <a:xfrm>
            <a:off x="4603750" y="2137519"/>
            <a:ext cx="3060954"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A2FB0"/>
                </a:solidFill>
                <a:latin typeface="Public Sans" pitchFamily="34" charset="0"/>
                <a:ea typeface="Public Sans" pitchFamily="34" charset="-122"/>
                <a:cs typeface="Public Sans" pitchFamily="34" charset="-120"/>
              </a:rPr>
              <a:t>CHEAPEST · OUTDOORS</a:t>
            </a:r>
            <a:endParaRPr lang="en-US" sz="1200" dirty="0"/>
          </a:p>
        </p:txBody>
      </p:sp>
      <p:sp>
        <p:nvSpPr>
          <p:cNvPr id="12" name="Text 10"/>
          <p:cNvSpPr/>
          <p:nvPr/>
        </p:nvSpPr>
        <p:spPr>
          <a:xfrm>
            <a:off x="4603750" y="2439739"/>
            <a:ext cx="3060954"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00084"/>
                </a:solidFill>
                <a:latin typeface="Public Sans" pitchFamily="34" charset="0"/>
                <a:ea typeface="Public Sans" pitchFamily="34" charset="-122"/>
                <a:cs typeface="Public Sans" pitchFamily="34" charset="-120"/>
              </a:rPr>
              <a:t>Campgrounds</a:t>
            </a:r>
            <a:endParaRPr lang="en-US" sz="1800" dirty="0"/>
          </a:p>
        </p:txBody>
      </p:sp>
      <p:sp>
        <p:nvSpPr>
          <p:cNvPr id="13" name="Text 11"/>
          <p:cNvSpPr/>
          <p:nvPr/>
        </p:nvSpPr>
        <p:spPr>
          <a:xfrm>
            <a:off x="4603750" y="2802930"/>
            <a:ext cx="3060954" cy="381000"/>
          </a:xfrm>
          <a:prstGeom prst="rect">
            <a:avLst/>
          </a:prstGeom>
          <a:noFill/>
          <a:ln/>
        </p:spPr>
        <p:txBody>
          <a:bodyPr wrap="square" lIns="0" tIns="0" rIns="0" bIns="0" rtlCol="0" anchor="t">
            <a:normAutofit/>
          </a:bodyPr>
          <a:lstStyle/>
          <a:p>
            <a:pPr marL="0" indent="0" algn="l">
              <a:lnSpc>
                <a:spcPts val="2800"/>
              </a:lnSpc>
              <a:buNone/>
            </a:pPr>
            <a:r>
              <a:rPr lang="en-US" sz="2800" b="1" dirty="0">
                <a:solidFill>
                  <a:srgbClr val="2A2FB0"/>
                </a:solidFill>
                <a:latin typeface="Oswald" pitchFamily="34" charset="0"/>
                <a:ea typeface="Oswald" pitchFamily="34" charset="-122"/>
                <a:cs typeface="Oswald" pitchFamily="34" charset="-120"/>
              </a:rPr>
              <a:t>CA$20</a:t>
            </a:r>
            <a:endParaRPr lang="en-US" sz="2800" dirty="0"/>
          </a:p>
        </p:txBody>
      </p:sp>
      <p:sp>
        <p:nvSpPr>
          <p:cNvPr id="14" name="Text 12"/>
          <p:cNvSpPr/>
          <p:nvPr/>
        </p:nvSpPr>
        <p:spPr>
          <a:xfrm>
            <a:off x="4603750" y="3247430"/>
            <a:ext cx="306095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B7A"/>
                </a:solidFill>
                <a:latin typeface="Public Sans" pitchFamily="34" charset="0"/>
                <a:ea typeface="Public Sans" pitchFamily="34" charset="-122"/>
                <a:cs typeface="Public Sans" pitchFamily="34" charset="-120"/>
              </a:rPr>
              <a:t>per tent site per night</a:t>
            </a:r>
            <a:endParaRPr lang="en-US" sz="1200" dirty="0"/>
          </a:p>
        </p:txBody>
      </p:sp>
      <p:sp>
        <p:nvSpPr>
          <p:cNvPr id="15" name="Text 13"/>
          <p:cNvSpPr/>
          <p:nvPr/>
        </p:nvSpPr>
        <p:spPr>
          <a:xfrm>
            <a:off x="4603750" y="3549650"/>
            <a:ext cx="3060954" cy="982861"/>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475569"/>
                </a:solidFill>
                <a:latin typeface="Public Sans" pitchFamily="34" charset="0"/>
                <a:ea typeface="Public Sans" pitchFamily="34" charset="-122"/>
                <a:cs typeface="Public Sans" pitchFamily="34" charset="-120"/>
              </a:rPr>
              <a:t>Yukon River Campground across the free ferry, or Gold Rush Campground in town. Bring a tent and warm sleeping bags for 5 °C nights.</a:t>
            </a:r>
            <a:endParaRPr lang="en-US" sz="1300" dirty="0"/>
          </a:p>
        </p:txBody>
      </p:sp>
      <p:sp>
        <p:nvSpPr>
          <p:cNvPr id="16" name="Shape 14"/>
          <p:cNvSpPr/>
          <p:nvPr/>
        </p:nvSpPr>
        <p:spPr>
          <a:xfrm>
            <a:off x="7991475" y="1931144"/>
            <a:ext cx="3384550" cy="2782342"/>
          </a:xfrm>
          <a:prstGeom prst="roundRect">
            <a:avLst>
              <a:gd name="adj" fmla="val 3537"/>
            </a:avLst>
          </a:prstGeom>
          <a:solidFill>
            <a:srgbClr val="FBFCFE"/>
          </a:solidFill>
          <a:ln w="6350">
            <a:solidFill>
              <a:srgbClr val="D9DBEE"/>
            </a:solidFill>
            <a:prstDash val="solid"/>
          </a:ln>
        </p:spPr>
        <p:txBody>
          <a:bodyPr/>
          <a:lstStyle/>
          <a:p>
            <a:endParaRPr lang="tr-TR"/>
          </a:p>
        </p:txBody>
      </p:sp>
      <p:sp>
        <p:nvSpPr>
          <p:cNvPr id="17" name="Text 15"/>
          <p:cNvSpPr/>
          <p:nvPr/>
        </p:nvSpPr>
        <p:spPr>
          <a:xfrm>
            <a:off x="8197850" y="2137519"/>
            <a:ext cx="3060954"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A2FB0"/>
                </a:solidFill>
                <a:latin typeface="Public Sans" pitchFamily="34" charset="0"/>
                <a:ea typeface="Public Sans" pitchFamily="34" charset="-122"/>
                <a:cs typeface="Public Sans" pitchFamily="34" charset="-120"/>
              </a:rPr>
              <a:t>COMFORT · HISTORIC</a:t>
            </a:r>
            <a:endParaRPr lang="en-US" sz="1200" dirty="0"/>
          </a:p>
        </p:txBody>
      </p:sp>
      <p:sp>
        <p:nvSpPr>
          <p:cNvPr id="18" name="Text 16"/>
          <p:cNvSpPr/>
          <p:nvPr/>
        </p:nvSpPr>
        <p:spPr>
          <a:xfrm>
            <a:off x="8197850" y="2439739"/>
            <a:ext cx="3060954"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00084"/>
                </a:solidFill>
                <a:latin typeface="Public Sans" pitchFamily="34" charset="0"/>
                <a:ea typeface="Public Sans" pitchFamily="34" charset="-122"/>
                <a:cs typeface="Public Sans" pitchFamily="34" charset="-120"/>
              </a:rPr>
              <a:t>Hotels</a:t>
            </a:r>
            <a:endParaRPr lang="en-US" sz="1800" dirty="0"/>
          </a:p>
        </p:txBody>
      </p:sp>
      <p:sp>
        <p:nvSpPr>
          <p:cNvPr id="19" name="Text 17"/>
          <p:cNvSpPr/>
          <p:nvPr/>
        </p:nvSpPr>
        <p:spPr>
          <a:xfrm>
            <a:off x="8197850" y="2802930"/>
            <a:ext cx="3060954" cy="381000"/>
          </a:xfrm>
          <a:prstGeom prst="rect">
            <a:avLst/>
          </a:prstGeom>
          <a:noFill/>
          <a:ln/>
        </p:spPr>
        <p:txBody>
          <a:bodyPr wrap="square" lIns="0" tIns="0" rIns="0" bIns="0" rtlCol="0" anchor="t">
            <a:normAutofit/>
          </a:bodyPr>
          <a:lstStyle/>
          <a:p>
            <a:pPr marL="0" indent="0" algn="l">
              <a:lnSpc>
                <a:spcPts val="2800"/>
              </a:lnSpc>
              <a:buNone/>
            </a:pPr>
            <a:r>
              <a:rPr lang="en-US" sz="2800" b="1" dirty="0">
                <a:solidFill>
                  <a:srgbClr val="2A2FB0"/>
                </a:solidFill>
                <a:latin typeface="Oswald" pitchFamily="34" charset="0"/>
                <a:ea typeface="Oswald" pitchFamily="34" charset="-122"/>
                <a:cs typeface="Oswald" pitchFamily="34" charset="-120"/>
              </a:rPr>
              <a:t>CA$180–280</a:t>
            </a:r>
            <a:endParaRPr lang="en-US" sz="2800" dirty="0"/>
          </a:p>
        </p:txBody>
      </p:sp>
      <p:sp>
        <p:nvSpPr>
          <p:cNvPr id="20" name="Text 18"/>
          <p:cNvSpPr/>
          <p:nvPr/>
        </p:nvSpPr>
        <p:spPr>
          <a:xfrm>
            <a:off x="8197850" y="3247430"/>
            <a:ext cx="306095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B7A"/>
                </a:solidFill>
                <a:latin typeface="Public Sans" pitchFamily="34" charset="0"/>
                <a:ea typeface="Public Sans" pitchFamily="34" charset="-122"/>
                <a:cs typeface="Public Sans" pitchFamily="34" charset="-120"/>
              </a:rPr>
              <a:t>per room per night</a:t>
            </a:r>
            <a:endParaRPr lang="en-US" sz="1200" dirty="0"/>
          </a:p>
        </p:txBody>
      </p:sp>
      <p:sp>
        <p:nvSpPr>
          <p:cNvPr id="21" name="Text 19"/>
          <p:cNvSpPr/>
          <p:nvPr/>
        </p:nvSpPr>
        <p:spPr>
          <a:xfrm>
            <a:off x="8197850" y="3549650"/>
            <a:ext cx="3060954" cy="982861"/>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475569"/>
                </a:solidFill>
                <a:latin typeface="Public Sans" pitchFamily="34" charset="0"/>
                <a:ea typeface="Public Sans" pitchFamily="34" charset="-122"/>
                <a:cs typeface="Public Sans" pitchFamily="34" charset="-120"/>
              </a:rPr>
              <a:t>The Downtown Hotel, the Eldorado or the Triple J: gold-rush style buildings with private bathrooms. Too expensive for five nights.</a:t>
            </a:r>
            <a:endParaRPr lang="en-US" sz="1300" dirty="0"/>
          </a:p>
        </p:txBody>
      </p:sp>
      <p:sp>
        <p:nvSpPr>
          <p:cNvPr id="22" name="Shape 20"/>
          <p:cNvSpPr/>
          <p:nvPr/>
        </p:nvSpPr>
        <p:spPr>
          <a:xfrm>
            <a:off x="815975" y="5065415"/>
            <a:ext cx="10560050" cy="773410"/>
          </a:xfrm>
          <a:prstGeom prst="roundRect">
            <a:avLst>
              <a:gd name="adj" fmla="val 12726"/>
            </a:avLst>
          </a:prstGeom>
          <a:solidFill>
            <a:srgbClr val="FBFCFE"/>
          </a:solidFill>
          <a:ln w="6350">
            <a:solidFill>
              <a:srgbClr val="D9DBEE"/>
            </a:solidFill>
            <a:prstDash val="solid"/>
          </a:ln>
        </p:spPr>
        <p:txBody>
          <a:bodyPr/>
          <a:lstStyle/>
          <a:p>
            <a:endParaRPr lang="tr-TR"/>
          </a:p>
        </p:txBody>
      </p:sp>
      <p:pic>
        <p:nvPicPr>
          <p:cNvPr id="23" name="Image 0" descr="Warning"/>
          <p:cNvPicPr>
            <a:picLocks noChangeAspect="1"/>
          </p:cNvPicPr>
          <p:nvPr/>
        </p:nvPicPr>
        <p:blipFill>
          <a:blip r:embed="rId3"/>
          <a:srcRect t="-440" b="-440"/>
          <a:stretch/>
        </p:blipFill>
        <p:spPr>
          <a:xfrm>
            <a:off x="1073150" y="5325120"/>
            <a:ext cx="214015" cy="254000"/>
          </a:xfrm>
          <a:prstGeom prst="rect">
            <a:avLst/>
          </a:prstGeom>
        </p:spPr>
      </p:pic>
      <p:sp>
        <p:nvSpPr>
          <p:cNvPr id="24" name="Text 21"/>
          <p:cNvSpPr/>
          <p:nvPr/>
        </p:nvSpPr>
        <p:spPr>
          <a:xfrm>
            <a:off x="1464965" y="5220990"/>
            <a:ext cx="9943502" cy="48766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B2432"/>
                </a:solidFill>
                <a:latin typeface="Public Sans" pitchFamily="34" charset="0"/>
                <a:ea typeface="Public Sans" pitchFamily="34" charset="-122"/>
                <a:cs typeface="Public Sans" pitchFamily="34" charset="-120"/>
              </a:rPr>
              <a:t>Book early!</a:t>
            </a:r>
            <a:r>
              <a:rPr lang="en-US" sz="1300" dirty="0">
                <a:solidFill>
                  <a:srgbClr val="1B2432"/>
                </a:solidFill>
                <a:latin typeface="Public Sans" pitchFamily="34" charset="0"/>
                <a:ea typeface="Public Sans" pitchFamily="34" charset="-122"/>
                <a:cs typeface="Public Sans" pitchFamily="34" charset="-120"/>
              </a:rPr>
              <a:t> Dawson City has only about 8 hotels, and Discovery Days weekend sells out weeks in advance. We book in March, 5 months before the trip.</a:t>
            </a:r>
            <a:endParaRPr lang="en-US" sz="1300" dirty="0"/>
          </a:p>
        </p:txBody>
      </p:sp>
      <p:sp>
        <p:nvSpPr>
          <p:cNvPr id="25" name="Text 22"/>
          <p:cNvSpPr/>
          <p:nvPr/>
        </p:nvSpPr>
        <p:spPr>
          <a:xfrm>
            <a:off x="812800" y="6238280"/>
            <a:ext cx="768215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B7A"/>
                </a:solidFill>
                <a:latin typeface="Public Sans" pitchFamily="34" charset="0"/>
                <a:ea typeface="Public Sans" pitchFamily="34" charset="-122"/>
                <a:cs typeface="Public Sans" pitchFamily="34" charset="-120"/>
              </a:rPr>
              <a:t>Prices: Booking.com, Kayak and Yukon Parks, autumn 2026 · Pertevniyal High School 159/E</a:t>
            </a:r>
            <a:endParaRPr lang="en-US" sz="1200" dirty="0"/>
          </a:p>
        </p:txBody>
      </p:sp>
      <p:sp>
        <p:nvSpPr>
          <p:cNvPr id="26" name="Text 23"/>
          <p:cNvSpPr/>
          <p:nvPr/>
        </p:nvSpPr>
        <p:spPr>
          <a:xfrm>
            <a:off x="10820400" y="6238280"/>
            <a:ext cx="558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F6B7A"/>
                </a:solidFill>
                <a:latin typeface="Public Sans" pitchFamily="34" charset="0"/>
                <a:ea typeface="Public Sans" pitchFamily="34" charset="-122"/>
                <a:cs typeface="Public Sans" pitchFamily="34" charset="-120"/>
              </a:rPr>
              <a:t>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3F4F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A2FB0"/>
                </a:solidFill>
                <a:latin typeface="Public Sans" pitchFamily="34" charset="0"/>
                <a:ea typeface="Public Sans" pitchFamily="34" charset="-122"/>
                <a:cs typeface="Public Sans" pitchFamily="34" charset="-120"/>
              </a:rPr>
              <a:t>PRACTICAL INFORMATION · PACKING LIST</a:t>
            </a:r>
            <a:endParaRPr lang="en-US" sz="1200" dirty="0"/>
          </a:p>
        </p:txBody>
      </p:sp>
      <p:sp>
        <p:nvSpPr>
          <p:cNvPr id="3" name="Text 1"/>
          <p:cNvSpPr>
            <a:spLocks noGrp="1"/>
          </p:cNvSpPr>
          <p:nvPr>
            <p:ph type="title"/>
          </p:nvPr>
        </p:nvSpPr>
        <p:spPr>
          <a:xfrm>
            <a:off x="812800" y="1102320"/>
            <a:ext cx="10883392" cy="505420"/>
          </a:xfrm>
          <a:prstGeom prst="rect">
            <a:avLst/>
          </a:prstGeom>
          <a:noFill/>
          <a:ln/>
        </p:spPr>
        <p:txBody>
          <a:bodyPr wrap="square" lIns="0" tIns="0" rIns="0" bIns="0" rtlCol="0" anchor="t">
            <a:normAutofit/>
          </a:bodyPr>
          <a:lstStyle/>
          <a:p>
            <a:pPr marL="0" indent="0" algn="l">
              <a:lnSpc>
                <a:spcPts val="3780"/>
              </a:lnSpc>
              <a:buNone/>
            </a:pPr>
            <a:r>
              <a:rPr lang="en-US" sz="3600" b="0" i="0" dirty="0">
                <a:solidFill>
                  <a:srgbClr val="000084"/>
                </a:solidFill>
                <a:latin typeface="Oswald" pitchFamily="34" charset="0"/>
                <a:ea typeface="Oswald" pitchFamily="34" charset="-122"/>
                <a:cs typeface="Oswald" pitchFamily="34" charset="-120"/>
              </a:rPr>
              <a:t>What Goes in the Backpack</a:t>
            </a:r>
            <a:endParaRPr lang="en-US" sz="3600" dirty="0"/>
          </a:p>
        </p:txBody>
      </p:sp>
      <p:sp>
        <p:nvSpPr>
          <p:cNvPr id="4" name="Shape 2"/>
          <p:cNvSpPr/>
          <p:nvPr/>
        </p:nvSpPr>
        <p:spPr>
          <a:xfrm>
            <a:off x="815975" y="1839516"/>
            <a:ext cx="3414167" cy="1258491"/>
          </a:xfrm>
          <a:prstGeom prst="roundRect">
            <a:avLst>
              <a:gd name="adj" fmla="val 7821"/>
            </a:avLst>
          </a:prstGeom>
          <a:solidFill>
            <a:srgbClr val="FBFCFE"/>
          </a:solidFill>
          <a:ln w="6350">
            <a:solidFill>
              <a:srgbClr val="D9DBEE"/>
            </a:solidFill>
            <a:prstDash val="solid"/>
          </a:ln>
        </p:spPr>
        <p:txBody>
          <a:bodyPr/>
          <a:lstStyle/>
          <a:p>
            <a:endParaRPr lang="tr-TR"/>
          </a:p>
        </p:txBody>
      </p:sp>
      <p:pic>
        <p:nvPicPr>
          <p:cNvPr id="5" name="Image 0" descr="Check"/>
          <p:cNvPicPr>
            <a:picLocks noChangeAspect="1"/>
          </p:cNvPicPr>
          <p:nvPr/>
        </p:nvPicPr>
        <p:blipFill>
          <a:blip r:embed="rId3"/>
          <a:srcRect/>
          <a:stretch/>
        </p:blipFill>
        <p:spPr>
          <a:xfrm>
            <a:off x="996950" y="2007791"/>
            <a:ext cx="203200" cy="203200"/>
          </a:xfrm>
          <a:prstGeom prst="rect">
            <a:avLst/>
          </a:prstGeom>
        </p:spPr>
      </p:pic>
      <p:sp>
        <p:nvSpPr>
          <p:cNvPr id="6" name="Text 3"/>
          <p:cNvSpPr/>
          <p:nvPr/>
        </p:nvSpPr>
        <p:spPr>
          <a:xfrm>
            <a:off x="1314450" y="2007791"/>
            <a:ext cx="2816758"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00084"/>
                </a:solidFill>
                <a:latin typeface="Public Sans" pitchFamily="34" charset="0"/>
                <a:ea typeface="Public Sans" pitchFamily="34" charset="-122"/>
                <a:cs typeface="Public Sans" pitchFamily="34" charset="-120"/>
              </a:rPr>
              <a:t>Waterproof rain jacket</a:t>
            </a:r>
            <a:endParaRPr lang="en-US" sz="1500" dirty="0"/>
          </a:p>
        </p:txBody>
      </p:sp>
      <p:sp>
        <p:nvSpPr>
          <p:cNvPr id="7" name="Text 4"/>
          <p:cNvSpPr/>
          <p:nvPr/>
        </p:nvSpPr>
        <p:spPr>
          <a:xfrm>
            <a:off x="1314450" y="2274491"/>
            <a:ext cx="281675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75569"/>
                </a:solidFill>
                <a:latin typeface="Public Sans" pitchFamily="34" charset="0"/>
                <a:ea typeface="Public Sans" pitchFamily="34" charset="-122"/>
                <a:cs typeface="Public Sans" pitchFamily="34" charset="-120"/>
              </a:rPr>
              <a:t>Rain on about 13 days in August</a:t>
            </a:r>
            <a:endParaRPr lang="en-US" sz="1200" dirty="0"/>
          </a:p>
        </p:txBody>
      </p:sp>
      <p:sp>
        <p:nvSpPr>
          <p:cNvPr id="8" name="Shape 5"/>
          <p:cNvSpPr/>
          <p:nvPr/>
        </p:nvSpPr>
        <p:spPr>
          <a:xfrm>
            <a:off x="4388892" y="1839516"/>
            <a:ext cx="3414167" cy="1258491"/>
          </a:xfrm>
          <a:prstGeom prst="roundRect">
            <a:avLst>
              <a:gd name="adj" fmla="val 7821"/>
            </a:avLst>
          </a:prstGeom>
          <a:solidFill>
            <a:srgbClr val="FBFCFE"/>
          </a:solidFill>
          <a:ln w="6350">
            <a:solidFill>
              <a:srgbClr val="D9DBEE"/>
            </a:solidFill>
            <a:prstDash val="solid"/>
          </a:ln>
        </p:spPr>
        <p:txBody>
          <a:bodyPr/>
          <a:lstStyle/>
          <a:p>
            <a:endParaRPr lang="tr-TR"/>
          </a:p>
        </p:txBody>
      </p:sp>
      <p:pic>
        <p:nvPicPr>
          <p:cNvPr id="9" name="Image 1" descr="Check"/>
          <p:cNvPicPr>
            <a:picLocks noChangeAspect="1"/>
          </p:cNvPicPr>
          <p:nvPr/>
        </p:nvPicPr>
        <p:blipFill>
          <a:blip r:embed="rId3"/>
          <a:srcRect/>
          <a:stretch/>
        </p:blipFill>
        <p:spPr>
          <a:xfrm>
            <a:off x="4569867" y="2007791"/>
            <a:ext cx="203200" cy="203200"/>
          </a:xfrm>
          <a:prstGeom prst="rect">
            <a:avLst/>
          </a:prstGeom>
        </p:spPr>
      </p:pic>
      <p:sp>
        <p:nvSpPr>
          <p:cNvPr id="10" name="Text 6"/>
          <p:cNvSpPr/>
          <p:nvPr/>
        </p:nvSpPr>
        <p:spPr>
          <a:xfrm>
            <a:off x="4887367" y="2007791"/>
            <a:ext cx="2816758" cy="4826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00084"/>
                </a:solidFill>
                <a:latin typeface="Public Sans" pitchFamily="34" charset="0"/>
                <a:ea typeface="Public Sans" pitchFamily="34" charset="-122"/>
                <a:cs typeface="Public Sans" pitchFamily="34" charset="-120"/>
              </a:rPr>
              <a:t>Warm layers: fleece, hat, gloves</a:t>
            </a:r>
            <a:endParaRPr lang="en-US" sz="1500" dirty="0"/>
          </a:p>
        </p:txBody>
      </p:sp>
      <p:sp>
        <p:nvSpPr>
          <p:cNvPr id="11" name="Text 7"/>
          <p:cNvSpPr/>
          <p:nvPr/>
        </p:nvSpPr>
        <p:spPr>
          <a:xfrm>
            <a:off x="4887367" y="2503091"/>
            <a:ext cx="2816758"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75569"/>
                </a:solidFill>
                <a:latin typeface="Public Sans" pitchFamily="34" charset="0"/>
                <a:ea typeface="Public Sans" pitchFamily="34" charset="-122"/>
                <a:cs typeface="Public Sans" pitchFamily="34" charset="-120"/>
              </a:rPr>
              <a:t>Evenings are 5–8 °C, colder on the Dome</a:t>
            </a:r>
            <a:endParaRPr lang="en-US" sz="1200" dirty="0"/>
          </a:p>
        </p:txBody>
      </p:sp>
      <p:sp>
        <p:nvSpPr>
          <p:cNvPr id="12" name="Shape 8"/>
          <p:cNvSpPr/>
          <p:nvPr/>
        </p:nvSpPr>
        <p:spPr>
          <a:xfrm>
            <a:off x="7961809" y="1839516"/>
            <a:ext cx="3414216" cy="1258491"/>
          </a:xfrm>
          <a:prstGeom prst="roundRect">
            <a:avLst>
              <a:gd name="adj" fmla="val 7821"/>
            </a:avLst>
          </a:prstGeom>
          <a:solidFill>
            <a:srgbClr val="FBFCFE"/>
          </a:solidFill>
          <a:ln w="6350">
            <a:solidFill>
              <a:srgbClr val="D9DBEE"/>
            </a:solidFill>
            <a:prstDash val="solid"/>
          </a:ln>
        </p:spPr>
        <p:txBody>
          <a:bodyPr/>
          <a:lstStyle/>
          <a:p>
            <a:endParaRPr lang="tr-TR"/>
          </a:p>
        </p:txBody>
      </p:sp>
      <p:pic>
        <p:nvPicPr>
          <p:cNvPr id="13" name="Image 2" descr="Check"/>
          <p:cNvPicPr>
            <a:picLocks noChangeAspect="1"/>
          </p:cNvPicPr>
          <p:nvPr/>
        </p:nvPicPr>
        <p:blipFill>
          <a:blip r:embed="rId3"/>
          <a:srcRect/>
          <a:stretch/>
        </p:blipFill>
        <p:spPr>
          <a:xfrm>
            <a:off x="8142784" y="2007791"/>
            <a:ext cx="203200" cy="203200"/>
          </a:xfrm>
          <a:prstGeom prst="rect">
            <a:avLst/>
          </a:prstGeom>
        </p:spPr>
      </p:pic>
      <p:sp>
        <p:nvSpPr>
          <p:cNvPr id="14" name="Text 9"/>
          <p:cNvSpPr/>
          <p:nvPr/>
        </p:nvSpPr>
        <p:spPr>
          <a:xfrm>
            <a:off x="8460284" y="2007791"/>
            <a:ext cx="2816809"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00084"/>
                </a:solidFill>
                <a:latin typeface="Public Sans" pitchFamily="34" charset="0"/>
                <a:ea typeface="Public Sans" pitchFamily="34" charset="-122"/>
                <a:cs typeface="Public Sans" pitchFamily="34" charset="-120"/>
              </a:rPr>
              <a:t>Hiking boots</a:t>
            </a:r>
            <a:endParaRPr lang="en-US" sz="1500" dirty="0"/>
          </a:p>
        </p:txBody>
      </p:sp>
      <p:sp>
        <p:nvSpPr>
          <p:cNvPr id="15" name="Text 10"/>
          <p:cNvSpPr/>
          <p:nvPr/>
        </p:nvSpPr>
        <p:spPr>
          <a:xfrm>
            <a:off x="8460284" y="2274491"/>
            <a:ext cx="2816809"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75569"/>
                </a:solidFill>
                <a:latin typeface="Public Sans" pitchFamily="34" charset="0"/>
                <a:ea typeface="Public Sans" pitchFamily="34" charset="-122"/>
                <a:cs typeface="Public Sans" pitchFamily="34" charset="-120"/>
              </a:rPr>
              <a:t>Dome trail, Tombstone, muddy creek banks</a:t>
            </a:r>
            <a:endParaRPr lang="en-US" sz="1200" dirty="0"/>
          </a:p>
        </p:txBody>
      </p:sp>
      <p:sp>
        <p:nvSpPr>
          <p:cNvPr id="16" name="Shape 11"/>
          <p:cNvSpPr/>
          <p:nvPr/>
        </p:nvSpPr>
        <p:spPr>
          <a:xfrm>
            <a:off x="815975" y="3256756"/>
            <a:ext cx="3414167" cy="1029891"/>
          </a:xfrm>
          <a:prstGeom prst="roundRect">
            <a:avLst>
              <a:gd name="adj" fmla="val 9557"/>
            </a:avLst>
          </a:prstGeom>
          <a:solidFill>
            <a:srgbClr val="FBFCFE"/>
          </a:solidFill>
          <a:ln w="6350">
            <a:solidFill>
              <a:srgbClr val="D9DBEE"/>
            </a:solidFill>
            <a:prstDash val="solid"/>
          </a:ln>
        </p:spPr>
        <p:txBody>
          <a:bodyPr/>
          <a:lstStyle/>
          <a:p>
            <a:endParaRPr lang="tr-TR"/>
          </a:p>
        </p:txBody>
      </p:sp>
      <p:pic>
        <p:nvPicPr>
          <p:cNvPr id="17" name="Image 3" descr="Check"/>
          <p:cNvPicPr>
            <a:picLocks noChangeAspect="1"/>
          </p:cNvPicPr>
          <p:nvPr/>
        </p:nvPicPr>
        <p:blipFill>
          <a:blip r:embed="rId3"/>
          <a:srcRect/>
          <a:stretch/>
        </p:blipFill>
        <p:spPr>
          <a:xfrm>
            <a:off x="996950" y="3425031"/>
            <a:ext cx="203200" cy="203200"/>
          </a:xfrm>
          <a:prstGeom prst="rect">
            <a:avLst/>
          </a:prstGeom>
        </p:spPr>
      </p:pic>
      <p:sp>
        <p:nvSpPr>
          <p:cNvPr id="18" name="Text 12"/>
          <p:cNvSpPr/>
          <p:nvPr/>
        </p:nvSpPr>
        <p:spPr>
          <a:xfrm>
            <a:off x="1314450" y="3425031"/>
            <a:ext cx="2816758"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00084"/>
                </a:solidFill>
                <a:latin typeface="Public Sans" pitchFamily="34" charset="0"/>
                <a:ea typeface="Public Sans" pitchFamily="34" charset="-122"/>
                <a:cs typeface="Public Sans" pitchFamily="34" charset="-120"/>
              </a:rPr>
              <a:t>Mosquito repellent</a:t>
            </a:r>
            <a:endParaRPr lang="en-US" sz="1500" dirty="0"/>
          </a:p>
        </p:txBody>
      </p:sp>
      <p:sp>
        <p:nvSpPr>
          <p:cNvPr id="19" name="Text 13"/>
          <p:cNvSpPr/>
          <p:nvPr/>
        </p:nvSpPr>
        <p:spPr>
          <a:xfrm>
            <a:off x="1314450" y="3691731"/>
            <a:ext cx="2816758"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75569"/>
                </a:solidFill>
                <a:latin typeface="Public Sans" pitchFamily="34" charset="0"/>
                <a:ea typeface="Public Sans" pitchFamily="34" charset="-122"/>
                <a:cs typeface="Public Sans" pitchFamily="34" charset="-120"/>
              </a:rPr>
              <a:t>Yukon mosquitoes are famous for a reason</a:t>
            </a:r>
            <a:endParaRPr lang="en-US" sz="1200" dirty="0"/>
          </a:p>
        </p:txBody>
      </p:sp>
      <p:sp>
        <p:nvSpPr>
          <p:cNvPr id="20" name="Shape 14"/>
          <p:cNvSpPr/>
          <p:nvPr/>
        </p:nvSpPr>
        <p:spPr>
          <a:xfrm>
            <a:off x="4388892" y="3256756"/>
            <a:ext cx="3414167" cy="1029891"/>
          </a:xfrm>
          <a:prstGeom prst="roundRect">
            <a:avLst>
              <a:gd name="adj" fmla="val 9557"/>
            </a:avLst>
          </a:prstGeom>
          <a:solidFill>
            <a:srgbClr val="FBFCFE"/>
          </a:solidFill>
          <a:ln w="6350">
            <a:solidFill>
              <a:srgbClr val="D9DBEE"/>
            </a:solidFill>
            <a:prstDash val="solid"/>
          </a:ln>
        </p:spPr>
        <p:txBody>
          <a:bodyPr/>
          <a:lstStyle/>
          <a:p>
            <a:endParaRPr lang="tr-TR"/>
          </a:p>
        </p:txBody>
      </p:sp>
      <p:pic>
        <p:nvPicPr>
          <p:cNvPr id="21" name="Image 4" descr="Check"/>
          <p:cNvPicPr>
            <a:picLocks noChangeAspect="1"/>
          </p:cNvPicPr>
          <p:nvPr/>
        </p:nvPicPr>
        <p:blipFill>
          <a:blip r:embed="rId3"/>
          <a:srcRect/>
          <a:stretch/>
        </p:blipFill>
        <p:spPr>
          <a:xfrm>
            <a:off x="4569867" y="3425031"/>
            <a:ext cx="203200" cy="203200"/>
          </a:xfrm>
          <a:prstGeom prst="rect">
            <a:avLst/>
          </a:prstGeom>
        </p:spPr>
      </p:pic>
      <p:sp>
        <p:nvSpPr>
          <p:cNvPr id="22" name="Text 15"/>
          <p:cNvSpPr/>
          <p:nvPr/>
        </p:nvSpPr>
        <p:spPr>
          <a:xfrm>
            <a:off x="4887367" y="3425031"/>
            <a:ext cx="2816758"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00084"/>
                </a:solidFill>
                <a:latin typeface="Public Sans" pitchFamily="34" charset="0"/>
                <a:ea typeface="Public Sans" pitchFamily="34" charset="-122"/>
                <a:cs typeface="Public Sans" pitchFamily="34" charset="-120"/>
              </a:rPr>
              <a:t>Sunscreen and sunglasses</a:t>
            </a:r>
            <a:endParaRPr lang="en-US" sz="1500" dirty="0"/>
          </a:p>
        </p:txBody>
      </p:sp>
      <p:sp>
        <p:nvSpPr>
          <p:cNvPr id="23" name="Text 16"/>
          <p:cNvSpPr/>
          <p:nvPr/>
        </p:nvSpPr>
        <p:spPr>
          <a:xfrm>
            <a:off x="4887367" y="3691731"/>
            <a:ext cx="281675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75569"/>
                </a:solidFill>
                <a:latin typeface="Public Sans" pitchFamily="34" charset="0"/>
                <a:ea typeface="Public Sans" pitchFamily="34" charset="-122"/>
                <a:cs typeface="Public Sans" pitchFamily="34" charset="-120"/>
              </a:rPr>
              <a:t>16 hours of sunlight a day</a:t>
            </a:r>
            <a:endParaRPr lang="en-US" sz="1200" dirty="0"/>
          </a:p>
        </p:txBody>
      </p:sp>
      <p:sp>
        <p:nvSpPr>
          <p:cNvPr id="24" name="Shape 17"/>
          <p:cNvSpPr/>
          <p:nvPr/>
        </p:nvSpPr>
        <p:spPr>
          <a:xfrm>
            <a:off x="7961809" y="3256756"/>
            <a:ext cx="3414216" cy="1029891"/>
          </a:xfrm>
          <a:prstGeom prst="roundRect">
            <a:avLst>
              <a:gd name="adj" fmla="val 9557"/>
            </a:avLst>
          </a:prstGeom>
          <a:solidFill>
            <a:srgbClr val="FBFCFE"/>
          </a:solidFill>
          <a:ln w="6350">
            <a:solidFill>
              <a:srgbClr val="D9DBEE"/>
            </a:solidFill>
            <a:prstDash val="solid"/>
          </a:ln>
        </p:spPr>
        <p:txBody>
          <a:bodyPr/>
          <a:lstStyle/>
          <a:p>
            <a:endParaRPr lang="tr-TR"/>
          </a:p>
        </p:txBody>
      </p:sp>
      <p:pic>
        <p:nvPicPr>
          <p:cNvPr id="25" name="Image 5" descr="Check"/>
          <p:cNvPicPr>
            <a:picLocks noChangeAspect="1"/>
          </p:cNvPicPr>
          <p:nvPr/>
        </p:nvPicPr>
        <p:blipFill>
          <a:blip r:embed="rId3"/>
          <a:srcRect/>
          <a:stretch/>
        </p:blipFill>
        <p:spPr>
          <a:xfrm>
            <a:off x="8142784" y="3425031"/>
            <a:ext cx="203200" cy="203200"/>
          </a:xfrm>
          <a:prstGeom prst="rect">
            <a:avLst/>
          </a:prstGeom>
        </p:spPr>
      </p:pic>
      <p:sp>
        <p:nvSpPr>
          <p:cNvPr id="26" name="Text 18"/>
          <p:cNvSpPr/>
          <p:nvPr/>
        </p:nvSpPr>
        <p:spPr>
          <a:xfrm>
            <a:off x="8460284" y="3425031"/>
            <a:ext cx="2816809"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00084"/>
                </a:solidFill>
                <a:latin typeface="Public Sans" pitchFamily="34" charset="0"/>
                <a:ea typeface="Public Sans" pitchFamily="34" charset="-122"/>
                <a:cs typeface="Public Sans" pitchFamily="34" charset="-120"/>
              </a:rPr>
              <a:t>Sleep mask</a:t>
            </a:r>
            <a:endParaRPr lang="en-US" sz="1500" dirty="0"/>
          </a:p>
        </p:txBody>
      </p:sp>
      <p:sp>
        <p:nvSpPr>
          <p:cNvPr id="27" name="Text 19"/>
          <p:cNvSpPr/>
          <p:nvPr/>
        </p:nvSpPr>
        <p:spPr>
          <a:xfrm>
            <a:off x="8460284" y="3691731"/>
            <a:ext cx="281680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75569"/>
                </a:solidFill>
                <a:latin typeface="Public Sans" pitchFamily="34" charset="0"/>
                <a:ea typeface="Public Sans" pitchFamily="34" charset="-122"/>
                <a:cs typeface="Public Sans" pitchFamily="34" charset="-120"/>
              </a:rPr>
              <a:t>It is still light at 10:30 pm</a:t>
            </a:r>
            <a:endParaRPr lang="en-US" sz="1200" dirty="0"/>
          </a:p>
        </p:txBody>
      </p:sp>
      <p:sp>
        <p:nvSpPr>
          <p:cNvPr id="28" name="Shape 20"/>
          <p:cNvSpPr/>
          <p:nvPr/>
        </p:nvSpPr>
        <p:spPr>
          <a:xfrm>
            <a:off x="815975" y="4445397"/>
            <a:ext cx="3414167" cy="1245791"/>
          </a:xfrm>
          <a:prstGeom prst="roundRect">
            <a:avLst>
              <a:gd name="adj" fmla="val 7901"/>
            </a:avLst>
          </a:prstGeom>
          <a:solidFill>
            <a:srgbClr val="FBFCFE"/>
          </a:solidFill>
          <a:ln w="6350">
            <a:solidFill>
              <a:srgbClr val="D9DBEE"/>
            </a:solidFill>
            <a:prstDash val="solid"/>
          </a:ln>
        </p:spPr>
        <p:txBody>
          <a:bodyPr/>
          <a:lstStyle/>
          <a:p>
            <a:endParaRPr lang="tr-TR"/>
          </a:p>
        </p:txBody>
      </p:sp>
      <p:pic>
        <p:nvPicPr>
          <p:cNvPr id="29" name="Image 6" descr="Check"/>
          <p:cNvPicPr>
            <a:picLocks noChangeAspect="1"/>
          </p:cNvPicPr>
          <p:nvPr/>
        </p:nvPicPr>
        <p:blipFill>
          <a:blip r:embed="rId3"/>
          <a:srcRect/>
          <a:stretch/>
        </p:blipFill>
        <p:spPr>
          <a:xfrm>
            <a:off x="996950" y="4613672"/>
            <a:ext cx="203200" cy="203200"/>
          </a:xfrm>
          <a:prstGeom prst="rect">
            <a:avLst/>
          </a:prstGeom>
        </p:spPr>
      </p:pic>
      <p:sp>
        <p:nvSpPr>
          <p:cNvPr id="30" name="Text 21"/>
          <p:cNvSpPr/>
          <p:nvPr/>
        </p:nvSpPr>
        <p:spPr>
          <a:xfrm>
            <a:off x="1314450" y="4613672"/>
            <a:ext cx="2816758"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00084"/>
                </a:solidFill>
                <a:latin typeface="Public Sans" pitchFamily="34" charset="0"/>
                <a:ea typeface="Public Sans" pitchFamily="34" charset="-122"/>
                <a:cs typeface="Public Sans" pitchFamily="34" charset="-120"/>
              </a:rPr>
              <a:t>Water bottle and daypack</a:t>
            </a:r>
            <a:endParaRPr lang="en-US" sz="1500" dirty="0"/>
          </a:p>
        </p:txBody>
      </p:sp>
      <p:sp>
        <p:nvSpPr>
          <p:cNvPr id="31" name="Text 22"/>
          <p:cNvSpPr/>
          <p:nvPr/>
        </p:nvSpPr>
        <p:spPr>
          <a:xfrm>
            <a:off x="1314450" y="4880372"/>
            <a:ext cx="2816758"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75569"/>
                </a:solidFill>
                <a:latin typeface="Public Sans" pitchFamily="34" charset="0"/>
                <a:ea typeface="Public Sans" pitchFamily="34" charset="-122"/>
                <a:cs typeface="Public Sans" pitchFamily="34" charset="-120"/>
              </a:rPr>
              <a:t>Tap water is safe; no shops on the trails</a:t>
            </a:r>
            <a:endParaRPr lang="en-US" sz="1200" dirty="0"/>
          </a:p>
        </p:txBody>
      </p:sp>
      <p:sp>
        <p:nvSpPr>
          <p:cNvPr id="32" name="Shape 23"/>
          <p:cNvSpPr/>
          <p:nvPr/>
        </p:nvSpPr>
        <p:spPr>
          <a:xfrm>
            <a:off x="4388892" y="4445397"/>
            <a:ext cx="3414167" cy="1245791"/>
          </a:xfrm>
          <a:prstGeom prst="roundRect">
            <a:avLst>
              <a:gd name="adj" fmla="val 7901"/>
            </a:avLst>
          </a:prstGeom>
          <a:solidFill>
            <a:srgbClr val="FBFCFE"/>
          </a:solidFill>
          <a:ln w="6350">
            <a:solidFill>
              <a:srgbClr val="D9DBEE"/>
            </a:solidFill>
            <a:prstDash val="solid"/>
          </a:ln>
        </p:spPr>
        <p:txBody>
          <a:bodyPr/>
          <a:lstStyle/>
          <a:p>
            <a:endParaRPr lang="tr-TR"/>
          </a:p>
        </p:txBody>
      </p:sp>
      <p:pic>
        <p:nvPicPr>
          <p:cNvPr id="33" name="Image 7" descr="Check"/>
          <p:cNvPicPr>
            <a:picLocks noChangeAspect="1"/>
          </p:cNvPicPr>
          <p:nvPr/>
        </p:nvPicPr>
        <p:blipFill>
          <a:blip r:embed="rId3"/>
          <a:srcRect/>
          <a:stretch/>
        </p:blipFill>
        <p:spPr>
          <a:xfrm>
            <a:off x="4569867" y="4613672"/>
            <a:ext cx="203200" cy="203200"/>
          </a:xfrm>
          <a:prstGeom prst="rect">
            <a:avLst/>
          </a:prstGeom>
        </p:spPr>
      </p:pic>
      <p:sp>
        <p:nvSpPr>
          <p:cNvPr id="34" name="Text 24"/>
          <p:cNvSpPr/>
          <p:nvPr/>
        </p:nvSpPr>
        <p:spPr>
          <a:xfrm>
            <a:off x="4887367" y="4613672"/>
            <a:ext cx="2816758"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00084"/>
                </a:solidFill>
                <a:latin typeface="Public Sans" pitchFamily="34" charset="0"/>
                <a:ea typeface="Public Sans" pitchFamily="34" charset="-122"/>
                <a:cs typeface="Public Sans" pitchFamily="34" charset="-120"/>
              </a:rPr>
              <a:t>Power bank and camera</a:t>
            </a:r>
            <a:endParaRPr lang="en-US" sz="1500" dirty="0"/>
          </a:p>
        </p:txBody>
      </p:sp>
      <p:sp>
        <p:nvSpPr>
          <p:cNvPr id="35" name="Text 25"/>
          <p:cNvSpPr/>
          <p:nvPr/>
        </p:nvSpPr>
        <p:spPr>
          <a:xfrm>
            <a:off x="4887367" y="4880372"/>
            <a:ext cx="2816758"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75569"/>
                </a:solidFill>
                <a:latin typeface="Public Sans" pitchFamily="34" charset="0"/>
                <a:ea typeface="Public Sans" pitchFamily="34" charset="-122"/>
                <a:cs typeface="Public Sans" pitchFamily="34" charset="-120"/>
              </a:rPr>
              <a:t>Long days, many photos, few plugs on tours</a:t>
            </a:r>
            <a:endParaRPr lang="en-US" sz="1200" dirty="0"/>
          </a:p>
        </p:txBody>
      </p:sp>
      <p:sp>
        <p:nvSpPr>
          <p:cNvPr id="36" name="Shape 26"/>
          <p:cNvSpPr/>
          <p:nvPr/>
        </p:nvSpPr>
        <p:spPr>
          <a:xfrm>
            <a:off x="7958634" y="4442222"/>
            <a:ext cx="3420566" cy="1252141"/>
          </a:xfrm>
          <a:prstGeom prst="roundRect">
            <a:avLst>
              <a:gd name="adj" fmla="val 8114"/>
            </a:avLst>
          </a:prstGeom>
          <a:solidFill>
            <a:srgbClr val="000084"/>
          </a:solidFill>
          <a:ln/>
        </p:spPr>
        <p:txBody>
          <a:bodyPr/>
          <a:lstStyle/>
          <a:p>
            <a:endParaRPr lang="tr-TR"/>
          </a:p>
        </p:txBody>
      </p:sp>
      <p:pic>
        <p:nvPicPr>
          <p:cNvPr id="37" name="Image 8" descr="Key"/>
          <p:cNvPicPr>
            <a:picLocks noChangeAspect="1"/>
          </p:cNvPicPr>
          <p:nvPr/>
        </p:nvPicPr>
        <p:blipFill>
          <a:blip r:embed="rId4"/>
          <a:srcRect/>
          <a:stretch/>
        </p:blipFill>
        <p:spPr>
          <a:xfrm>
            <a:off x="8136434" y="4607322"/>
            <a:ext cx="203200" cy="203200"/>
          </a:xfrm>
          <a:prstGeom prst="rect">
            <a:avLst/>
          </a:prstGeom>
        </p:spPr>
      </p:pic>
      <p:sp>
        <p:nvSpPr>
          <p:cNvPr id="38" name="Text 27"/>
          <p:cNvSpPr/>
          <p:nvPr/>
        </p:nvSpPr>
        <p:spPr>
          <a:xfrm>
            <a:off x="8453934" y="4607322"/>
            <a:ext cx="2829890" cy="4826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4F7FB"/>
                </a:solidFill>
                <a:latin typeface="Public Sans" pitchFamily="34" charset="0"/>
                <a:ea typeface="Public Sans" pitchFamily="34" charset="-122"/>
                <a:cs typeface="Public Sans" pitchFamily="34" charset="-120"/>
              </a:rPr>
              <a:t>Passport, Canadian visa, insurance</a:t>
            </a:r>
            <a:endParaRPr lang="en-US" sz="1500" dirty="0"/>
          </a:p>
        </p:txBody>
      </p:sp>
      <p:sp>
        <p:nvSpPr>
          <p:cNvPr id="39" name="Text 28"/>
          <p:cNvSpPr/>
          <p:nvPr/>
        </p:nvSpPr>
        <p:spPr>
          <a:xfrm>
            <a:off x="8453934" y="5102622"/>
            <a:ext cx="282989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7D4E8"/>
                </a:solidFill>
                <a:latin typeface="Public Sans" pitchFamily="34" charset="0"/>
                <a:ea typeface="Public Sans" pitchFamily="34" charset="-122"/>
                <a:cs typeface="Public Sans" pitchFamily="34" charset="-120"/>
              </a:rPr>
              <a:t>The visa takes 2–3 months; bring some Canadian cash too</a:t>
            </a:r>
            <a:endParaRPr lang="en-US" sz="1200" dirty="0"/>
          </a:p>
        </p:txBody>
      </p:sp>
      <p:sp>
        <p:nvSpPr>
          <p:cNvPr id="40" name="Text 29"/>
          <p:cNvSpPr/>
          <p:nvPr/>
        </p:nvSpPr>
        <p:spPr>
          <a:xfrm>
            <a:off x="812800" y="6238280"/>
            <a:ext cx="470701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B7A"/>
                </a:solidFill>
                <a:latin typeface="Public Sans" pitchFamily="34" charset="0"/>
                <a:ea typeface="Public Sans" pitchFamily="34" charset="-122"/>
                <a:cs typeface="Public Sans" pitchFamily="34" charset="-120"/>
              </a:rPr>
              <a:t>The Klondike Gold Rush · Pertevniyal High School 159/E</a:t>
            </a:r>
            <a:endParaRPr lang="en-US" sz="1200" dirty="0"/>
          </a:p>
        </p:txBody>
      </p:sp>
      <p:sp>
        <p:nvSpPr>
          <p:cNvPr id="41" name="Text 30"/>
          <p:cNvSpPr/>
          <p:nvPr/>
        </p:nvSpPr>
        <p:spPr>
          <a:xfrm>
            <a:off x="10820400" y="6238280"/>
            <a:ext cx="558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F6B7A"/>
                </a:solidFill>
                <a:latin typeface="Public Sans" pitchFamily="34" charset="0"/>
                <a:ea typeface="Public Sans" pitchFamily="34" charset="-122"/>
                <a:cs typeface="Public Sans" pitchFamily="34" charset="-120"/>
              </a:rPr>
              <a:t>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3F4F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A2FB0"/>
                </a:solidFill>
                <a:latin typeface="Public Sans" pitchFamily="34" charset="0"/>
                <a:ea typeface="Public Sans" pitchFamily="34" charset="-122"/>
                <a:cs typeface="Public Sans" pitchFamily="34" charset="-120"/>
              </a:rPr>
              <a:t>BUDGET · PER PERSON · AUGUST 2027 · 1 CAD ≈ 0.73 USD</a:t>
            </a:r>
            <a:endParaRPr lang="en-US" sz="1200" dirty="0"/>
          </a:p>
        </p:txBody>
      </p:sp>
      <p:sp>
        <p:nvSpPr>
          <p:cNvPr id="3" name="Text 1"/>
          <p:cNvSpPr>
            <a:spLocks noGrp="1"/>
          </p:cNvSpPr>
          <p:nvPr>
            <p:ph type="title"/>
          </p:nvPr>
        </p:nvSpPr>
        <p:spPr>
          <a:xfrm>
            <a:off x="812800" y="1102320"/>
            <a:ext cx="10883392" cy="505420"/>
          </a:xfrm>
          <a:prstGeom prst="rect">
            <a:avLst/>
          </a:prstGeom>
          <a:noFill/>
          <a:ln/>
        </p:spPr>
        <p:txBody>
          <a:bodyPr wrap="square" lIns="0" tIns="0" rIns="0" bIns="0" rtlCol="0" anchor="t">
            <a:normAutofit/>
          </a:bodyPr>
          <a:lstStyle/>
          <a:p>
            <a:pPr marL="0" indent="0" algn="l">
              <a:lnSpc>
                <a:spcPts val="3780"/>
              </a:lnSpc>
              <a:buNone/>
            </a:pPr>
            <a:r>
              <a:rPr lang="en-US" sz="3600" b="0" i="0" dirty="0">
                <a:solidFill>
                  <a:srgbClr val="000084"/>
                </a:solidFill>
                <a:latin typeface="Oswald" pitchFamily="34" charset="0"/>
                <a:ea typeface="Oswald" pitchFamily="34" charset="-122"/>
                <a:cs typeface="Oswald" pitchFamily="34" charset="-120"/>
              </a:rPr>
              <a:t>Trip Budget: About 1,700 USD per Person</a:t>
            </a:r>
            <a:endParaRPr lang="en-US" sz="3600" dirty="0"/>
          </a:p>
        </p:txBody>
      </p:sp>
      <p:sp>
        <p:nvSpPr>
          <p:cNvPr id="4" name="Text 2"/>
          <p:cNvSpPr/>
          <p:nvPr/>
        </p:nvSpPr>
        <p:spPr>
          <a:xfrm>
            <a:off x="812800" y="1793776"/>
            <a:ext cx="3662680" cy="24001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1B2432"/>
                </a:solidFill>
                <a:latin typeface="Public Sans" pitchFamily="34" charset="0"/>
                <a:ea typeface="Public Sans" pitchFamily="34" charset="-122"/>
                <a:cs typeface="Public Sans" pitchFamily="34" charset="-120"/>
              </a:rPr>
              <a:t>Flights Vancouver – Whitehorse</a:t>
            </a:r>
            <a:endParaRPr lang="en-US" sz="1300" dirty="0"/>
          </a:p>
        </p:txBody>
      </p:sp>
      <p:sp>
        <p:nvSpPr>
          <p:cNvPr id="5" name="Shape 3"/>
          <p:cNvSpPr/>
          <p:nvPr/>
        </p:nvSpPr>
        <p:spPr>
          <a:xfrm>
            <a:off x="4495800" y="1805831"/>
            <a:ext cx="3600450" cy="190500"/>
          </a:xfrm>
          <a:prstGeom prst="roundRect">
            <a:avLst>
              <a:gd name="adj" fmla="val 20000"/>
            </a:avLst>
          </a:prstGeom>
          <a:solidFill>
            <a:srgbClr val="2A2FB0"/>
          </a:solidFill>
          <a:ln/>
        </p:spPr>
        <p:txBody>
          <a:bodyPr/>
          <a:lstStyle/>
          <a:p>
            <a:endParaRPr lang="tr-TR"/>
          </a:p>
        </p:txBody>
      </p:sp>
      <p:sp>
        <p:nvSpPr>
          <p:cNvPr id="6" name="Text 4"/>
          <p:cNvSpPr/>
          <p:nvPr/>
        </p:nvSpPr>
        <p:spPr>
          <a:xfrm>
            <a:off x="8223250" y="1785541"/>
            <a:ext cx="1003300"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00084"/>
                </a:solidFill>
                <a:latin typeface="Public Sans" pitchFamily="34" charset="0"/>
                <a:ea typeface="Public Sans" pitchFamily="34" charset="-122"/>
                <a:cs typeface="Public Sans" pitchFamily="34" charset="-120"/>
              </a:rPr>
              <a:t>300 USD</a:t>
            </a:r>
            <a:endParaRPr lang="en-US" sz="1300" dirty="0"/>
          </a:p>
        </p:txBody>
      </p:sp>
      <p:sp>
        <p:nvSpPr>
          <p:cNvPr id="7" name="Text 5"/>
          <p:cNvSpPr/>
          <p:nvPr/>
        </p:nvSpPr>
        <p:spPr>
          <a:xfrm>
            <a:off x="812800" y="2088406"/>
            <a:ext cx="3662680" cy="24001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1B2432"/>
                </a:solidFill>
                <a:latin typeface="Public Sans" pitchFamily="34" charset="0"/>
                <a:ea typeface="Public Sans" pitchFamily="34" charset="-122"/>
                <a:cs typeface="Public Sans" pitchFamily="34" charset="-120"/>
              </a:rPr>
              <a:t>Flights Whitehorse – Dawson City</a:t>
            </a:r>
            <a:endParaRPr lang="en-US" sz="1300" dirty="0"/>
          </a:p>
        </p:txBody>
      </p:sp>
      <p:sp>
        <p:nvSpPr>
          <p:cNvPr id="8" name="Shape 6"/>
          <p:cNvSpPr/>
          <p:nvPr/>
        </p:nvSpPr>
        <p:spPr>
          <a:xfrm>
            <a:off x="4495800" y="2100461"/>
            <a:ext cx="4445000" cy="190500"/>
          </a:xfrm>
          <a:prstGeom prst="roundRect">
            <a:avLst>
              <a:gd name="adj" fmla="val 20000"/>
            </a:avLst>
          </a:prstGeom>
          <a:solidFill>
            <a:srgbClr val="2A2FB0"/>
          </a:solidFill>
          <a:ln/>
        </p:spPr>
        <p:txBody>
          <a:bodyPr/>
          <a:lstStyle/>
          <a:p>
            <a:endParaRPr lang="tr-TR"/>
          </a:p>
        </p:txBody>
      </p:sp>
      <p:sp>
        <p:nvSpPr>
          <p:cNvPr id="9" name="Text 7"/>
          <p:cNvSpPr/>
          <p:nvPr/>
        </p:nvSpPr>
        <p:spPr>
          <a:xfrm>
            <a:off x="9067800" y="2080171"/>
            <a:ext cx="1003300"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00084"/>
                </a:solidFill>
                <a:latin typeface="Public Sans" pitchFamily="34" charset="0"/>
                <a:ea typeface="Public Sans" pitchFamily="34" charset="-122"/>
                <a:cs typeface="Public Sans" pitchFamily="34" charset="-120"/>
              </a:rPr>
              <a:t>370 USD</a:t>
            </a:r>
            <a:endParaRPr lang="en-US" sz="1300" dirty="0"/>
          </a:p>
        </p:txBody>
      </p:sp>
      <p:sp>
        <p:nvSpPr>
          <p:cNvPr id="10" name="Text 8"/>
          <p:cNvSpPr/>
          <p:nvPr/>
        </p:nvSpPr>
        <p:spPr>
          <a:xfrm>
            <a:off x="812800" y="2383036"/>
            <a:ext cx="3662680" cy="24001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1B2432"/>
                </a:solidFill>
                <a:latin typeface="Public Sans" pitchFamily="34" charset="0"/>
                <a:ea typeface="Public Sans" pitchFamily="34" charset="-122"/>
                <a:cs typeface="Public Sans" pitchFamily="34" charset="-120"/>
              </a:rPr>
              <a:t>Hostel, 4 nights (room for 3)</a:t>
            </a:r>
            <a:endParaRPr lang="en-US" sz="1300" dirty="0"/>
          </a:p>
        </p:txBody>
      </p:sp>
      <p:sp>
        <p:nvSpPr>
          <p:cNvPr id="11" name="Shape 9"/>
          <p:cNvSpPr/>
          <p:nvPr/>
        </p:nvSpPr>
        <p:spPr>
          <a:xfrm>
            <a:off x="4495800" y="2395091"/>
            <a:ext cx="2641600" cy="190500"/>
          </a:xfrm>
          <a:prstGeom prst="roundRect">
            <a:avLst>
              <a:gd name="adj" fmla="val 20000"/>
            </a:avLst>
          </a:prstGeom>
          <a:solidFill>
            <a:srgbClr val="2A2FB0"/>
          </a:solidFill>
          <a:ln/>
        </p:spPr>
        <p:txBody>
          <a:bodyPr/>
          <a:lstStyle/>
          <a:p>
            <a:endParaRPr lang="tr-TR"/>
          </a:p>
        </p:txBody>
      </p:sp>
      <p:sp>
        <p:nvSpPr>
          <p:cNvPr id="12" name="Text 10"/>
          <p:cNvSpPr/>
          <p:nvPr/>
        </p:nvSpPr>
        <p:spPr>
          <a:xfrm>
            <a:off x="7264400" y="2374801"/>
            <a:ext cx="1003300"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00084"/>
                </a:solidFill>
                <a:latin typeface="Public Sans" pitchFamily="34" charset="0"/>
                <a:ea typeface="Public Sans" pitchFamily="34" charset="-122"/>
                <a:cs typeface="Public Sans" pitchFamily="34" charset="-120"/>
              </a:rPr>
              <a:t>220 USD</a:t>
            </a:r>
            <a:endParaRPr lang="en-US" sz="1300" dirty="0"/>
          </a:p>
        </p:txBody>
      </p:sp>
      <p:sp>
        <p:nvSpPr>
          <p:cNvPr id="13" name="Text 11"/>
          <p:cNvSpPr/>
          <p:nvPr/>
        </p:nvSpPr>
        <p:spPr>
          <a:xfrm>
            <a:off x="812800" y="2677666"/>
            <a:ext cx="3662680" cy="24001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1B2432"/>
                </a:solidFill>
                <a:latin typeface="Public Sans" pitchFamily="34" charset="0"/>
                <a:ea typeface="Public Sans" pitchFamily="34" charset="-122"/>
                <a:cs typeface="Public Sans" pitchFamily="34" charset="-120"/>
              </a:rPr>
              <a:t>Food and drinks, 5 days</a:t>
            </a:r>
            <a:endParaRPr lang="en-US" sz="1300" dirty="0"/>
          </a:p>
        </p:txBody>
      </p:sp>
      <p:sp>
        <p:nvSpPr>
          <p:cNvPr id="14" name="Shape 12"/>
          <p:cNvSpPr/>
          <p:nvPr/>
        </p:nvSpPr>
        <p:spPr>
          <a:xfrm>
            <a:off x="4495800" y="2689721"/>
            <a:ext cx="3302000" cy="190500"/>
          </a:xfrm>
          <a:prstGeom prst="roundRect">
            <a:avLst>
              <a:gd name="adj" fmla="val 20000"/>
            </a:avLst>
          </a:prstGeom>
          <a:solidFill>
            <a:srgbClr val="2A2FB0"/>
          </a:solidFill>
          <a:ln/>
        </p:spPr>
        <p:txBody>
          <a:bodyPr/>
          <a:lstStyle/>
          <a:p>
            <a:endParaRPr lang="tr-TR"/>
          </a:p>
        </p:txBody>
      </p:sp>
      <p:sp>
        <p:nvSpPr>
          <p:cNvPr id="15" name="Text 13"/>
          <p:cNvSpPr/>
          <p:nvPr/>
        </p:nvSpPr>
        <p:spPr>
          <a:xfrm>
            <a:off x="7924800" y="2669431"/>
            <a:ext cx="1003300"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00084"/>
                </a:solidFill>
                <a:latin typeface="Public Sans" pitchFamily="34" charset="0"/>
                <a:ea typeface="Public Sans" pitchFamily="34" charset="-122"/>
                <a:cs typeface="Public Sans" pitchFamily="34" charset="-120"/>
              </a:rPr>
              <a:t>275 USD</a:t>
            </a:r>
            <a:endParaRPr lang="en-US" sz="1300" dirty="0"/>
          </a:p>
        </p:txBody>
      </p:sp>
      <p:sp>
        <p:nvSpPr>
          <p:cNvPr id="16" name="Text 14"/>
          <p:cNvSpPr/>
          <p:nvPr/>
        </p:nvSpPr>
        <p:spPr>
          <a:xfrm>
            <a:off x="812800" y="2972296"/>
            <a:ext cx="3662680" cy="24001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1B2432"/>
                </a:solidFill>
                <a:latin typeface="Public Sans" pitchFamily="34" charset="0"/>
                <a:ea typeface="Public Sans" pitchFamily="34" charset="-122"/>
                <a:cs typeface="Public Sans" pitchFamily="34" charset="-120"/>
              </a:rPr>
              <a:t>Tours and entrance fees</a:t>
            </a:r>
            <a:endParaRPr lang="en-US" sz="1300" dirty="0"/>
          </a:p>
        </p:txBody>
      </p:sp>
      <p:sp>
        <p:nvSpPr>
          <p:cNvPr id="17" name="Shape 15"/>
          <p:cNvSpPr/>
          <p:nvPr/>
        </p:nvSpPr>
        <p:spPr>
          <a:xfrm>
            <a:off x="4495800" y="2984351"/>
            <a:ext cx="3600450" cy="190500"/>
          </a:xfrm>
          <a:prstGeom prst="roundRect">
            <a:avLst>
              <a:gd name="adj" fmla="val 20000"/>
            </a:avLst>
          </a:prstGeom>
          <a:solidFill>
            <a:srgbClr val="2A2FB0"/>
          </a:solidFill>
          <a:ln/>
        </p:spPr>
        <p:txBody>
          <a:bodyPr/>
          <a:lstStyle/>
          <a:p>
            <a:endParaRPr lang="tr-TR"/>
          </a:p>
        </p:txBody>
      </p:sp>
      <p:sp>
        <p:nvSpPr>
          <p:cNvPr id="18" name="Text 16"/>
          <p:cNvSpPr/>
          <p:nvPr/>
        </p:nvSpPr>
        <p:spPr>
          <a:xfrm>
            <a:off x="8223250" y="2964061"/>
            <a:ext cx="1003300"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00084"/>
                </a:solidFill>
                <a:latin typeface="Public Sans" pitchFamily="34" charset="0"/>
                <a:ea typeface="Public Sans" pitchFamily="34" charset="-122"/>
                <a:cs typeface="Public Sans" pitchFamily="34" charset="-120"/>
              </a:rPr>
              <a:t>300 USD</a:t>
            </a:r>
            <a:endParaRPr lang="en-US" sz="1300" dirty="0"/>
          </a:p>
        </p:txBody>
      </p:sp>
      <p:sp>
        <p:nvSpPr>
          <p:cNvPr id="19" name="Text 17"/>
          <p:cNvSpPr/>
          <p:nvPr/>
        </p:nvSpPr>
        <p:spPr>
          <a:xfrm>
            <a:off x="812800" y="3266926"/>
            <a:ext cx="3662680" cy="24001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1B2432"/>
                </a:solidFill>
                <a:latin typeface="Public Sans" pitchFamily="34" charset="0"/>
                <a:ea typeface="Public Sans" pitchFamily="34" charset="-122"/>
                <a:cs typeface="Public Sans" pitchFamily="34" charset="-120"/>
              </a:rPr>
              <a:t>Local transport (shuttle, taxi)</a:t>
            </a:r>
            <a:endParaRPr lang="en-US" sz="1300" dirty="0"/>
          </a:p>
        </p:txBody>
      </p:sp>
      <p:sp>
        <p:nvSpPr>
          <p:cNvPr id="20" name="Shape 18"/>
          <p:cNvSpPr/>
          <p:nvPr/>
        </p:nvSpPr>
        <p:spPr>
          <a:xfrm>
            <a:off x="4495800" y="3278981"/>
            <a:ext cx="958850" cy="190500"/>
          </a:xfrm>
          <a:prstGeom prst="roundRect">
            <a:avLst>
              <a:gd name="adj" fmla="val 20000"/>
            </a:avLst>
          </a:prstGeom>
          <a:solidFill>
            <a:srgbClr val="2A2FB0"/>
          </a:solidFill>
          <a:ln/>
        </p:spPr>
        <p:txBody>
          <a:bodyPr/>
          <a:lstStyle/>
          <a:p>
            <a:endParaRPr lang="tr-TR"/>
          </a:p>
        </p:txBody>
      </p:sp>
      <p:sp>
        <p:nvSpPr>
          <p:cNvPr id="21" name="Text 19"/>
          <p:cNvSpPr/>
          <p:nvPr/>
        </p:nvSpPr>
        <p:spPr>
          <a:xfrm>
            <a:off x="5581650" y="3258691"/>
            <a:ext cx="1003300"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00084"/>
                </a:solidFill>
                <a:latin typeface="Public Sans" pitchFamily="34" charset="0"/>
                <a:ea typeface="Public Sans" pitchFamily="34" charset="-122"/>
                <a:cs typeface="Public Sans" pitchFamily="34" charset="-120"/>
              </a:rPr>
              <a:t>80 USD</a:t>
            </a:r>
            <a:endParaRPr lang="en-US" sz="1300" dirty="0"/>
          </a:p>
        </p:txBody>
      </p:sp>
      <p:sp>
        <p:nvSpPr>
          <p:cNvPr id="22" name="Text 20"/>
          <p:cNvSpPr/>
          <p:nvPr/>
        </p:nvSpPr>
        <p:spPr>
          <a:xfrm>
            <a:off x="812800" y="3561556"/>
            <a:ext cx="3662680" cy="24001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1B2432"/>
                </a:solidFill>
                <a:latin typeface="Public Sans" pitchFamily="34" charset="0"/>
                <a:ea typeface="Public Sans" pitchFamily="34" charset="-122"/>
                <a:cs typeface="Public Sans" pitchFamily="34" charset="-120"/>
              </a:rPr>
              <a:t>Souvenirs, snacks, SIM card</a:t>
            </a:r>
            <a:endParaRPr lang="en-US" sz="1300" dirty="0"/>
          </a:p>
        </p:txBody>
      </p:sp>
      <p:sp>
        <p:nvSpPr>
          <p:cNvPr id="23" name="Shape 21"/>
          <p:cNvSpPr/>
          <p:nvPr/>
        </p:nvSpPr>
        <p:spPr>
          <a:xfrm>
            <a:off x="4495800" y="3573611"/>
            <a:ext cx="1200150" cy="190500"/>
          </a:xfrm>
          <a:prstGeom prst="roundRect">
            <a:avLst>
              <a:gd name="adj" fmla="val 20000"/>
            </a:avLst>
          </a:prstGeom>
          <a:solidFill>
            <a:srgbClr val="2A2FB0"/>
          </a:solidFill>
          <a:ln/>
        </p:spPr>
        <p:txBody>
          <a:bodyPr/>
          <a:lstStyle/>
          <a:p>
            <a:endParaRPr lang="tr-TR"/>
          </a:p>
        </p:txBody>
      </p:sp>
      <p:sp>
        <p:nvSpPr>
          <p:cNvPr id="24" name="Text 22"/>
          <p:cNvSpPr/>
          <p:nvPr/>
        </p:nvSpPr>
        <p:spPr>
          <a:xfrm>
            <a:off x="5822950" y="3553321"/>
            <a:ext cx="1003300"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00084"/>
                </a:solidFill>
                <a:latin typeface="Public Sans" pitchFamily="34" charset="0"/>
                <a:ea typeface="Public Sans" pitchFamily="34" charset="-122"/>
                <a:cs typeface="Public Sans" pitchFamily="34" charset="-120"/>
              </a:rPr>
              <a:t>100 USD</a:t>
            </a:r>
            <a:endParaRPr lang="en-US" sz="1300" dirty="0"/>
          </a:p>
        </p:txBody>
      </p:sp>
      <p:sp>
        <p:nvSpPr>
          <p:cNvPr id="25" name="Text 23"/>
          <p:cNvSpPr/>
          <p:nvPr/>
        </p:nvSpPr>
        <p:spPr>
          <a:xfrm>
            <a:off x="812800" y="3856186"/>
            <a:ext cx="3662680" cy="24001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1B2432"/>
                </a:solidFill>
                <a:latin typeface="Public Sans" pitchFamily="34" charset="0"/>
                <a:ea typeface="Public Sans" pitchFamily="34" charset="-122"/>
                <a:cs typeface="Public Sans" pitchFamily="34" charset="-120"/>
              </a:rPr>
              <a:t>Travel insurance</a:t>
            </a:r>
            <a:endParaRPr lang="en-US" sz="1300" dirty="0"/>
          </a:p>
        </p:txBody>
      </p:sp>
      <p:sp>
        <p:nvSpPr>
          <p:cNvPr id="26" name="Shape 24"/>
          <p:cNvSpPr/>
          <p:nvPr/>
        </p:nvSpPr>
        <p:spPr>
          <a:xfrm>
            <a:off x="4495800" y="3868241"/>
            <a:ext cx="603250" cy="190500"/>
          </a:xfrm>
          <a:prstGeom prst="roundRect">
            <a:avLst>
              <a:gd name="adj" fmla="val 20000"/>
            </a:avLst>
          </a:prstGeom>
          <a:solidFill>
            <a:srgbClr val="2A2FB0"/>
          </a:solidFill>
          <a:ln/>
        </p:spPr>
        <p:txBody>
          <a:bodyPr/>
          <a:lstStyle/>
          <a:p>
            <a:endParaRPr lang="tr-TR"/>
          </a:p>
        </p:txBody>
      </p:sp>
      <p:sp>
        <p:nvSpPr>
          <p:cNvPr id="27" name="Text 25"/>
          <p:cNvSpPr/>
          <p:nvPr/>
        </p:nvSpPr>
        <p:spPr>
          <a:xfrm>
            <a:off x="5226050" y="3847951"/>
            <a:ext cx="1003300"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00084"/>
                </a:solidFill>
                <a:latin typeface="Public Sans" pitchFamily="34" charset="0"/>
                <a:ea typeface="Public Sans" pitchFamily="34" charset="-122"/>
                <a:cs typeface="Public Sans" pitchFamily="34" charset="-120"/>
              </a:rPr>
              <a:t>50 USD</a:t>
            </a:r>
            <a:endParaRPr lang="en-US" sz="1300" dirty="0"/>
          </a:p>
        </p:txBody>
      </p:sp>
      <p:sp>
        <p:nvSpPr>
          <p:cNvPr id="28" name="Text 26"/>
          <p:cNvSpPr/>
          <p:nvPr/>
        </p:nvSpPr>
        <p:spPr>
          <a:xfrm>
            <a:off x="812800" y="4282281"/>
            <a:ext cx="2327731"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00084"/>
                </a:solidFill>
                <a:latin typeface="Public Sans" pitchFamily="34" charset="0"/>
                <a:ea typeface="Public Sans" pitchFamily="34" charset="-122"/>
                <a:cs typeface="Public Sans" pitchFamily="34" charset="-120"/>
              </a:rPr>
              <a:t>Planned total: 1,695 USD</a:t>
            </a:r>
            <a:endParaRPr lang="en-US" sz="1300" dirty="0"/>
          </a:p>
        </p:txBody>
      </p:sp>
      <p:sp>
        <p:nvSpPr>
          <p:cNvPr id="29" name="Text 27"/>
          <p:cNvSpPr/>
          <p:nvPr/>
        </p:nvSpPr>
        <p:spPr>
          <a:xfrm>
            <a:off x="9595108" y="4282281"/>
            <a:ext cx="1784092" cy="256530"/>
          </a:xfrm>
          <a:prstGeom prst="rect">
            <a:avLst/>
          </a:prstGeom>
          <a:noFill/>
          <a:ln/>
        </p:spPr>
        <p:txBody>
          <a:bodyPr wrap="square" lIns="0" tIns="0" rIns="0" bIns="0" rtlCol="0" anchor="t">
            <a:normAutofit/>
          </a:bodyPr>
          <a:lstStyle/>
          <a:p>
            <a:pPr marL="0" indent="0" algn="r">
              <a:lnSpc>
                <a:spcPts val="1820"/>
              </a:lnSpc>
              <a:buNone/>
            </a:pPr>
            <a:r>
              <a:rPr lang="en-US" sz="1300" b="1" dirty="0">
                <a:solidFill>
                  <a:srgbClr val="1B2432"/>
                </a:solidFill>
                <a:latin typeface="Public Sans" pitchFamily="34" charset="0"/>
                <a:ea typeface="Public Sans" pitchFamily="34" charset="-122"/>
                <a:cs typeface="Public Sans" pitchFamily="34" charset="-120"/>
              </a:rPr>
              <a:t>Budget: 2,000 USD</a:t>
            </a:r>
            <a:endParaRPr lang="en-US" sz="1300" dirty="0"/>
          </a:p>
        </p:txBody>
      </p:sp>
      <p:sp>
        <p:nvSpPr>
          <p:cNvPr id="30" name="Shape 28"/>
          <p:cNvSpPr/>
          <p:nvPr/>
        </p:nvSpPr>
        <p:spPr>
          <a:xfrm>
            <a:off x="812800" y="4564211"/>
            <a:ext cx="10566400" cy="254000"/>
          </a:xfrm>
          <a:prstGeom prst="roundRect">
            <a:avLst>
              <a:gd name="adj" fmla="val 20000"/>
            </a:avLst>
          </a:prstGeom>
          <a:solidFill>
            <a:srgbClr val="D9DBEE"/>
          </a:solidFill>
          <a:ln/>
        </p:spPr>
        <p:txBody>
          <a:bodyPr/>
          <a:lstStyle/>
          <a:p>
            <a:endParaRPr lang="tr-TR"/>
          </a:p>
        </p:txBody>
      </p:sp>
      <p:sp>
        <p:nvSpPr>
          <p:cNvPr id="31" name="Shape 29"/>
          <p:cNvSpPr/>
          <p:nvPr/>
        </p:nvSpPr>
        <p:spPr>
          <a:xfrm>
            <a:off x="812800" y="4564211"/>
            <a:ext cx="8953500" cy="254000"/>
          </a:xfrm>
          <a:custGeom>
            <a:avLst/>
            <a:gdLst/>
            <a:ahLst/>
            <a:cxnLst/>
            <a:rect l="l" t="t" r="r" b="b"/>
            <a:pathLst>
              <a:path w="8953500" h="254000">
                <a:moveTo>
                  <a:pt x="0" y="50800"/>
                </a:moveTo>
                <a:arcTo wR="50800" hR="50800" stAng="10800000" swAng="5400000"/>
                <a:lnTo>
                  <a:pt x="8953500" y="0"/>
                </a:lnTo>
                <a:lnTo>
                  <a:pt x="8953500" y="254000"/>
                </a:lnTo>
                <a:lnTo>
                  <a:pt x="50800" y="254000"/>
                </a:lnTo>
                <a:arcTo wR="50800" hR="50800" stAng="5400000" swAng="5400000"/>
                <a:close/>
              </a:path>
            </a:pathLst>
          </a:custGeom>
          <a:solidFill>
            <a:srgbClr val="000084"/>
          </a:solidFill>
          <a:ln/>
        </p:spPr>
        <p:txBody>
          <a:bodyPr/>
          <a:lstStyle/>
          <a:p>
            <a:endParaRPr lang="tr-TR"/>
          </a:p>
        </p:txBody>
      </p:sp>
      <p:sp>
        <p:nvSpPr>
          <p:cNvPr id="32" name="Shape 30"/>
          <p:cNvSpPr/>
          <p:nvPr/>
        </p:nvSpPr>
        <p:spPr>
          <a:xfrm>
            <a:off x="9766300" y="4564211"/>
            <a:ext cx="1612900" cy="254000"/>
          </a:xfrm>
          <a:custGeom>
            <a:avLst/>
            <a:gdLst/>
            <a:ahLst/>
            <a:cxnLst/>
            <a:rect l="l" t="t" r="r" b="b"/>
            <a:pathLst>
              <a:path w="1612900" h="254000">
                <a:moveTo>
                  <a:pt x="1562100" y="0"/>
                </a:moveTo>
                <a:arcTo wR="50800" hR="50800" stAng="16200000" swAng="5400000"/>
                <a:lnTo>
                  <a:pt x="1612900" y="203200"/>
                </a:lnTo>
                <a:arcTo wR="50800" hR="50800" stAng="0" swAng="5400000"/>
                <a:lnTo>
                  <a:pt x="0" y="254000"/>
                </a:lnTo>
                <a:lnTo>
                  <a:pt x="0" y="0"/>
                </a:lnTo>
                <a:close/>
              </a:path>
            </a:pathLst>
          </a:custGeom>
          <a:solidFill>
            <a:srgbClr val="E2B050"/>
          </a:solidFill>
          <a:ln/>
        </p:spPr>
        <p:txBody>
          <a:bodyPr/>
          <a:lstStyle/>
          <a:p>
            <a:endParaRPr lang="tr-TR"/>
          </a:p>
        </p:txBody>
      </p:sp>
      <p:sp>
        <p:nvSpPr>
          <p:cNvPr id="33" name="Text 31"/>
          <p:cNvSpPr/>
          <p:nvPr/>
        </p:nvSpPr>
        <p:spPr>
          <a:xfrm>
            <a:off x="812800" y="4869011"/>
            <a:ext cx="250239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75569"/>
                </a:solidFill>
                <a:latin typeface="Public Sans" pitchFamily="34" charset="0"/>
                <a:ea typeface="Public Sans" pitchFamily="34" charset="-122"/>
                <a:cs typeface="Public Sans" pitchFamily="34" charset="-120"/>
              </a:rPr>
              <a:t>85% of the budget is planned</a:t>
            </a:r>
            <a:endParaRPr lang="en-US" sz="1200" dirty="0"/>
          </a:p>
        </p:txBody>
      </p:sp>
      <p:sp>
        <p:nvSpPr>
          <p:cNvPr id="34" name="Text 32"/>
          <p:cNvSpPr/>
          <p:nvPr/>
        </p:nvSpPr>
        <p:spPr>
          <a:xfrm>
            <a:off x="8210768" y="4869011"/>
            <a:ext cx="3168432"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75569"/>
                </a:solidFill>
                <a:latin typeface="Public Sans" pitchFamily="34" charset="0"/>
                <a:ea typeface="Public Sans" pitchFamily="34" charset="-122"/>
                <a:cs typeface="Public Sans" pitchFamily="34" charset="-120"/>
              </a:rPr>
              <a:t>Reserve for surprises: 305 USD (15%)</a:t>
            </a:r>
            <a:endParaRPr lang="en-US" sz="1200" dirty="0"/>
          </a:p>
        </p:txBody>
      </p:sp>
      <p:sp>
        <p:nvSpPr>
          <p:cNvPr id="35" name="Text 33"/>
          <p:cNvSpPr/>
          <p:nvPr/>
        </p:nvSpPr>
        <p:spPr>
          <a:xfrm>
            <a:off x="812800" y="5285532"/>
            <a:ext cx="10883392"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B7A"/>
                </a:solidFill>
                <a:latin typeface="Public Sans" pitchFamily="34" charset="0"/>
                <a:ea typeface="Public Sans" pitchFamily="34" charset="-122"/>
                <a:cs typeface="Public Sans" pitchFamily="34" charset="-120"/>
              </a:rPr>
              <a:t>Estimates based on 2026 prices (Expedia, Kayak, Parks Canada, Klondike Experience, Booking.com). The international flight Istanbul – Vancouver (about 1,200 to 1,600 USD return) is not part of the 2,000 USD trip budget.</a:t>
            </a:r>
            <a:endParaRPr lang="en-US" sz="1200" dirty="0"/>
          </a:p>
        </p:txBody>
      </p:sp>
      <p:sp>
        <p:nvSpPr>
          <p:cNvPr id="36" name="Text 34"/>
          <p:cNvSpPr/>
          <p:nvPr/>
        </p:nvSpPr>
        <p:spPr>
          <a:xfrm>
            <a:off x="812800" y="6238280"/>
            <a:ext cx="470701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B7A"/>
                </a:solidFill>
                <a:latin typeface="Public Sans" pitchFamily="34" charset="0"/>
                <a:ea typeface="Public Sans" pitchFamily="34" charset="-122"/>
                <a:cs typeface="Public Sans" pitchFamily="34" charset="-120"/>
              </a:rPr>
              <a:t>The Klondike Gold Rush · Pertevniyal High School 159/E</a:t>
            </a:r>
            <a:endParaRPr lang="en-US" sz="1200" dirty="0"/>
          </a:p>
        </p:txBody>
      </p:sp>
      <p:sp>
        <p:nvSpPr>
          <p:cNvPr id="37" name="Text 35"/>
          <p:cNvSpPr/>
          <p:nvPr/>
        </p:nvSpPr>
        <p:spPr>
          <a:xfrm>
            <a:off x="10820400" y="6238280"/>
            <a:ext cx="558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F6B7A"/>
                </a:solidFill>
                <a:latin typeface="Public Sans" pitchFamily="34" charset="0"/>
                <a:ea typeface="Public Sans" pitchFamily="34" charset="-122"/>
                <a:cs typeface="Public Sans" pitchFamily="34" charset="-120"/>
              </a:rPr>
              <a:t>20</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2A2FB0"/>
        </a:solidFill>
        <a:effectLst/>
      </p:bgPr>
    </p:bg>
    <p:spTree>
      <p:nvGrpSpPr>
        <p:cNvPr id="1" name=""/>
        <p:cNvGrpSpPr/>
        <p:nvPr/>
      </p:nvGrpSpPr>
      <p:grpSpPr>
        <a:xfrm>
          <a:off x="0" y="0"/>
          <a:ext cx="0" cy="0"/>
          <a:chOff x="0" y="0"/>
          <a:chExt cx="0" cy="0"/>
        </a:xfrm>
      </p:grpSpPr>
      <p:sp>
        <p:nvSpPr>
          <p:cNvPr id="2" name="Text 0"/>
          <p:cNvSpPr/>
          <p:nvPr/>
        </p:nvSpPr>
        <p:spPr>
          <a:xfrm>
            <a:off x="812800" y="17297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E2B050"/>
                </a:solidFill>
                <a:latin typeface="Public Sans" pitchFamily="34" charset="0"/>
                <a:ea typeface="Public Sans" pitchFamily="34" charset="-122"/>
                <a:cs typeface="Public Sans" pitchFamily="34" charset="-120"/>
              </a:rPr>
              <a:t>BUDGET CHECK</a:t>
            </a:r>
            <a:endParaRPr lang="en-US" sz="1200" dirty="0"/>
          </a:p>
        </p:txBody>
      </p:sp>
      <p:sp>
        <p:nvSpPr>
          <p:cNvPr id="3" name="Text 1"/>
          <p:cNvSpPr/>
          <p:nvPr/>
        </p:nvSpPr>
        <p:spPr>
          <a:xfrm>
            <a:off x="812800" y="2197100"/>
            <a:ext cx="5323456" cy="1295400"/>
          </a:xfrm>
          <a:prstGeom prst="rect">
            <a:avLst/>
          </a:prstGeom>
          <a:noFill/>
          <a:ln/>
        </p:spPr>
        <p:txBody>
          <a:bodyPr wrap="none" lIns="0" tIns="0" rIns="0" bIns="0" rtlCol="0" anchor="t">
            <a:normAutofit/>
          </a:bodyPr>
          <a:lstStyle/>
          <a:p>
            <a:pPr marL="0" indent="0" algn="l">
              <a:lnSpc>
                <a:spcPts val="10000"/>
              </a:lnSpc>
              <a:buNone/>
            </a:pPr>
            <a:r>
              <a:rPr lang="en-US" sz="10000" b="1" dirty="0">
                <a:solidFill>
                  <a:srgbClr val="F4F7FB"/>
                </a:solidFill>
                <a:latin typeface="Oswald" pitchFamily="34" charset="0"/>
                <a:ea typeface="Oswald" pitchFamily="34" charset="-122"/>
                <a:cs typeface="Oswald" pitchFamily="34" charset="-120"/>
              </a:rPr>
              <a:t>1,695 USD</a:t>
            </a:r>
            <a:endParaRPr lang="en-US" sz="10000" dirty="0"/>
          </a:p>
        </p:txBody>
      </p:sp>
      <p:sp>
        <p:nvSpPr>
          <p:cNvPr id="4" name="Text 2"/>
          <p:cNvSpPr/>
          <p:nvPr/>
        </p:nvSpPr>
        <p:spPr>
          <a:xfrm>
            <a:off x="6286004" y="2360960"/>
            <a:ext cx="5245992" cy="342900"/>
          </a:xfrm>
          <a:prstGeom prst="rect">
            <a:avLst/>
          </a:prstGeom>
          <a:noFill/>
          <a:ln/>
        </p:spPr>
        <p:txBody>
          <a:bodyPr wrap="square" lIns="0" tIns="0" rIns="0" bIns="0" rtlCol="0" anchor="t">
            <a:normAutofit/>
          </a:bodyPr>
          <a:lstStyle/>
          <a:p>
            <a:pPr marL="0" indent="0" algn="l">
              <a:lnSpc>
                <a:spcPts val="2500"/>
              </a:lnSpc>
              <a:buNone/>
            </a:pPr>
            <a:r>
              <a:rPr lang="en-US" sz="2000" b="1" dirty="0">
                <a:solidFill>
                  <a:srgbClr val="F4F7FB"/>
                </a:solidFill>
                <a:latin typeface="Public Sans" pitchFamily="34" charset="0"/>
                <a:ea typeface="Public Sans" pitchFamily="34" charset="-122"/>
                <a:cs typeface="Public Sans" pitchFamily="34" charset="-120"/>
              </a:rPr>
              <a:t>per person for five days in the Klondike</a:t>
            </a:r>
            <a:endParaRPr lang="en-US" sz="2000" dirty="0"/>
          </a:p>
        </p:txBody>
      </p:sp>
      <p:sp>
        <p:nvSpPr>
          <p:cNvPr id="5" name="Text 3"/>
          <p:cNvSpPr/>
          <p:nvPr/>
        </p:nvSpPr>
        <p:spPr>
          <a:xfrm>
            <a:off x="6286004" y="2754660"/>
            <a:ext cx="5245992" cy="573980"/>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C7D4E8"/>
                </a:solidFill>
                <a:latin typeface="Public Sans" pitchFamily="34" charset="0"/>
                <a:ea typeface="Public Sans" pitchFamily="34" charset="-122"/>
                <a:cs typeface="Public Sans" pitchFamily="34" charset="-120"/>
              </a:rPr>
              <a:t>That is 305 USD under our 2,000 USD budget, with money left for a real gold nugget souvenir.</a:t>
            </a:r>
            <a:endParaRPr lang="en-US" sz="1600" dirty="0"/>
          </a:p>
        </p:txBody>
      </p:sp>
      <p:sp>
        <p:nvSpPr>
          <p:cNvPr id="6" name="Shape 4"/>
          <p:cNvSpPr/>
          <p:nvPr/>
        </p:nvSpPr>
        <p:spPr>
          <a:xfrm>
            <a:off x="812800" y="3721100"/>
            <a:ext cx="3386634" cy="1407120"/>
          </a:xfrm>
          <a:prstGeom prst="roundRect">
            <a:avLst>
              <a:gd name="adj" fmla="val 7220"/>
            </a:avLst>
          </a:prstGeom>
          <a:solidFill>
            <a:srgbClr val="000084"/>
          </a:solidFill>
          <a:ln/>
        </p:spPr>
        <p:txBody>
          <a:bodyPr/>
          <a:lstStyle/>
          <a:p>
            <a:endParaRPr lang="tr-TR"/>
          </a:p>
        </p:txBody>
      </p:sp>
      <p:sp>
        <p:nvSpPr>
          <p:cNvPr id="7" name="Text 5"/>
          <p:cNvSpPr/>
          <p:nvPr/>
        </p:nvSpPr>
        <p:spPr>
          <a:xfrm>
            <a:off x="1016000" y="3924300"/>
            <a:ext cx="3069641"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E2B050"/>
                </a:solidFill>
                <a:latin typeface="Public Sans" pitchFamily="34" charset="0"/>
                <a:ea typeface="Public Sans" pitchFamily="34" charset="-122"/>
                <a:cs typeface="Public Sans" pitchFamily="34" charset="-120"/>
              </a:rPr>
              <a:t>Book early</a:t>
            </a:r>
            <a:endParaRPr lang="en-US" sz="1600" dirty="0"/>
          </a:p>
        </p:txBody>
      </p:sp>
      <p:sp>
        <p:nvSpPr>
          <p:cNvPr id="8" name="Text 6"/>
          <p:cNvSpPr/>
          <p:nvPr/>
        </p:nvSpPr>
        <p:spPr>
          <a:xfrm>
            <a:off x="1016000" y="4231630"/>
            <a:ext cx="3069641" cy="71879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4F7FB"/>
                </a:solidFill>
                <a:latin typeface="Public Sans" pitchFamily="34" charset="0"/>
                <a:ea typeface="Public Sans" pitchFamily="34" charset="-122"/>
                <a:cs typeface="Public Sans" pitchFamily="34" charset="-120"/>
              </a:rPr>
              <a:t>Flights and the hostel 4 to 5 months ahead. Discovery Days weekend sells out and prices rise.</a:t>
            </a:r>
            <a:endParaRPr lang="en-US" sz="1300" dirty="0"/>
          </a:p>
        </p:txBody>
      </p:sp>
      <p:sp>
        <p:nvSpPr>
          <p:cNvPr id="9" name="Shape 7"/>
          <p:cNvSpPr/>
          <p:nvPr/>
        </p:nvSpPr>
        <p:spPr>
          <a:xfrm>
            <a:off x="4402634" y="3721100"/>
            <a:ext cx="3386683" cy="1407120"/>
          </a:xfrm>
          <a:prstGeom prst="roundRect">
            <a:avLst>
              <a:gd name="adj" fmla="val 7220"/>
            </a:avLst>
          </a:prstGeom>
          <a:solidFill>
            <a:srgbClr val="000084"/>
          </a:solidFill>
          <a:ln/>
        </p:spPr>
        <p:txBody>
          <a:bodyPr/>
          <a:lstStyle/>
          <a:p>
            <a:endParaRPr lang="tr-TR"/>
          </a:p>
        </p:txBody>
      </p:sp>
      <p:sp>
        <p:nvSpPr>
          <p:cNvPr id="10" name="Text 8"/>
          <p:cNvSpPr/>
          <p:nvPr/>
        </p:nvSpPr>
        <p:spPr>
          <a:xfrm>
            <a:off x="4605834" y="3924300"/>
            <a:ext cx="3069692"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E2B050"/>
                </a:solidFill>
                <a:latin typeface="Public Sans" pitchFamily="34" charset="0"/>
                <a:ea typeface="Public Sans" pitchFamily="34" charset="-122"/>
                <a:cs typeface="Public Sans" pitchFamily="34" charset="-120"/>
              </a:rPr>
              <a:t>Share and cook</a:t>
            </a:r>
            <a:endParaRPr lang="en-US" sz="1600" dirty="0"/>
          </a:p>
        </p:txBody>
      </p:sp>
      <p:sp>
        <p:nvSpPr>
          <p:cNvPr id="11" name="Text 9"/>
          <p:cNvSpPr/>
          <p:nvPr/>
        </p:nvSpPr>
        <p:spPr>
          <a:xfrm>
            <a:off x="4605834" y="4231630"/>
            <a:ext cx="3069692" cy="71879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4F7FB"/>
                </a:solidFill>
                <a:latin typeface="Public Sans" pitchFamily="34" charset="0"/>
                <a:ea typeface="Public Sans" pitchFamily="34" charset="-122"/>
                <a:cs typeface="Public Sans" pitchFamily="34" charset="-120"/>
              </a:rPr>
              <a:t>One room for three and breakfast from the grocery store keep the daily cost low.</a:t>
            </a:r>
            <a:endParaRPr lang="en-US" sz="1300" dirty="0"/>
          </a:p>
        </p:txBody>
      </p:sp>
      <p:sp>
        <p:nvSpPr>
          <p:cNvPr id="12" name="Shape 10"/>
          <p:cNvSpPr/>
          <p:nvPr/>
        </p:nvSpPr>
        <p:spPr>
          <a:xfrm>
            <a:off x="7992517" y="3721100"/>
            <a:ext cx="3386683" cy="1407120"/>
          </a:xfrm>
          <a:prstGeom prst="roundRect">
            <a:avLst>
              <a:gd name="adj" fmla="val 7220"/>
            </a:avLst>
          </a:prstGeom>
          <a:solidFill>
            <a:srgbClr val="000084"/>
          </a:solidFill>
          <a:ln/>
        </p:spPr>
        <p:txBody>
          <a:bodyPr/>
          <a:lstStyle/>
          <a:p>
            <a:endParaRPr lang="tr-TR"/>
          </a:p>
        </p:txBody>
      </p:sp>
      <p:sp>
        <p:nvSpPr>
          <p:cNvPr id="13" name="Text 11"/>
          <p:cNvSpPr/>
          <p:nvPr/>
        </p:nvSpPr>
        <p:spPr>
          <a:xfrm>
            <a:off x="8195717" y="3924300"/>
            <a:ext cx="3069692"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E2B050"/>
                </a:solidFill>
                <a:latin typeface="Public Sans" pitchFamily="34" charset="0"/>
                <a:ea typeface="Public Sans" pitchFamily="34" charset="-122"/>
                <a:cs typeface="Public Sans" pitchFamily="34" charset="-120"/>
              </a:rPr>
              <a:t>Enjoy the free things</a:t>
            </a:r>
            <a:endParaRPr lang="en-US" sz="1600" dirty="0"/>
          </a:p>
        </p:txBody>
      </p:sp>
      <p:sp>
        <p:nvSpPr>
          <p:cNvPr id="14" name="Text 12"/>
          <p:cNvSpPr/>
          <p:nvPr/>
        </p:nvSpPr>
        <p:spPr>
          <a:xfrm>
            <a:off x="8195717" y="4231630"/>
            <a:ext cx="3069692" cy="71879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4F7FB"/>
                </a:solidFill>
                <a:latin typeface="Public Sans" pitchFamily="34" charset="0"/>
                <a:ea typeface="Public Sans" pitchFamily="34" charset="-122"/>
                <a:cs typeface="Public Sans" pitchFamily="34" charset="-120"/>
              </a:rPr>
              <a:t>The parade, the ferry, Discovery Claim, Free Claim No. 6 and the view from the Dome cost nothing.</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3F4F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A2FB0"/>
                </a:solidFill>
                <a:latin typeface="Public Sans" pitchFamily="34" charset="0"/>
                <a:ea typeface="Public Sans" pitchFamily="34" charset="-122"/>
                <a:cs typeface="Public Sans" pitchFamily="34" charset="-120"/>
              </a:rPr>
              <a:t>SOURCES</a:t>
            </a:r>
            <a:endParaRPr lang="en-US" sz="1200" dirty="0"/>
          </a:p>
        </p:txBody>
      </p:sp>
      <p:sp>
        <p:nvSpPr>
          <p:cNvPr id="3" name="Text 1"/>
          <p:cNvSpPr>
            <a:spLocks noGrp="1"/>
          </p:cNvSpPr>
          <p:nvPr>
            <p:ph type="title"/>
          </p:nvPr>
        </p:nvSpPr>
        <p:spPr>
          <a:xfrm>
            <a:off x="812800" y="1102320"/>
            <a:ext cx="10883392" cy="505420"/>
          </a:xfrm>
          <a:prstGeom prst="rect">
            <a:avLst/>
          </a:prstGeom>
          <a:noFill/>
          <a:ln/>
        </p:spPr>
        <p:txBody>
          <a:bodyPr wrap="square" lIns="0" tIns="0" rIns="0" bIns="0" rtlCol="0" anchor="t">
            <a:normAutofit/>
          </a:bodyPr>
          <a:lstStyle/>
          <a:p>
            <a:pPr marL="0" indent="0" algn="l">
              <a:lnSpc>
                <a:spcPts val="3780"/>
              </a:lnSpc>
              <a:buNone/>
            </a:pPr>
            <a:r>
              <a:rPr lang="en-US" sz="3600" b="0" i="0" dirty="0">
                <a:solidFill>
                  <a:srgbClr val="000084"/>
                </a:solidFill>
                <a:latin typeface="Oswald" pitchFamily="34" charset="0"/>
                <a:ea typeface="Oswald" pitchFamily="34" charset="-122"/>
                <a:cs typeface="Oswald" pitchFamily="34" charset="-120"/>
              </a:rPr>
              <a:t>Where Our Information Comes From</a:t>
            </a:r>
            <a:endParaRPr lang="en-US" sz="3600" dirty="0"/>
          </a:p>
        </p:txBody>
      </p:sp>
      <p:sp>
        <p:nvSpPr>
          <p:cNvPr id="4" name="Shape 2"/>
          <p:cNvSpPr/>
          <p:nvPr/>
        </p:nvSpPr>
        <p:spPr>
          <a:xfrm>
            <a:off x="815975" y="1839516"/>
            <a:ext cx="5124450" cy="3790801"/>
          </a:xfrm>
          <a:prstGeom prst="roundRect">
            <a:avLst>
              <a:gd name="adj" fmla="val 2596"/>
            </a:avLst>
          </a:prstGeom>
          <a:solidFill>
            <a:srgbClr val="FBFCFE"/>
          </a:solidFill>
          <a:ln w="6350">
            <a:solidFill>
              <a:srgbClr val="D9DBEE"/>
            </a:solidFill>
            <a:prstDash val="solid"/>
          </a:ln>
        </p:spPr>
        <p:txBody>
          <a:bodyPr/>
          <a:lstStyle/>
          <a:p>
            <a:endParaRPr lang="tr-TR"/>
          </a:p>
        </p:txBody>
      </p:sp>
      <p:sp>
        <p:nvSpPr>
          <p:cNvPr id="5" name="Text 3"/>
          <p:cNvSpPr/>
          <p:nvPr/>
        </p:nvSpPr>
        <p:spPr>
          <a:xfrm>
            <a:off x="1047750" y="2071291"/>
            <a:ext cx="4800727"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A2FB0"/>
                </a:solidFill>
                <a:latin typeface="Public Sans" pitchFamily="34" charset="0"/>
                <a:ea typeface="Public Sans" pitchFamily="34" charset="-122"/>
                <a:cs typeface="Public Sans" pitchFamily="34" charset="-120"/>
              </a:rPr>
              <a:t>HISTORY</a:t>
            </a:r>
            <a:endParaRPr lang="en-US" sz="1200" dirty="0"/>
          </a:p>
        </p:txBody>
      </p:sp>
      <p:sp>
        <p:nvSpPr>
          <p:cNvPr id="6" name="Text 4"/>
          <p:cNvSpPr/>
          <p:nvPr/>
        </p:nvSpPr>
        <p:spPr>
          <a:xfrm>
            <a:off x="1047750" y="2398911"/>
            <a:ext cx="4800727"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B2432"/>
                </a:solidFill>
                <a:latin typeface="Public Sans" pitchFamily="34" charset="0"/>
                <a:ea typeface="Public Sans" pitchFamily="34" charset="-122"/>
                <a:cs typeface="Public Sans" pitchFamily="34" charset="-120"/>
              </a:rPr>
              <a:t>HISTORY.com, “Klondike Gold Rush” (history.com)</a:t>
            </a:r>
            <a:endParaRPr lang="en-US" sz="1300" dirty="0"/>
          </a:p>
        </p:txBody>
      </p:sp>
      <p:sp>
        <p:nvSpPr>
          <p:cNvPr id="7" name="Text 5"/>
          <p:cNvSpPr/>
          <p:nvPr/>
        </p:nvSpPr>
        <p:spPr>
          <a:xfrm>
            <a:off x="1047750" y="2744341"/>
            <a:ext cx="4800727" cy="71879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B2432"/>
                </a:solidFill>
                <a:latin typeface="Public Sans" pitchFamily="34" charset="0"/>
                <a:ea typeface="Public Sans" pitchFamily="34" charset="-122"/>
                <a:cs typeface="Public Sans" pitchFamily="34" charset="-120"/>
              </a:rPr>
              <a:t>Parks Canada, Klondike National Historic Sites: Dredge No. 4, Discovery Claim, S.S. Keno, fees and tours (parks.canada.ca)</a:t>
            </a:r>
            <a:endParaRPr lang="en-US" sz="1300" dirty="0"/>
          </a:p>
        </p:txBody>
      </p:sp>
      <p:sp>
        <p:nvSpPr>
          <p:cNvPr id="8" name="Text 6"/>
          <p:cNvSpPr/>
          <p:nvPr/>
        </p:nvSpPr>
        <p:spPr>
          <a:xfrm>
            <a:off x="1047750" y="3552031"/>
            <a:ext cx="4800727" cy="4876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B2432"/>
                </a:solidFill>
                <a:latin typeface="Public Sans" pitchFamily="34" charset="0"/>
                <a:ea typeface="Public Sans" pitchFamily="34" charset="-122"/>
                <a:cs typeface="Public Sans" pitchFamily="34" charset="-120"/>
              </a:rPr>
              <a:t>UNESCO World Heritage List, “Tr’ondëk-Klondike” (whc.unesco.org)</a:t>
            </a:r>
            <a:endParaRPr lang="en-US" sz="1300" dirty="0"/>
          </a:p>
        </p:txBody>
      </p:sp>
      <p:sp>
        <p:nvSpPr>
          <p:cNvPr id="9" name="Text 7"/>
          <p:cNvSpPr/>
          <p:nvPr/>
        </p:nvSpPr>
        <p:spPr>
          <a:xfrm>
            <a:off x="1047750" y="4128591"/>
            <a:ext cx="4889500"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B2432"/>
                </a:solidFill>
                <a:latin typeface="Public Sans" pitchFamily="34" charset="0"/>
                <a:ea typeface="Public Sans" pitchFamily="34" charset="-122"/>
                <a:cs typeface="Public Sans" pitchFamily="34" charset="-120"/>
              </a:rPr>
              <a:t>Ruby Range Adventure, “Gold Rush History” (rubyrange.com)</a:t>
            </a:r>
            <a:endParaRPr lang="en-US" sz="1300" dirty="0"/>
          </a:p>
        </p:txBody>
      </p:sp>
      <p:sp>
        <p:nvSpPr>
          <p:cNvPr id="10" name="Text 8"/>
          <p:cNvSpPr/>
          <p:nvPr/>
        </p:nvSpPr>
        <p:spPr>
          <a:xfrm>
            <a:off x="1047750" y="4474021"/>
            <a:ext cx="4800727" cy="4876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B2432"/>
                </a:solidFill>
                <a:latin typeface="Public Sans" pitchFamily="34" charset="0"/>
                <a:ea typeface="Public Sans" pitchFamily="34" charset="-122"/>
                <a:cs typeface="Public Sans" pitchFamily="34" charset="-120"/>
              </a:rPr>
              <a:t>Wikipedia, “Klondike Gold Rush” and “Dawson City” (en.wikipedia.org)</a:t>
            </a:r>
            <a:endParaRPr lang="en-US" sz="1300" dirty="0"/>
          </a:p>
        </p:txBody>
      </p:sp>
      <p:sp>
        <p:nvSpPr>
          <p:cNvPr id="11" name="Shape 9"/>
          <p:cNvSpPr/>
          <p:nvPr/>
        </p:nvSpPr>
        <p:spPr>
          <a:xfrm>
            <a:off x="6251575" y="1839516"/>
            <a:ext cx="5124450" cy="3790801"/>
          </a:xfrm>
          <a:prstGeom prst="roundRect">
            <a:avLst>
              <a:gd name="adj" fmla="val 2596"/>
            </a:avLst>
          </a:prstGeom>
          <a:solidFill>
            <a:srgbClr val="FBFCFE"/>
          </a:solidFill>
          <a:ln w="6350">
            <a:solidFill>
              <a:srgbClr val="D9DBEE"/>
            </a:solidFill>
            <a:prstDash val="solid"/>
          </a:ln>
        </p:spPr>
        <p:txBody>
          <a:bodyPr/>
          <a:lstStyle/>
          <a:p>
            <a:endParaRPr lang="tr-TR"/>
          </a:p>
        </p:txBody>
      </p:sp>
      <p:sp>
        <p:nvSpPr>
          <p:cNvPr id="12" name="Text 10"/>
          <p:cNvSpPr/>
          <p:nvPr/>
        </p:nvSpPr>
        <p:spPr>
          <a:xfrm>
            <a:off x="6483350" y="2071291"/>
            <a:ext cx="4800727"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A2FB0"/>
                </a:solidFill>
                <a:latin typeface="Public Sans" pitchFamily="34" charset="0"/>
                <a:ea typeface="Public Sans" pitchFamily="34" charset="-122"/>
                <a:cs typeface="Public Sans" pitchFamily="34" charset="-120"/>
              </a:rPr>
              <a:t>TRIP PLANNING</a:t>
            </a:r>
            <a:endParaRPr lang="en-US" sz="1200" dirty="0"/>
          </a:p>
        </p:txBody>
      </p:sp>
      <p:sp>
        <p:nvSpPr>
          <p:cNvPr id="13" name="Text 11"/>
          <p:cNvSpPr/>
          <p:nvPr/>
        </p:nvSpPr>
        <p:spPr>
          <a:xfrm>
            <a:off x="6483350" y="2398911"/>
            <a:ext cx="4800727" cy="4876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B2432"/>
                </a:solidFill>
                <a:latin typeface="Public Sans" pitchFamily="34" charset="0"/>
                <a:ea typeface="Public Sans" pitchFamily="34" charset="-122"/>
                <a:cs typeface="Public Sans" pitchFamily="34" charset="-120"/>
              </a:rPr>
              <a:t>Travel Yukon, Dawson City and Discovery Days pages (travelyukon.com)</a:t>
            </a:r>
            <a:endParaRPr lang="en-US" sz="1300" dirty="0"/>
          </a:p>
        </p:txBody>
      </p:sp>
      <p:sp>
        <p:nvSpPr>
          <p:cNvPr id="14" name="Text 12"/>
          <p:cNvSpPr/>
          <p:nvPr/>
        </p:nvSpPr>
        <p:spPr>
          <a:xfrm>
            <a:off x="6483350" y="2975471"/>
            <a:ext cx="4800727" cy="71879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B2432"/>
                </a:solidFill>
                <a:latin typeface="Public Sans" pitchFamily="34" charset="0"/>
                <a:ea typeface="Public Sans" pitchFamily="34" charset="-122"/>
                <a:cs typeface="Public Sans" pitchFamily="34" charset="-120"/>
              </a:rPr>
              <a:t>The Klondike Experience, tours and transport (klondikeexperience.com); Yukon News, Discovery Days reports</a:t>
            </a:r>
            <a:endParaRPr lang="en-US" sz="1300" dirty="0"/>
          </a:p>
        </p:txBody>
      </p:sp>
      <p:sp>
        <p:nvSpPr>
          <p:cNvPr id="15" name="Text 13"/>
          <p:cNvSpPr/>
          <p:nvPr/>
        </p:nvSpPr>
        <p:spPr>
          <a:xfrm>
            <a:off x="6483350" y="3783161"/>
            <a:ext cx="4800727" cy="4876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B2432"/>
                </a:solidFill>
                <a:latin typeface="Public Sans" pitchFamily="34" charset="0"/>
                <a:ea typeface="Public Sans" pitchFamily="34" charset="-122"/>
                <a:cs typeface="Public Sans" pitchFamily="34" charset="-120"/>
              </a:rPr>
              <a:t>Air North, Expedia and Kayak flight prices; Booking.com and Kayak hotel prices (searched October 2026)</a:t>
            </a:r>
            <a:endParaRPr lang="en-US" sz="1300" dirty="0"/>
          </a:p>
        </p:txBody>
      </p:sp>
      <p:sp>
        <p:nvSpPr>
          <p:cNvPr id="16" name="Text 14"/>
          <p:cNvSpPr/>
          <p:nvPr/>
        </p:nvSpPr>
        <p:spPr>
          <a:xfrm>
            <a:off x="6483350" y="4359721"/>
            <a:ext cx="4800727" cy="4876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B2432"/>
                </a:solidFill>
                <a:latin typeface="Public Sans" pitchFamily="34" charset="0"/>
                <a:ea typeface="Public Sans" pitchFamily="34" charset="-122"/>
                <a:cs typeface="Public Sans" pitchFamily="34" charset="-120"/>
              </a:rPr>
              <a:t>Environment Canada climate normals for Dawson, 1981–2010 (via currentresults.com)</a:t>
            </a:r>
            <a:endParaRPr lang="en-US" sz="1300" dirty="0"/>
          </a:p>
        </p:txBody>
      </p:sp>
      <p:sp>
        <p:nvSpPr>
          <p:cNvPr id="17" name="Text 15"/>
          <p:cNvSpPr/>
          <p:nvPr/>
        </p:nvSpPr>
        <p:spPr>
          <a:xfrm>
            <a:off x="6483350" y="4936282"/>
            <a:ext cx="4800727" cy="4876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B2432"/>
                </a:solidFill>
                <a:latin typeface="Public Sans" pitchFamily="34" charset="0"/>
                <a:ea typeface="Public Sans" pitchFamily="34" charset="-122"/>
                <a:cs typeface="Public Sans" pitchFamily="34" charset="-120"/>
              </a:rPr>
              <a:t>Maps: drawn for this presentation with Basemap, GSHHG coastlines and Natural Earth shaded relief</a:t>
            </a:r>
            <a:endParaRPr lang="en-US" sz="1300" dirty="0"/>
          </a:p>
        </p:txBody>
      </p:sp>
      <p:sp>
        <p:nvSpPr>
          <p:cNvPr id="18" name="Text 16"/>
          <p:cNvSpPr/>
          <p:nvPr/>
        </p:nvSpPr>
        <p:spPr>
          <a:xfrm>
            <a:off x="812800" y="6238280"/>
            <a:ext cx="470701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B7A"/>
                </a:solidFill>
                <a:latin typeface="Public Sans" pitchFamily="34" charset="0"/>
                <a:ea typeface="Public Sans" pitchFamily="34" charset="-122"/>
                <a:cs typeface="Public Sans" pitchFamily="34" charset="-120"/>
              </a:rPr>
              <a:t>The Klondike Gold Rush · Pertevniyal High School 159/E</a:t>
            </a:r>
            <a:endParaRPr lang="en-US" sz="1200" dirty="0"/>
          </a:p>
        </p:txBody>
      </p:sp>
      <p:sp>
        <p:nvSpPr>
          <p:cNvPr id="19" name="Text 17"/>
          <p:cNvSpPr/>
          <p:nvPr/>
        </p:nvSpPr>
        <p:spPr>
          <a:xfrm>
            <a:off x="10820400" y="6238280"/>
            <a:ext cx="558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F6B7A"/>
                </a:solidFill>
                <a:latin typeface="Public Sans" pitchFamily="34" charset="0"/>
                <a:ea typeface="Public Sans" pitchFamily="34" charset="-122"/>
                <a:cs typeface="Public Sans" pitchFamily="34" charset="-120"/>
              </a:rPr>
              <a:t>22</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00084"/>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E2B050"/>
                </a:solidFill>
                <a:latin typeface="Public Sans" pitchFamily="34" charset="0"/>
                <a:ea typeface="Public Sans" pitchFamily="34" charset="-122"/>
                <a:cs typeface="Public Sans" pitchFamily="34" charset="-120"/>
              </a:rPr>
              <a:t>THE KLONDIKE GOLD RUSH · DAWSON CITY, YUKON</a:t>
            </a:r>
            <a:endParaRPr lang="en-US" sz="1200" dirty="0"/>
          </a:p>
        </p:txBody>
      </p:sp>
      <p:sp>
        <p:nvSpPr>
          <p:cNvPr id="3" name="Text 1"/>
          <p:cNvSpPr>
            <a:spLocks noGrp="1"/>
          </p:cNvSpPr>
          <p:nvPr>
            <p:ph type="title"/>
          </p:nvPr>
        </p:nvSpPr>
        <p:spPr>
          <a:xfrm>
            <a:off x="812800" y="1203920"/>
            <a:ext cx="10883392" cy="1041400"/>
          </a:xfrm>
          <a:prstGeom prst="rect">
            <a:avLst/>
          </a:prstGeom>
          <a:noFill/>
          <a:ln/>
        </p:spPr>
        <p:txBody>
          <a:bodyPr wrap="square" lIns="0" tIns="0" rIns="0" bIns="0" rtlCol="0" anchor="t">
            <a:normAutofit/>
          </a:bodyPr>
          <a:lstStyle/>
          <a:p>
            <a:pPr marL="0" indent="0" algn="l">
              <a:lnSpc>
                <a:spcPts val="8000"/>
              </a:lnSpc>
              <a:buNone/>
            </a:pPr>
            <a:r>
              <a:rPr lang="en-US" sz="8000" b="1" i="0" dirty="0">
                <a:solidFill>
                  <a:srgbClr val="F4F7FB"/>
                </a:solidFill>
                <a:latin typeface="Oswald" pitchFamily="34" charset="0"/>
                <a:ea typeface="Oswald" pitchFamily="34" charset="-122"/>
                <a:cs typeface="Oswald" pitchFamily="34" charset="-120"/>
              </a:rPr>
              <a:t>Thank you!</a:t>
            </a:r>
            <a:endParaRPr lang="en-US" sz="8000" dirty="0"/>
          </a:p>
        </p:txBody>
      </p:sp>
      <p:sp>
        <p:nvSpPr>
          <p:cNvPr id="4" name="Text 2"/>
          <p:cNvSpPr/>
          <p:nvPr/>
        </p:nvSpPr>
        <p:spPr>
          <a:xfrm>
            <a:off x="812800" y="2397720"/>
            <a:ext cx="10883392" cy="36066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E2B050"/>
                </a:solidFill>
                <a:latin typeface="Public Sans" pitchFamily="34" charset="0"/>
                <a:ea typeface="Public Sans" pitchFamily="34" charset="-122"/>
                <a:cs typeface="Public Sans" pitchFamily="34" charset="-120"/>
              </a:rPr>
              <a:t>Any questions?</a:t>
            </a:r>
            <a:endParaRPr lang="en-US" sz="2200" dirty="0"/>
          </a:p>
        </p:txBody>
      </p:sp>
      <p:sp>
        <p:nvSpPr>
          <p:cNvPr id="5" name="Text 3"/>
          <p:cNvSpPr/>
          <p:nvPr/>
        </p:nvSpPr>
        <p:spPr>
          <a:xfrm>
            <a:off x="812800" y="2910780"/>
            <a:ext cx="7194550" cy="594320"/>
          </a:xfrm>
          <a:prstGeom prst="rect">
            <a:avLst/>
          </a:prstGeom>
          <a:noFill/>
          <a:ln/>
        </p:spPr>
        <p:txBody>
          <a:bodyPr wrap="square" lIns="0" tIns="0" rIns="0" bIns="0" rtlCol="0" anchor="t">
            <a:normAutofit/>
          </a:bodyPr>
          <a:lstStyle/>
          <a:p>
            <a:pPr marL="0" indent="0" algn="l">
              <a:lnSpc>
                <a:spcPts val="2240"/>
              </a:lnSpc>
              <a:buNone/>
            </a:pPr>
            <a:r>
              <a:rPr lang="en-US" sz="1600" i="1" dirty="0">
                <a:solidFill>
                  <a:srgbClr val="C7D4E8"/>
                </a:solidFill>
                <a:latin typeface="Public Sans" pitchFamily="34" charset="0"/>
                <a:ea typeface="Public Sans" pitchFamily="34" charset="-122"/>
                <a:cs typeface="Public Sans" pitchFamily="34" charset="-120"/>
              </a:rPr>
              <a:t>Mähsį’</a:t>
            </a:r>
            <a:r>
              <a:rPr lang="en-US" sz="1600" dirty="0">
                <a:solidFill>
                  <a:srgbClr val="C7D4E8"/>
                </a:solidFill>
                <a:latin typeface="Public Sans" pitchFamily="34" charset="0"/>
                <a:ea typeface="Public Sans" pitchFamily="34" charset="-122"/>
                <a:cs typeface="Public Sans" pitchFamily="34" charset="-120"/>
              </a:rPr>
              <a:t> – “thank you” in the Hän language of the Tr’ondëk Hwëch’in, the first people of Dawson City.</a:t>
            </a:r>
            <a:endParaRPr lang="en-US" sz="1600" dirty="0"/>
          </a:p>
        </p:txBody>
      </p:sp>
      <p:sp>
        <p:nvSpPr>
          <p:cNvPr id="7" name="Text 4"/>
          <p:cNvSpPr/>
          <p:nvPr/>
        </p:nvSpPr>
        <p:spPr>
          <a:xfrm>
            <a:off x="1828800" y="5363220"/>
            <a:ext cx="9836912" cy="274290"/>
          </a:xfrm>
          <a:prstGeom prst="rect">
            <a:avLst/>
          </a:prstGeom>
          <a:noFill/>
          <a:ln/>
        </p:spPr>
        <p:txBody>
          <a:bodyPr wrap="square" lIns="0" tIns="0" rIns="0" bIns="0" rtlCol="0" anchor="t">
            <a:normAutofit/>
          </a:bodyPr>
          <a:lstStyle/>
          <a:p>
            <a:pPr marL="0" indent="0" algn="l">
              <a:lnSpc>
                <a:spcPts val="1960"/>
              </a:lnSpc>
              <a:buNone/>
            </a:pPr>
            <a:endParaRPr lang="en-US" sz="1400" dirty="0"/>
          </a:p>
        </p:txBody>
      </p:sp>
      <p:sp>
        <p:nvSpPr>
          <p:cNvPr id="8" name="Text 5"/>
          <p:cNvSpPr/>
          <p:nvPr/>
        </p:nvSpPr>
        <p:spPr>
          <a:xfrm>
            <a:off x="1828800" y="5675610"/>
            <a:ext cx="9836912" cy="238720"/>
          </a:xfrm>
          <a:prstGeom prst="rect">
            <a:avLst/>
          </a:prstGeom>
          <a:noFill/>
          <a:ln/>
        </p:spPr>
        <p:txBody>
          <a:bodyPr wrap="square" lIns="0" tIns="0" rIns="0" bIns="0" rtlCol="0" anchor="t">
            <a:normAutofit/>
          </a:bodyPr>
          <a:lstStyle/>
          <a:p>
            <a:pPr marL="0" indent="0" algn="l">
              <a:lnSpc>
                <a:spcPts val="1680"/>
              </a:lnSpc>
              <a:buNone/>
            </a:pPr>
            <a:endParaRPr lang="en-US" sz="1200" dirty="0"/>
          </a:p>
        </p:txBody>
      </p:sp>
    </p:spTree>
  </p:cSld>
  <p:clrMapOvr>
    <a:masterClrMapping/>
  </p:clrMapOvr>
</p:sld>
</file>

<file path=ppt/theme/theme1.xml><?xml version="1.0" encoding="utf-8"?>
<a:theme xmlns:a="http://schemas.openxmlformats.org/drawingml/2006/main" name="The Klondike Gold Rush">
  <a:themeElements>
    <a:clrScheme name="The Klondike Gold Rush">
      <a:dk1>
        <a:srgbClr val="000084"/>
      </a:dk1>
      <a:lt1>
        <a:srgbClr val="F3F4FA"/>
      </a:lt1>
      <a:dk2>
        <a:srgbClr val="3D3DA2"/>
      </a:dk2>
      <a:lt2>
        <a:srgbClr val="DBDCEE"/>
      </a:lt2>
      <a:accent1>
        <a:srgbClr val="2A2FB0"/>
      </a:accent1>
      <a:accent2>
        <a:srgbClr val="E2B050"/>
      </a:accent2>
      <a:accent3>
        <a:srgbClr val="2F6F7E"/>
      </a:accent3>
      <a:accent4>
        <a:srgbClr val="00003C"/>
      </a:accent4>
      <a:accent5>
        <a:srgbClr val="B23A2E"/>
      </a:accent5>
      <a:accent6>
        <a:srgbClr val="7F5D18"/>
      </a:accent6>
      <a:hlink>
        <a:srgbClr val="0563C1"/>
      </a:hlink>
      <a:folHlink>
        <a:srgbClr val="954F72"/>
      </a:folHlink>
    </a:clrScheme>
    <a:fontScheme name="The Klondike Gold Rush">
      <a:majorFont>
        <a:latin typeface="Public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ublic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829</TotalTime>
  <Words>6225</Words>
  <Application>Microsoft Macintosh PowerPoint</Application>
  <PresentationFormat>Geniş ekran</PresentationFormat>
  <Paragraphs>469</Paragraphs>
  <Slides>23</Slides>
  <Notes>23</Notes>
  <HiddenSlides>0</HiddenSlides>
  <MMClips>0</MMClips>
  <ScaleCrop>false</ScaleCrop>
  <HeadingPairs>
    <vt:vector size="6" baseType="variant">
      <vt:variant>
        <vt:lpstr>Kullanılan Yazı Tipleri</vt:lpstr>
      </vt:variant>
      <vt:variant>
        <vt:i4>3</vt:i4>
      </vt:variant>
      <vt:variant>
        <vt:lpstr>Tema</vt:lpstr>
      </vt:variant>
      <vt:variant>
        <vt:i4>1</vt:i4>
      </vt:variant>
      <vt:variant>
        <vt:lpstr>Slayt Başlıkları</vt:lpstr>
      </vt:variant>
      <vt:variant>
        <vt:i4>23</vt:i4>
      </vt:variant>
    </vt:vector>
  </HeadingPairs>
  <TitlesOfParts>
    <vt:vector size="27" baseType="lpstr">
      <vt:lpstr>Arial</vt:lpstr>
      <vt:lpstr>Oswald</vt:lpstr>
      <vt:lpstr>Public Sans</vt:lpstr>
      <vt:lpstr>The Klondike Gold Rush</vt:lpstr>
      <vt:lpstr>The Klondike Gold Rush</vt:lpstr>
      <vt:lpstr>What We Will Cover</vt:lpstr>
      <vt:lpstr>What Was the Klondike Gold Rush?</vt:lpstr>
      <vt:lpstr>Where: Dawson City, Yukon, Canada</vt:lpstr>
      <vt:lpstr>When: From Discovery to the End, 1896 to 1899</vt:lpstr>
      <vt:lpstr>Gold Fever: Waiting in Line for a Miner’s Licence</vt:lpstr>
      <vt:lpstr>The Stampeders’ Route to the Klondike</vt:lpstr>
      <vt:lpstr>Three Things Most People Do Not Know</vt:lpstr>
      <vt:lpstr>Dawson City in 1899 and Today</vt:lpstr>
      <vt:lpstr>Our Five Days in Dawson City at a Glance</vt:lpstr>
      <vt:lpstr>Day 1: Arrival and the Historic Town</vt:lpstr>
      <vt:lpstr>Day 2: The Goldfields of Bonanza Creek</vt:lpstr>
      <vt:lpstr>Day 3: Discovery Days Weekend</vt:lpstr>
      <vt:lpstr>Day 4: Tombstone Territorial Park</vt:lpstr>
      <vt:lpstr>Day 5: River Stories and Departure</vt:lpstr>
      <vt:lpstr>August Weather in Dawson City</vt:lpstr>
      <vt:lpstr>Getting There and Getting Around</vt:lpstr>
      <vt:lpstr>Where to Stay in Dawson City</vt:lpstr>
      <vt:lpstr>What Goes in the Backpack</vt:lpstr>
      <vt:lpstr>Trip Budget: About 1,700 USD per Person</vt:lpstr>
      <vt:lpstr>PowerPoint Sunusu</vt:lpstr>
      <vt:lpstr>Where Our Information Comes From</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Klondike Gold Rush</dc:title>
  <dc:subject/>
  <dc:creator/>
  <cp:lastModifiedBy>Hakan Özdemir</cp:lastModifiedBy>
  <cp:revision>4</cp:revision>
  <dcterms:created xsi:type="dcterms:W3CDTF">2026-10-17T14:45:08Z</dcterms:created>
  <dcterms:modified xsi:type="dcterms:W3CDTF">2026-10-20T04:33:36Z</dcterms:modified>
</cp:coreProperties>
</file>